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y="6858000" cx="12192000"/>
  <p:notesSz cx="6858000" cy="9144000"/>
  <p:embeddedFontLst>
    <p:embeddedFont>
      <p:font typeface="Quattrocento Sans"/>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6" roundtripDataSignature="AMtx7mh6/nmIBA1rM1u868xUs4DG/QeB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A7666D9-8917-424A-8A12-2AAD64C3940E}">
  <a:tblStyle styleId="{6A7666D9-8917-424A-8A12-2AAD64C3940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QuattrocentoSans-bold.fntdata"/><Relationship Id="rId52" Type="http://schemas.openxmlformats.org/officeDocument/2006/relationships/font" Target="fonts/QuattrocentoSans-regular.fntdata"/><Relationship Id="rId11" Type="http://schemas.openxmlformats.org/officeDocument/2006/relationships/slide" Target="slides/slide5.xml"/><Relationship Id="rId55" Type="http://schemas.openxmlformats.org/officeDocument/2006/relationships/font" Target="fonts/QuattrocentoSans-boldItalic.fntdata"/><Relationship Id="rId10" Type="http://schemas.openxmlformats.org/officeDocument/2006/relationships/slide" Target="slides/slide4.xml"/><Relationship Id="rId54" Type="http://schemas.openxmlformats.org/officeDocument/2006/relationships/font" Target="fonts/QuattrocentoSans-italic.fntdata"/><Relationship Id="rId13" Type="http://schemas.openxmlformats.org/officeDocument/2006/relationships/slide" Target="slides/slide7.xml"/><Relationship Id="rId12" Type="http://schemas.openxmlformats.org/officeDocument/2006/relationships/slide" Target="slides/slide6.xml"/><Relationship Id="rId56" Type="http://customschemas.google.com/relationships/presentationmetadata" Target="meta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200"/>
              <a:buFont typeface="Courier New"/>
              <a:buChar char="o"/>
            </a:pPr>
            <a:r>
              <a:rPr lang="en-US" sz="1200">
                <a:latin typeface="Calibri"/>
                <a:ea typeface="Calibri"/>
                <a:cs typeface="Calibri"/>
                <a:sym typeface="Calibri"/>
              </a:rPr>
              <a:t>Examples of technical communication Correspondence:</a:t>
            </a:r>
            <a:endParaRPr/>
          </a:p>
          <a:p>
            <a:pPr indent="-285750" lvl="0" marL="285750" rtl="0" algn="l">
              <a:spcBef>
                <a:spcPts val="0"/>
              </a:spcBef>
              <a:spcAft>
                <a:spcPts val="0"/>
              </a:spcAft>
              <a:buClr>
                <a:schemeClr val="dk1"/>
              </a:buClr>
              <a:buSzPts val="1200"/>
              <a:buFont typeface="Courier New"/>
              <a:buChar char="o"/>
            </a:pPr>
            <a:r>
              <a:rPr lang="en-US" sz="1200">
                <a:latin typeface="Calibri"/>
                <a:ea typeface="Calibri"/>
                <a:cs typeface="Calibri"/>
                <a:sym typeface="Calibri"/>
              </a:rPr>
              <a:t>In-house or External Memos to your boss and to your subordinates</a:t>
            </a:r>
            <a:endParaRPr/>
          </a:p>
          <a:p>
            <a:pPr indent="-285750" lvl="0" marL="285750" rtl="0" algn="l">
              <a:spcBef>
                <a:spcPts val="0"/>
              </a:spcBef>
              <a:spcAft>
                <a:spcPts val="0"/>
              </a:spcAft>
              <a:buClr>
                <a:schemeClr val="dk1"/>
              </a:buClr>
              <a:buSzPts val="1200"/>
              <a:buFont typeface="Courier New"/>
              <a:buChar char="o"/>
            </a:pPr>
            <a:r>
              <a:rPr lang="en-US" sz="1200">
                <a:latin typeface="Calibri"/>
                <a:ea typeface="Calibri"/>
                <a:cs typeface="Calibri"/>
                <a:sym typeface="Calibri"/>
              </a:rPr>
              <a:t>Routine letters to customers, vendors, etc.</a:t>
            </a:r>
            <a:endParaRPr/>
          </a:p>
          <a:p>
            <a:pPr indent="-285750" lvl="0" marL="285750" rtl="0" algn="l">
              <a:spcBef>
                <a:spcPts val="0"/>
              </a:spcBef>
              <a:spcAft>
                <a:spcPts val="0"/>
              </a:spcAft>
              <a:buClr>
                <a:schemeClr val="dk1"/>
              </a:buClr>
              <a:buSzPts val="1200"/>
              <a:buFont typeface="Courier New"/>
              <a:buChar char="o"/>
            </a:pPr>
            <a:r>
              <a:rPr lang="en-US" sz="1200">
                <a:latin typeface="Calibri"/>
                <a:ea typeface="Calibri"/>
                <a:cs typeface="Calibri"/>
                <a:sym typeface="Calibri"/>
              </a:rPr>
              <a:t>“Good news” letters to customers</a:t>
            </a:r>
            <a:endParaRPr/>
          </a:p>
          <a:p>
            <a:pPr indent="-285750" lvl="0" marL="285750" rtl="0" algn="l">
              <a:spcBef>
                <a:spcPts val="0"/>
              </a:spcBef>
              <a:spcAft>
                <a:spcPts val="0"/>
              </a:spcAft>
              <a:buClr>
                <a:schemeClr val="dk1"/>
              </a:buClr>
              <a:buSzPts val="1200"/>
              <a:buFont typeface="Courier New"/>
              <a:buChar char="o"/>
            </a:pPr>
            <a:r>
              <a:rPr lang="en-US" sz="1200">
                <a:latin typeface="Calibri"/>
                <a:ea typeface="Calibri"/>
                <a:cs typeface="Calibri"/>
                <a:sym typeface="Calibri"/>
              </a:rPr>
              <a:t>“Bad news” letters to customers</a:t>
            </a:r>
            <a:endParaRPr/>
          </a:p>
          <a:p>
            <a:pPr indent="-285750" lvl="0" marL="285750" rtl="0" algn="l">
              <a:spcBef>
                <a:spcPts val="0"/>
              </a:spcBef>
              <a:spcAft>
                <a:spcPts val="0"/>
              </a:spcAft>
              <a:buClr>
                <a:schemeClr val="dk1"/>
              </a:buClr>
              <a:buSzPts val="1200"/>
              <a:buFont typeface="Courier New"/>
              <a:buChar char="o"/>
            </a:pPr>
            <a:r>
              <a:rPr lang="en-US" sz="1200">
                <a:latin typeface="Calibri"/>
                <a:ea typeface="Calibri"/>
                <a:cs typeface="Calibri"/>
                <a:sym typeface="Calibri"/>
              </a:rPr>
              <a:t>Sales letters to potential customers</a:t>
            </a:r>
            <a:endParaRPr/>
          </a:p>
          <a:p>
            <a:pPr indent="-285750" lvl="0" marL="285750" rtl="0" algn="l">
              <a:spcBef>
                <a:spcPts val="0"/>
              </a:spcBef>
              <a:spcAft>
                <a:spcPts val="0"/>
              </a:spcAft>
              <a:buClr>
                <a:schemeClr val="dk1"/>
              </a:buClr>
              <a:buSzPts val="1200"/>
              <a:buFont typeface="Courier New"/>
              <a:buChar char="o"/>
            </a:pPr>
            <a:r>
              <a:rPr lang="en-US" sz="1200">
                <a:latin typeface="Calibri"/>
                <a:ea typeface="Calibri"/>
                <a:cs typeface="Calibri"/>
                <a:sym typeface="Calibri"/>
              </a:rPr>
              <a:t>Electronic mail (e-mail) messages to co-workers or customers over a</a:t>
            </a:r>
            <a:endParaRPr/>
          </a:p>
          <a:p>
            <a:pPr indent="0" lvl="0" marL="0" rtl="0" algn="l">
              <a:spcBef>
                <a:spcPts val="0"/>
              </a:spcBef>
              <a:spcAft>
                <a:spcPts val="0"/>
              </a:spcAft>
              <a:buNone/>
            </a:pPr>
            <a:r>
              <a:rPr lang="en-US" sz="1200">
                <a:latin typeface="Calibri"/>
                <a:ea typeface="Calibri"/>
                <a:cs typeface="Calibri"/>
                <a:sym typeface="Calibri"/>
              </a:rPr>
              <a:t> computer network</a:t>
            </a:r>
            <a:endParaRPr/>
          </a:p>
          <a:p>
            <a:pPr indent="-285750" lvl="0" marL="285750" rtl="0" algn="l">
              <a:spcBef>
                <a:spcPts val="0"/>
              </a:spcBef>
              <a:spcAft>
                <a:spcPts val="0"/>
              </a:spcAft>
              <a:buClr>
                <a:schemeClr val="dk1"/>
              </a:buClr>
              <a:buSzPts val="1200"/>
              <a:buFont typeface="Courier New"/>
              <a:buChar char="o"/>
            </a:pPr>
            <a:r>
              <a:rPr lang="en-US" sz="1200">
                <a:latin typeface="Calibri"/>
                <a:ea typeface="Calibri"/>
                <a:cs typeface="Calibri"/>
                <a:sym typeface="Calibri"/>
              </a:rPr>
              <a:t>Analysis of a problem</a:t>
            </a:r>
            <a:endParaRPr/>
          </a:p>
          <a:p>
            <a:pPr indent="-285750" lvl="0" marL="285750" rtl="0" algn="l">
              <a:spcBef>
                <a:spcPts val="0"/>
              </a:spcBef>
              <a:spcAft>
                <a:spcPts val="0"/>
              </a:spcAft>
              <a:buClr>
                <a:schemeClr val="dk1"/>
              </a:buClr>
              <a:buSzPts val="1200"/>
              <a:buFont typeface="Courier New"/>
              <a:buChar char="o"/>
            </a:pPr>
            <a:r>
              <a:rPr lang="en-US" sz="1200">
                <a:latin typeface="Calibri"/>
                <a:ea typeface="Calibri"/>
                <a:cs typeface="Calibri"/>
                <a:sym typeface="Calibri"/>
              </a:rPr>
              <a:t>Proposal to boss for new product line</a:t>
            </a:r>
            <a:endParaRPr/>
          </a:p>
          <a:p>
            <a:pPr indent="-285750" lvl="0" marL="285750" rtl="0" algn="l">
              <a:spcBef>
                <a:spcPts val="0"/>
              </a:spcBef>
              <a:spcAft>
                <a:spcPts val="0"/>
              </a:spcAft>
              <a:buClr>
                <a:schemeClr val="dk1"/>
              </a:buClr>
              <a:buSzPts val="1200"/>
              <a:buFont typeface="Courier New"/>
              <a:buChar char="o"/>
            </a:pPr>
            <a:r>
              <a:rPr lang="en-US" sz="1200">
                <a:latin typeface="Calibri"/>
                <a:ea typeface="Calibri"/>
                <a:cs typeface="Calibri"/>
                <a:sym typeface="Calibri"/>
              </a:rPr>
              <a:t>Abstract or summary of technical article etc.</a:t>
            </a:r>
            <a:endParaRPr/>
          </a:p>
          <a:p>
            <a:pPr indent="0" lvl="0" marL="0" rtl="0" algn="l">
              <a:spcBef>
                <a:spcPts val="0"/>
              </a:spcBef>
              <a:spcAft>
                <a:spcPts val="0"/>
              </a:spcAft>
              <a:buNone/>
            </a:pPr>
            <a:r>
              <a:t/>
            </a:r>
            <a:endParaRPr/>
          </a:p>
        </p:txBody>
      </p:sp>
      <p:sp>
        <p:nvSpPr>
          <p:cNvPr id="198" name="Google Shape;19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You will write a variety of documents for internal and external audiences.</a:t>
            </a:r>
            <a:endParaRPr/>
          </a:p>
        </p:txBody>
      </p:sp>
      <p:sp>
        <p:nvSpPr>
          <p:cNvPr id="205" name="Google Shape;20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Identify your audience's level of technical knowledge, interests, and needs  </a:t>
            </a:r>
            <a:endParaRPr/>
          </a:p>
          <a:p>
            <a:pPr indent="0" lvl="0" marL="0" rtl="0" algn="l">
              <a:spcBef>
                <a:spcPts val="0"/>
              </a:spcBef>
              <a:spcAft>
                <a:spcPts val="0"/>
              </a:spcAft>
              <a:buNone/>
            </a:pPr>
            <a:r>
              <a:rPr lang="en-US"/>
              <a:t>What is the goal? Is it to inform, educate, persuade, or troubleshoot?</a:t>
            </a:r>
            <a:endParaRPr/>
          </a:p>
          <a:p>
            <a:pPr indent="0" lvl="0" marL="0" rtl="0" algn="l">
              <a:spcBef>
                <a:spcPts val="0"/>
              </a:spcBef>
              <a:spcAft>
                <a:spcPts val="0"/>
              </a:spcAft>
              <a:buNone/>
            </a:pPr>
            <a:r>
              <a:rPr lang="en-US"/>
              <a:t>Break down complex technical information into simpler, understandable concepts</a:t>
            </a:r>
            <a:endParaRPr/>
          </a:p>
          <a:p>
            <a:pPr indent="0" lvl="0" marL="0" marR="0" rtl="0" algn="l">
              <a:lnSpc>
                <a:spcPct val="100000"/>
              </a:lnSpc>
              <a:spcBef>
                <a:spcPts val="0"/>
              </a:spcBef>
              <a:spcAft>
                <a:spcPts val="0"/>
              </a:spcAft>
              <a:buClr>
                <a:schemeClr val="dk1"/>
              </a:buClr>
              <a:buSzPts val="1200"/>
              <a:buFont typeface="Calibri"/>
              <a:buNone/>
            </a:pPr>
            <a:r>
              <a:rPr lang="en-US"/>
              <a:t>Choose the most suitable format for your message, such as written documents, presentations, videos, or discussions.</a:t>
            </a:r>
            <a:endParaRPr/>
          </a:p>
          <a:p>
            <a:pPr indent="0" lvl="0" marL="0" marR="0" rtl="0" algn="l">
              <a:lnSpc>
                <a:spcPct val="100000"/>
              </a:lnSpc>
              <a:spcBef>
                <a:spcPts val="0"/>
              </a:spcBef>
              <a:spcAft>
                <a:spcPts val="0"/>
              </a:spcAft>
              <a:buClr>
                <a:schemeClr val="dk1"/>
              </a:buClr>
              <a:buSzPts val="1200"/>
              <a:buFont typeface="Calibri"/>
              <a:buNone/>
            </a:pPr>
            <a:r>
              <a:rPr lang="en-US"/>
              <a:t>Ensure that your message is concise, easy to understand, and free of errors. Use clear headings, bullet points, and illustrations to support your message.</a:t>
            </a:r>
            <a:endParaRPr/>
          </a:p>
          <a:p>
            <a:pPr indent="0" lvl="0" marL="0" marR="0" rtl="0" algn="l">
              <a:lnSpc>
                <a:spcPct val="100000"/>
              </a:lnSpc>
              <a:spcBef>
                <a:spcPts val="0"/>
              </a:spcBef>
              <a:spcAft>
                <a:spcPts val="0"/>
              </a:spcAft>
              <a:buClr>
                <a:schemeClr val="dk1"/>
              </a:buClr>
              <a:buSzPts val="1200"/>
              <a:buFont typeface="Calibri"/>
              <a:buNone/>
            </a:pPr>
            <a:r>
              <a:rPr lang="en-US"/>
              <a:t>Encourage feedback from your audience to ensure understanding </a:t>
            </a:r>
            <a:endParaRPr/>
          </a:p>
          <a:p>
            <a:pPr indent="0" lvl="0" marL="0" marR="0" rtl="0" algn="l">
              <a:lnSpc>
                <a:spcPct val="100000"/>
              </a:lnSpc>
              <a:spcBef>
                <a:spcPts val="0"/>
              </a:spcBef>
              <a:spcAft>
                <a:spcPts val="0"/>
              </a:spcAft>
              <a:buClr>
                <a:schemeClr val="dk1"/>
              </a:buClr>
              <a:buSzPts val="1200"/>
              <a:buFont typeface="Calibri"/>
              <a:buNone/>
            </a:pPr>
            <a:r>
              <a:rPr lang="en-US"/>
              <a:t>Communicate technical information in a timely manner to avoid delays</a:t>
            </a:r>
            <a:endParaRPr/>
          </a:p>
          <a:p>
            <a:pPr indent="0" lvl="0" marL="0" rtl="0" algn="l">
              <a:spcBef>
                <a:spcPts val="0"/>
              </a:spcBef>
              <a:spcAft>
                <a:spcPts val="0"/>
              </a:spcAft>
              <a:buNone/>
            </a:pPr>
            <a:r>
              <a:t/>
            </a:r>
            <a:endParaRPr/>
          </a:p>
        </p:txBody>
      </p:sp>
      <p:sp>
        <p:nvSpPr>
          <p:cNvPr id="237" name="Google Shape;23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 an employee, you may be writing to readers in the following groups: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With increasing use of electronic communication, employees may even be writing more than they have in the past. As an</a:t>
            </a:r>
            <a:endParaRPr/>
          </a:p>
          <a:p>
            <a:pPr indent="0" lvl="0" marL="0" rtl="0" algn="l">
              <a:spcBef>
                <a:spcPts val="0"/>
              </a:spcBef>
              <a:spcAft>
                <a:spcPts val="0"/>
              </a:spcAft>
              <a:buNone/>
            </a:pPr>
            <a:r>
              <a:rPr lang="en-US"/>
              <a:t>employee, you may be writing to readers in the following groups:</a:t>
            </a:r>
            <a:endParaRPr/>
          </a:p>
        </p:txBody>
      </p:sp>
      <p:sp>
        <p:nvSpPr>
          <p:cNvPr id="251" name="Google Shape;25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ourier New"/>
              <a:buNone/>
            </a:pPr>
            <a:r>
              <a:rPr lang="en-US" sz="1200"/>
              <a:t>Collect at least 3 responses from different students. </a:t>
            </a:r>
            <a:endParaRPr/>
          </a:p>
          <a:p>
            <a:pPr indent="0" lvl="0" marL="0" rtl="0" algn="l">
              <a:spcBef>
                <a:spcPts val="0"/>
              </a:spcBef>
              <a:spcAft>
                <a:spcPts val="0"/>
              </a:spcAft>
              <a:buClr>
                <a:schemeClr val="dk1"/>
              </a:buClr>
              <a:buSzPts val="1200"/>
              <a:buFont typeface="Courier New"/>
              <a:buNone/>
            </a:pPr>
            <a:r>
              <a:t/>
            </a:r>
            <a:endParaRPr sz="1200"/>
          </a:p>
          <a:p>
            <a:pPr indent="0" lvl="0" marL="0" rtl="0" algn="l">
              <a:spcBef>
                <a:spcPts val="0"/>
              </a:spcBef>
              <a:spcAft>
                <a:spcPts val="0"/>
              </a:spcAft>
              <a:buClr>
                <a:schemeClr val="dk1"/>
              </a:buClr>
              <a:buSzPts val="1200"/>
              <a:buFont typeface="Courier New"/>
              <a:buNone/>
            </a:pPr>
            <a:r>
              <a:rPr lang="en-US" sz="1200"/>
              <a:t>You are welcome/You're welcome.</a:t>
            </a:r>
            <a:endParaRPr/>
          </a:p>
          <a:p>
            <a:pPr indent="-342900" lvl="0" marL="342900" rtl="0" algn="l">
              <a:spcBef>
                <a:spcPts val="0"/>
              </a:spcBef>
              <a:spcAft>
                <a:spcPts val="0"/>
              </a:spcAft>
              <a:buClr>
                <a:schemeClr val="dk1"/>
              </a:buClr>
              <a:buSzPts val="1200"/>
              <a:buFont typeface="Courier New"/>
              <a:buChar char="o"/>
            </a:pPr>
            <a:r>
              <a:rPr lang="en-US" sz="1200"/>
              <a:t>It was my pleasure/My pleasure.</a:t>
            </a:r>
            <a:endParaRPr/>
          </a:p>
          <a:p>
            <a:pPr indent="-342900" lvl="0" marL="342900" rtl="0" algn="l">
              <a:spcBef>
                <a:spcPts val="0"/>
              </a:spcBef>
              <a:spcAft>
                <a:spcPts val="0"/>
              </a:spcAft>
              <a:buClr>
                <a:schemeClr val="dk1"/>
              </a:buClr>
              <a:buSzPts val="1200"/>
              <a:buFont typeface="Courier New"/>
              <a:buChar char="o"/>
            </a:pPr>
            <a:r>
              <a:rPr lang="en-US" sz="1200"/>
              <a:t>We're here to help!</a:t>
            </a:r>
            <a:endParaRPr/>
          </a:p>
          <a:p>
            <a:pPr indent="-342900" lvl="0" marL="342900" rtl="0" algn="l">
              <a:spcBef>
                <a:spcPts val="0"/>
              </a:spcBef>
              <a:spcAft>
                <a:spcPts val="0"/>
              </a:spcAft>
              <a:buClr>
                <a:schemeClr val="dk1"/>
              </a:buClr>
              <a:buSzPts val="1200"/>
              <a:buFont typeface="Courier New"/>
              <a:buChar char="o"/>
            </a:pPr>
            <a:r>
              <a:rPr lang="en-US" sz="1200"/>
              <a:t>Thank you!</a:t>
            </a:r>
            <a:endParaRPr/>
          </a:p>
          <a:p>
            <a:pPr indent="-342900" lvl="0" marL="342900" rtl="0" algn="l">
              <a:spcBef>
                <a:spcPts val="0"/>
              </a:spcBef>
              <a:spcAft>
                <a:spcPts val="0"/>
              </a:spcAft>
              <a:buClr>
                <a:schemeClr val="dk1"/>
              </a:buClr>
              <a:buSzPts val="1200"/>
              <a:buFont typeface="Courier New"/>
              <a:buChar char="o"/>
            </a:pPr>
            <a:r>
              <a:rPr lang="en-US" sz="1200"/>
              <a:t>Thanks for asking about our ...</a:t>
            </a:r>
            <a:endParaRPr/>
          </a:p>
          <a:p>
            <a:pPr indent="-342900" lvl="0" marL="342900" rtl="0" algn="l">
              <a:spcBef>
                <a:spcPts val="0"/>
              </a:spcBef>
              <a:spcAft>
                <a:spcPts val="0"/>
              </a:spcAft>
              <a:buClr>
                <a:schemeClr val="dk1"/>
              </a:buClr>
              <a:buSzPts val="1200"/>
              <a:buFont typeface="Courier New"/>
              <a:buChar char="o"/>
            </a:pPr>
            <a:r>
              <a:rPr lang="en-US" sz="1200"/>
              <a:t>Thanks for the question, which helped me update our instructions.</a:t>
            </a:r>
            <a:endParaRPr/>
          </a:p>
          <a:p>
            <a:pPr indent="-342900" lvl="0" marL="342900" rtl="0" algn="l">
              <a:spcBef>
                <a:spcPts val="0"/>
              </a:spcBef>
              <a:spcAft>
                <a:spcPts val="0"/>
              </a:spcAft>
              <a:buClr>
                <a:schemeClr val="dk1"/>
              </a:buClr>
              <a:buSzPts val="1200"/>
              <a:buFont typeface="Courier New"/>
              <a:buChar char="o"/>
            </a:pPr>
            <a:r>
              <a:rPr lang="en-US" sz="1200"/>
              <a:t>I'm glad to hear I helped.</a:t>
            </a:r>
            <a:endParaRPr/>
          </a:p>
          <a:p>
            <a:pPr indent="-342900" lvl="0" marL="342900" rtl="0" algn="l">
              <a:spcBef>
                <a:spcPts val="0"/>
              </a:spcBef>
              <a:spcAft>
                <a:spcPts val="0"/>
              </a:spcAft>
              <a:buClr>
                <a:schemeClr val="dk1"/>
              </a:buClr>
              <a:buSzPts val="1200"/>
              <a:buFont typeface="Courier New"/>
              <a:buChar char="o"/>
            </a:pPr>
            <a:r>
              <a:rPr lang="en-US" sz="1200"/>
              <a:t>Thanks for letting me know I was helpful.</a:t>
            </a:r>
            <a:endParaRPr/>
          </a:p>
          <a:p>
            <a:pPr indent="-342900" lvl="0" marL="342900" rtl="0" algn="l">
              <a:spcBef>
                <a:spcPts val="0"/>
              </a:spcBef>
              <a:spcAft>
                <a:spcPts val="0"/>
              </a:spcAft>
              <a:buClr>
                <a:schemeClr val="dk1"/>
              </a:buClr>
              <a:buSzPts val="1200"/>
              <a:buFont typeface="Courier New"/>
              <a:buChar char="o"/>
            </a:pPr>
            <a:r>
              <a:rPr lang="en-US" sz="1200"/>
              <a:t>Nice to know I helped.</a:t>
            </a:r>
            <a:endParaRPr/>
          </a:p>
          <a:p>
            <a:pPr indent="-342900" lvl="0" marL="342900" rtl="0" algn="l">
              <a:spcBef>
                <a:spcPts val="0"/>
              </a:spcBef>
              <a:spcAft>
                <a:spcPts val="0"/>
              </a:spcAft>
              <a:buClr>
                <a:schemeClr val="dk1"/>
              </a:buClr>
              <a:buSzPts val="1200"/>
              <a:buFont typeface="Courier New"/>
              <a:buChar char="o"/>
            </a:pPr>
            <a:r>
              <a:rPr lang="en-US" sz="1200"/>
              <a:t>We appreciate your business.</a:t>
            </a:r>
            <a:endParaRPr/>
          </a:p>
          <a:p>
            <a:pPr indent="-342900" lvl="0" marL="342900" rtl="0" algn="l">
              <a:spcBef>
                <a:spcPts val="0"/>
              </a:spcBef>
              <a:spcAft>
                <a:spcPts val="0"/>
              </a:spcAft>
              <a:buClr>
                <a:schemeClr val="dk1"/>
              </a:buClr>
              <a:buSzPts val="1200"/>
              <a:buFont typeface="Courier New"/>
              <a:buChar char="o"/>
            </a:pPr>
            <a:r>
              <a:rPr lang="en-US" sz="1200"/>
              <a:t>We appreciate your business, and I'm here to help.</a:t>
            </a:r>
            <a:endParaRPr/>
          </a:p>
          <a:p>
            <a:pPr indent="0" lvl="0" marL="0" rtl="0" algn="l">
              <a:spcBef>
                <a:spcPts val="0"/>
              </a:spcBef>
              <a:spcAft>
                <a:spcPts val="0"/>
              </a:spcAft>
              <a:buNone/>
            </a:pPr>
            <a:r>
              <a:t/>
            </a:r>
            <a:endParaRPr/>
          </a:p>
        </p:txBody>
      </p:sp>
      <p:sp>
        <p:nvSpPr>
          <p:cNvPr id="281" name="Google Shape;28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Technical documents should assume a three-part structure that consists of a beginning, a middle, and an end.</a:t>
            </a:r>
            <a:endParaRPr/>
          </a:p>
        </p:txBody>
      </p:sp>
      <p:sp>
        <p:nvSpPr>
          <p:cNvPr id="305" name="Google Shape;305;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 name="Google Shape;32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Discuss in pairs and present answers to the class.</a:t>
            </a:r>
            <a:endParaRPr/>
          </a:p>
        </p:txBody>
      </p:sp>
      <p:sp>
        <p:nvSpPr>
          <p:cNvPr id="395" name="Google Shape;395;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 name="Google Shape;417;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Arguments can WIN without being ethical if they WIN at any cost</a:t>
            </a:r>
            <a:endParaRPr/>
          </a:p>
        </p:txBody>
      </p:sp>
      <p:sp>
        <p:nvSpPr>
          <p:cNvPr id="429" name="Google Shape;429;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 name="Google Shape;438;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    </a:t>
            </a:r>
            <a:endParaRPr/>
          </a:p>
        </p:txBody>
      </p:sp>
      <p:sp>
        <p:nvSpPr>
          <p:cNvPr id="439" name="Google Shape;439;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 name="Google Shape;444;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0" name="Google Shape;450;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Times New Roman"/>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5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Times New Roman"/>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5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9" name="Google Shape;39;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5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5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5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2" name="Google Shape;52;p5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5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4" name="Google Shape;54;p5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5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imes New Roman"/>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5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5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5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imes New Roman"/>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55"/>
          <p:cNvSpPr/>
          <p:nvPr>
            <p:ph idx="2" type="pic"/>
          </p:nvPr>
        </p:nvSpPr>
        <p:spPr>
          <a:xfrm>
            <a:off x="5183188" y="987425"/>
            <a:ext cx="6172200" cy="4873625"/>
          </a:xfrm>
          <a:prstGeom prst="rect">
            <a:avLst/>
          </a:prstGeom>
          <a:noFill/>
          <a:ln>
            <a:noFill/>
          </a:ln>
        </p:spPr>
      </p:sp>
      <p:sp>
        <p:nvSpPr>
          <p:cNvPr id="68" name="Google Shape;68;p5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5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5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5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p5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5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93" name="Google Shape;93;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6" name="Shape 96"/>
        <p:cNvGrpSpPr/>
        <p:nvPr/>
      </p:nvGrpSpPr>
      <p:grpSpPr>
        <a:xfrm>
          <a:off x="0" y="0"/>
          <a:ext cx="0" cy="0"/>
          <a:chOff x="0" y="0"/>
          <a:chExt cx="0" cy="0"/>
        </a:xfrm>
      </p:grpSpPr>
      <p:sp>
        <p:nvSpPr>
          <p:cNvPr id="97" name="Google Shape;97;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6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 name="Google Shape;99;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p6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6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05" name="Google Shape;105;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8" name="Shape 108"/>
        <p:cNvGrpSpPr/>
        <p:nvPr/>
      </p:nvGrpSpPr>
      <p:grpSpPr>
        <a:xfrm>
          <a:off x="0" y="0"/>
          <a:ext cx="0" cy="0"/>
          <a:chOff x="0" y="0"/>
          <a:chExt cx="0" cy="0"/>
        </a:xfrm>
      </p:grpSpPr>
      <p:sp>
        <p:nvSpPr>
          <p:cNvPr id="109" name="Google Shape;109;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p6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 name="Google Shape;111;p6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 name="Google Shape;112;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5" name="Shape 115"/>
        <p:cNvGrpSpPr/>
        <p:nvPr/>
      </p:nvGrpSpPr>
      <p:grpSpPr>
        <a:xfrm>
          <a:off x="0" y="0"/>
          <a:ext cx="0" cy="0"/>
          <a:chOff x="0" y="0"/>
          <a:chExt cx="0" cy="0"/>
        </a:xfrm>
      </p:grpSpPr>
      <p:sp>
        <p:nvSpPr>
          <p:cNvPr id="116" name="Google Shape;116;p6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 name="Google Shape;117;p6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18" name="Google Shape;118;p6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 name="Google Shape;119;p6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0" name="Google Shape;120;p6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 name="Shape 124"/>
        <p:cNvGrpSpPr/>
        <p:nvPr/>
      </p:nvGrpSpPr>
      <p:grpSpPr>
        <a:xfrm>
          <a:off x="0" y="0"/>
          <a:ext cx="0" cy="0"/>
          <a:chOff x="0" y="0"/>
          <a:chExt cx="0" cy="0"/>
        </a:xfrm>
      </p:grpSpPr>
      <p:sp>
        <p:nvSpPr>
          <p:cNvPr id="125" name="Google Shape;125;p6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6" name="Google Shape;126;p6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6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9" name="Shape 129"/>
        <p:cNvGrpSpPr/>
        <p:nvPr/>
      </p:nvGrpSpPr>
      <p:grpSpPr>
        <a:xfrm>
          <a:off x="0" y="0"/>
          <a:ext cx="0" cy="0"/>
          <a:chOff x="0" y="0"/>
          <a:chExt cx="0" cy="0"/>
        </a:xfrm>
      </p:grpSpPr>
      <p:sp>
        <p:nvSpPr>
          <p:cNvPr id="130" name="Google Shape;130;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3" name="Shape 133"/>
        <p:cNvGrpSpPr/>
        <p:nvPr/>
      </p:nvGrpSpPr>
      <p:grpSpPr>
        <a:xfrm>
          <a:off x="0" y="0"/>
          <a:ext cx="0" cy="0"/>
          <a:chOff x="0" y="0"/>
          <a:chExt cx="0" cy="0"/>
        </a:xfrm>
      </p:grpSpPr>
      <p:sp>
        <p:nvSpPr>
          <p:cNvPr id="134" name="Google Shape;134;p6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 name="Google Shape;135;p6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36" name="Google Shape;136;p6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37" name="Google Shape;137;p6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6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0" name="Shape 140"/>
        <p:cNvGrpSpPr/>
        <p:nvPr/>
      </p:nvGrpSpPr>
      <p:grpSpPr>
        <a:xfrm>
          <a:off x="0" y="0"/>
          <a:ext cx="0" cy="0"/>
          <a:chOff x="0" y="0"/>
          <a:chExt cx="0" cy="0"/>
        </a:xfrm>
      </p:grpSpPr>
      <p:sp>
        <p:nvSpPr>
          <p:cNvPr id="141" name="Google Shape;141;p6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2" name="Google Shape;142;p67"/>
          <p:cNvSpPr/>
          <p:nvPr>
            <p:ph idx="2" type="pic"/>
          </p:nvPr>
        </p:nvSpPr>
        <p:spPr>
          <a:xfrm>
            <a:off x="5183188" y="987425"/>
            <a:ext cx="6172200" cy="4873625"/>
          </a:xfrm>
          <a:prstGeom prst="rect">
            <a:avLst/>
          </a:prstGeom>
          <a:noFill/>
          <a:ln>
            <a:noFill/>
          </a:ln>
        </p:spPr>
      </p:sp>
      <p:sp>
        <p:nvSpPr>
          <p:cNvPr id="143" name="Google Shape;143;p6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44" name="Google Shape;144;p6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6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7" name="Shape 147"/>
        <p:cNvGrpSpPr/>
        <p:nvPr/>
      </p:nvGrpSpPr>
      <p:grpSpPr>
        <a:xfrm>
          <a:off x="0" y="0"/>
          <a:ext cx="0" cy="0"/>
          <a:chOff x="0" y="0"/>
          <a:chExt cx="0" cy="0"/>
        </a:xfrm>
      </p:grpSpPr>
      <p:sp>
        <p:nvSpPr>
          <p:cNvPr id="148" name="Google Shape;148;p6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6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 name="Google Shape;150;p6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6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6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3" name="Shape 153"/>
        <p:cNvGrpSpPr/>
        <p:nvPr/>
      </p:nvGrpSpPr>
      <p:grpSpPr>
        <a:xfrm>
          <a:off x="0" y="0"/>
          <a:ext cx="0" cy="0"/>
          <a:chOff x="0" y="0"/>
          <a:chExt cx="0" cy="0"/>
        </a:xfrm>
      </p:grpSpPr>
      <p:sp>
        <p:nvSpPr>
          <p:cNvPr id="154" name="Google Shape;154;p6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 name="Google Shape;155;p6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 name="Google Shape;156;p6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6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6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Times New Roman"/>
              <a:buNone/>
              <a:defRPr b="0" i="0" sz="4400" u="none" cap="none" strike="noStrike">
                <a:solidFill>
                  <a:schemeClr val="dk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6" name="Google Shape;86;p5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 name="Google Shape;88;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9" name="Google Shape;89;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7.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
          <p:cNvSpPr txBox="1"/>
          <p:nvPr>
            <p:ph type="ctrTitle"/>
          </p:nvPr>
        </p:nvSpPr>
        <p:spPr>
          <a:xfrm>
            <a:off x="1018381" y="1276747"/>
            <a:ext cx="10144259" cy="139616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Times New Roman"/>
              <a:buNone/>
            </a:pPr>
            <a:r>
              <a:rPr b="1" lang="en-US">
                <a:latin typeface="Times New Roman"/>
                <a:ea typeface="Times New Roman"/>
                <a:cs typeface="Times New Roman"/>
                <a:sym typeface="Times New Roman"/>
              </a:rPr>
              <a:t>T</a:t>
            </a:r>
            <a:r>
              <a:rPr lang="en-US">
                <a:latin typeface="Times New Roman"/>
                <a:ea typeface="Times New Roman"/>
                <a:cs typeface="Times New Roman"/>
                <a:sym typeface="Times New Roman"/>
              </a:rPr>
              <a:t>echnical and </a:t>
            </a:r>
            <a:r>
              <a:rPr b="1" lang="en-US">
                <a:latin typeface="Times New Roman"/>
                <a:ea typeface="Times New Roman"/>
                <a:cs typeface="Times New Roman"/>
                <a:sym typeface="Times New Roman"/>
              </a:rPr>
              <a:t>B</a:t>
            </a:r>
            <a:r>
              <a:rPr lang="en-US">
                <a:latin typeface="Times New Roman"/>
                <a:ea typeface="Times New Roman"/>
                <a:cs typeface="Times New Roman"/>
                <a:sym typeface="Times New Roman"/>
              </a:rPr>
              <a:t>usiness </a:t>
            </a:r>
            <a:r>
              <a:rPr b="1" lang="en-US">
                <a:latin typeface="Times New Roman"/>
                <a:ea typeface="Times New Roman"/>
                <a:cs typeface="Times New Roman"/>
                <a:sym typeface="Times New Roman"/>
              </a:rPr>
              <a:t>W</a:t>
            </a:r>
            <a:r>
              <a:rPr lang="en-US">
                <a:latin typeface="Times New Roman"/>
                <a:ea typeface="Times New Roman"/>
                <a:cs typeface="Times New Roman"/>
                <a:sym typeface="Times New Roman"/>
              </a:rPr>
              <a:t>riting</a:t>
            </a:r>
            <a:endParaRPr/>
          </a:p>
        </p:txBody>
      </p:sp>
      <p:sp>
        <p:nvSpPr>
          <p:cNvPr id="164" name="Google Shape;164;p1"/>
          <p:cNvSpPr txBox="1"/>
          <p:nvPr/>
        </p:nvSpPr>
        <p:spPr>
          <a:xfrm>
            <a:off x="2912226" y="3316857"/>
            <a:ext cx="6705599" cy="1137793"/>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Clr>
                <a:schemeClr val="dk1"/>
              </a:buClr>
              <a:buSzPts val="2800"/>
              <a:buFont typeface="Arial"/>
              <a:buNone/>
            </a:pPr>
            <a:r>
              <a:rPr b="1" i="0" lang="en-US" sz="2800" u="none" cap="none" strike="noStrike">
                <a:solidFill>
                  <a:schemeClr val="dk1"/>
                </a:solidFill>
                <a:latin typeface="Times New Roman"/>
                <a:ea typeface="Times New Roman"/>
                <a:cs typeface="Times New Roman"/>
                <a:sym typeface="Times New Roman"/>
              </a:rPr>
              <a:t>TECHNICAL COMMUNICATION IN THE WORKPLACE</a:t>
            </a:r>
            <a:endParaRPr/>
          </a:p>
          <a:p>
            <a:pPr indent="0" lvl="0" marL="0" marR="0" rtl="0" algn="ctr">
              <a:lnSpc>
                <a:spcPct val="150000"/>
              </a:lnSpc>
              <a:spcBef>
                <a:spcPts val="600"/>
              </a:spcBef>
              <a:spcAft>
                <a:spcPts val="0"/>
              </a:spcAft>
              <a:buClr>
                <a:schemeClr val="dk1"/>
              </a:buClr>
              <a:buSzPts val="2800"/>
              <a:buFont typeface="Arial"/>
              <a:buNone/>
            </a:pPr>
            <a:r>
              <a:rPr b="1" i="0" lang="en-US" sz="2800" u="none" cap="none" strike="noStrike">
                <a:solidFill>
                  <a:schemeClr val="dk1"/>
                </a:solidFill>
                <a:latin typeface="Times New Roman"/>
                <a:ea typeface="Times New Roman"/>
                <a:cs typeface="Times New Roman"/>
                <a:sym typeface="Times New Roman"/>
              </a:rPr>
              <a:t>CHAPTER: 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
          <p:cNvSpPr txBox="1"/>
          <p:nvPr>
            <p:ph type="title"/>
          </p:nvPr>
        </p:nvSpPr>
        <p:spPr>
          <a:xfrm>
            <a:off x="591821" y="274973"/>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Times New Roman"/>
              <a:buNone/>
            </a:pPr>
            <a:r>
              <a:rPr b="1" lang="en-US" sz="4000"/>
              <a:t>Technical and Business Writing</a:t>
            </a:r>
            <a:endParaRPr/>
          </a:p>
        </p:txBody>
      </p:sp>
      <p:sp>
        <p:nvSpPr>
          <p:cNvPr id="170" name="Google Shape;170;p2"/>
          <p:cNvSpPr txBox="1"/>
          <p:nvPr>
            <p:ph idx="1" type="body"/>
          </p:nvPr>
        </p:nvSpPr>
        <p:spPr>
          <a:xfrm>
            <a:off x="937869" y="1812746"/>
            <a:ext cx="11008360" cy="435133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b="1" lang="en-US" u="sng">
                <a:solidFill>
                  <a:schemeClr val="dk1"/>
                </a:solidFill>
                <a:latin typeface="Times New Roman"/>
                <a:ea typeface="Times New Roman"/>
                <a:cs typeface="Times New Roman"/>
                <a:sym typeface="Times New Roman"/>
              </a:rPr>
              <a:t>Text Book:</a:t>
            </a:r>
            <a:endParaRPr u="sng">
              <a:solidFill>
                <a:schemeClr val="dk1"/>
              </a:solidFill>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rPr lang="en-US">
                <a:solidFill>
                  <a:schemeClr val="dk1"/>
                </a:solidFill>
                <a:latin typeface="Times New Roman"/>
                <a:ea typeface="Times New Roman"/>
                <a:cs typeface="Times New Roman"/>
                <a:sym typeface="Times New Roman"/>
              </a:rPr>
              <a:t>William S. Pfeiffer. </a:t>
            </a:r>
            <a:r>
              <a:rPr b="1" lang="en-US">
                <a:solidFill>
                  <a:schemeClr val="dk1"/>
                </a:solidFill>
                <a:latin typeface="Times New Roman"/>
                <a:ea typeface="Times New Roman"/>
                <a:cs typeface="Times New Roman"/>
                <a:sym typeface="Times New Roman"/>
              </a:rPr>
              <a:t>Technical Communication: A Practical Approach </a:t>
            </a:r>
            <a:r>
              <a:rPr lang="en-US">
                <a:solidFill>
                  <a:schemeClr val="dk1"/>
                </a:solidFill>
                <a:latin typeface="Times New Roman"/>
                <a:ea typeface="Times New Roman"/>
                <a:cs typeface="Times New Roman"/>
                <a:sym typeface="Times New Roman"/>
              </a:rPr>
              <a:t>8</a:t>
            </a:r>
            <a:r>
              <a:rPr baseline="30000" lang="en-US">
                <a:solidFill>
                  <a:schemeClr val="dk1"/>
                </a:solidFill>
                <a:latin typeface="Times New Roman"/>
                <a:ea typeface="Times New Roman"/>
                <a:cs typeface="Times New Roman"/>
                <a:sym typeface="Times New Roman"/>
              </a:rPr>
              <a:t>th</a:t>
            </a:r>
            <a:r>
              <a:rPr lang="en-US">
                <a:solidFill>
                  <a:schemeClr val="dk1"/>
                </a:solidFill>
                <a:latin typeface="Times New Roman"/>
                <a:ea typeface="Times New Roman"/>
                <a:cs typeface="Times New Roman"/>
                <a:sym typeface="Times New Roman"/>
              </a:rPr>
              <a:t> Edition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
          <p:cNvSpPr txBox="1"/>
          <p:nvPr>
            <p:ph type="title"/>
          </p:nvPr>
        </p:nvSpPr>
        <p:spPr>
          <a:xfrm>
            <a:off x="541986" y="609823"/>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Times New Roman"/>
              <a:buNone/>
            </a:pPr>
            <a:r>
              <a:rPr b="1" lang="en-US" sz="4000"/>
              <a:t>Course Evaluation Criteria</a:t>
            </a:r>
            <a:endParaRPr/>
          </a:p>
        </p:txBody>
      </p:sp>
      <p:graphicFrame>
        <p:nvGraphicFramePr>
          <p:cNvPr id="176" name="Google Shape;176;p3"/>
          <p:cNvGraphicFramePr/>
          <p:nvPr/>
        </p:nvGraphicFramePr>
        <p:xfrm>
          <a:off x="2176530" y="2241570"/>
          <a:ext cx="3000000" cy="3000000"/>
        </p:xfrm>
        <a:graphic>
          <a:graphicData uri="http://schemas.openxmlformats.org/drawingml/2006/table">
            <a:tbl>
              <a:tblPr>
                <a:noFill/>
                <a:tableStyleId>{6A7666D9-8917-424A-8A12-2AAD64C3940E}</a:tableStyleId>
              </a:tblPr>
              <a:tblGrid>
                <a:gridCol w="2133600"/>
                <a:gridCol w="2783975"/>
                <a:gridCol w="2783975"/>
              </a:tblGrid>
              <a:tr h="505450">
                <a:tc>
                  <a:txBody>
                    <a:bodyPr/>
                    <a:lstStyle/>
                    <a:p>
                      <a:pPr indent="0" lvl="0" marL="0" marR="0" rtl="0" algn="ctr">
                        <a:lnSpc>
                          <a:spcPct val="115000"/>
                        </a:lnSpc>
                        <a:spcBef>
                          <a:spcPts val="0"/>
                        </a:spcBef>
                        <a:spcAft>
                          <a:spcPts val="0"/>
                        </a:spcAft>
                        <a:buNone/>
                      </a:pPr>
                      <a:r>
                        <a:rPr b="1" lang="en-US" sz="2400" u="none" cap="none" strike="noStrike">
                          <a:latin typeface="Times New Roman"/>
                          <a:ea typeface="Times New Roman"/>
                          <a:cs typeface="Times New Roman"/>
                          <a:sym typeface="Times New Roman"/>
                        </a:rPr>
                        <a:t>Assessment Items</a:t>
                      </a:r>
                      <a:endParaRPr sz="24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2400" u="none" cap="none" strike="noStrike">
                          <a:latin typeface="Times New Roman"/>
                          <a:ea typeface="Times New Roman"/>
                          <a:cs typeface="Times New Roman"/>
                          <a:sym typeface="Times New Roman"/>
                        </a:rPr>
                        <a:t>Number</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2400" u="none" cap="none" strike="noStrike">
                          <a:latin typeface="Times New Roman"/>
                          <a:ea typeface="Times New Roman"/>
                          <a:cs typeface="Times New Roman"/>
                          <a:sym typeface="Times New Roman"/>
                        </a:rPr>
                        <a:t>Weightage (%)</a:t>
                      </a:r>
                      <a:endParaRPr sz="24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05450">
                <a:tc>
                  <a:txBody>
                    <a:bodyPr/>
                    <a:lstStyle/>
                    <a:p>
                      <a:pPr indent="0" lvl="0" marL="0" marR="0" rtl="0" algn="ctr">
                        <a:lnSpc>
                          <a:spcPct val="115000"/>
                        </a:lnSpc>
                        <a:spcBef>
                          <a:spcPts val="0"/>
                        </a:spcBef>
                        <a:spcAft>
                          <a:spcPts val="0"/>
                        </a:spcAft>
                        <a:buNone/>
                      </a:pPr>
                      <a:r>
                        <a:rPr lang="en-US" sz="2400" u="none" cap="none" strike="noStrike">
                          <a:latin typeface="Times New Roman"/>
                          <a:ea typeface="Times New Roman"/>
                          <a:cs typeface="Times New Roman"/>
                          <a:sym typeface="Times New Roman"/>
                        </a:rPr>
                        <a:t>Assignments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2400" u="none" cap="none" strike="noStrike">
                          <a:latin typeface="Times New Roman"/>
                          <a:ea typeface="Times New Roman"/>
                          <a:cs typeface="Times New Roman"/>
                          <a:sym typeface="Times New Roman"/>
                        </a:rPr>
                        <a:t>3</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2400" u="none" cap="none" strike="noStrike">
                          <a:latin typeface="Times New Roman"/>
                          <a:ea typeface="Times New Roman"/>
                          <a:cs typeface="Times New Roman"/>
                          <a:sym typeface="Times New Roman"/>
                        </a:rPr>
                        <a:t>10</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05450">
                <a:tc>
                  <a:txBody>
                    <a:bodyPr/>
                    <a:lstStyle/>
                    <a:p>
                      <a:pPr indent="0" lvl="0" marL="0" marR="0" rtl="0" algn="ctr">
                        <a:lnSpc>
                          <a:spcPct val="115000"/>
                        </a:lnSpc>
                        <a:spcBef>
                          <a:spcPts val="0"/>
                        </a:spcBef>
                        <a:spcAft>
                          <a:spcPts val="0"/>
                        </a:spcAft>
                        <a:buNone/>
                      </a:pPr>
                      <a:r>
                        <a:rPr lang="en-US" sz="2400" u="none" cap="none" strike="noStrike">
                          <a:latin typeface="Times New Roman"/>
                          <a:ea typeface="Times New Roman"/>
                          <a:cs typeface="Times New Roman"/>
                          <a:sym typeface="Times New Roman"/>
                        </a:rPr>
                        <a:t>Quizzes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2400" u="none" cap="none" strike="noStrike">
                          <a:latin typeface="Times New Roman"/>
                          <a:ea typeface="Times New Roman"/>
                          <a:cs typeface="Times New Roman"/>
                          <a:sym typeface="Times New Roman"/>
                        </a:rPr>
                        <a:t>3</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2400" u="none" cap="none" strike="noStrike">
                          <a:latin typeface="Times New Roman"/>
                          <a:ea typeface="Times New Roman"/>
                          <a:cs typeface="Times New Roman"/>
                          <a:sym typeface="Times New Roman"/>
                        </a:rPr>
                        <a:t>5</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05450">
                <a:tc>
                  <a:txBody>
                    <a:bodyPr/>
                    <a:lstStyle/>
                    <a:p>
                      <a:pPr indent="0" lvl="0" marL="0" marR="0" rtl="0" algn="ctr">
                        <a:lnSpc>
                          <a:spcPct val="115000"/>
                        </a:lnSpc>
                        <a:spcBef>
                          <a:spcPts val="0"/>
                        </a:spcBef>
                        <a:spcAft>
                          <a:spcPts val="0"/>
                        </a:spcAft>
                        <a:buNone/>
                      </a:pPr>
                      <a:r>
                        <a:rPr lang="en-US" sz="2400" u="none" cap="none" strike="noStrike">
                          <a:latin typeface="Times New Roman"/>
                          <a:ea typeface="Times New Roman"/>
                          <a:cs typeface="Times New Roman"/>
                          <a:sym typeface="Times New Roman"/>
                        </a:rPr>
                        <a:t>Formal Report</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2400" u="none" cap="none" strike="noStrike">
                          <a:latin typeface="Times New Roman"/>
                          <a:ea typeface="Times New Roman"/>
                          <a:cs typeface="Times New Roman"/>
                          <a:sym typeface="Times New Roman"/>
                        </a:rPr>
                        <a:t>1</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2400" u="none" cap="none" strike="noStrike">
                          <a:latin typeface="Times New Roman"/>
                          <a:ea typeface="Times New Roman"/>
                          <a:cs typeface="Times New Roman"/>
                          <a:sym typeface="Times New Roman"/>
                        </a:rPr>
                        <a:t>5</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05450">
                <a:tc>
                  <a:txBody>
                    <a:bodyPr/>
                    <a:lstStyle/>
                    <a:p>
                      <a:pPr indent="0" lvl="0" marL="0" marR="0" rtl="0" algn="ctr">
                        <a:lnSpc>
                          <a:spcPct val="115000"/>
                        </a:lnSpc>
                        <a:spcBef>
                          <a:spcPts val="0"/>
                        </a:spcBef>
                        <a:spcAft>
                          <a:spcPts val="0"/>
                        </a:spcAft>
                        <a:buNone/>
                      </a:pPr>
                      <a:r>
                        <a:rPr lang="en-US" sz="2400" u="none" cap="none" strike="noStrike">
                          <a:latin typeface="Times New Roman"/>
                          <a:ea typeface="Times New Roman"/>
                          <a:cs typeface="Times New Roman"/>
                          <a:sym typeface="Times New Roman"/>
                        </a:rPr>
                        <a:t>Mid Exam</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2400" u="none" cap="none" strike="noStrike">
                          <a:latin typeface="Times New Roman"/>
                          <a:ea typeface="Times New Roman"/>
                          <a:cs typeface="Times New Roman"/>
                          <a:sym typeface="Times New Roman"/>
                        </a:rPr>
                        <a:t>2</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2400" u="none" cap="none" strike="noStrike">
                          <a:latin typeface="Times New Roman"/>
                          <a:ea typeface="Times New Roman"/>
                          <a:cs typeface="Times New Roman"/>
                          <a:sym typeface="Times New Roman"/>
                        </a:rPr>
                        <a:t>30</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05450">
                <a:tc>
                  <a:txBody>
                    <a:bodyPr/>
                    <a:lstStyle/>
                    <a:p>
                      <a:pPr indent="0" lvl="0" marL="0" marR="0" rtl="0" algn="ctr">
                        <a:lnSpc>
                          <a:spcPct val="115000"/>
                        </a:lnSpc>
                        <a:spcBef>
                          <a:spcPts val="0"/>
                        </a:spcBef>
                        <a:spcAft>
                          <a:spcPts val="0"/>
                        </a:spcAft>
                        <a:buNone/>
                      </a:pPr>
                      <a:r>
                        <a:rPr lang="en-US" sz="2400" u="none" cap="none" strike="noStrike">
                          <a:latin typeface="Times New Roman"/>
                          <a:ea typeface="Times New Roman"/>
                          <a:cs typeface="Times New Roman"/>
                          <a:sym typeface="Times New Roman"/>
                        </a:rPr>
                        <a:t>Final Exam</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2400" u="none" cap="none" strike="noStrike">
                          <a:latin typeface="Times New Roman"/>
                          <a:ea typeface="Times New Roman"/>
                          <a:cs typeface="Times New Roman"/>
                          <a:sym typeface="Times New Roman"/>
                        </a:rPr>
                        <a:t>1</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US" sz="2400" u="none" cap="none" strike="noStrike">
                          <a:latin typeface="Times New Roman"/>
                          <a:ea typeface="Times New Roman"/>
                          <a:cs typeface="Times New Roman"/>
                          <a:sym typeface="Times New Roman"/>
                        </a:rPr>
                        <a:t>50</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Times New Roman"/>
              <a:buNone/>
            </a:pPr>
            <a:r>
              <a:rPr b="1" lang="en-US" sz="4000"/>
              <a:t>Features of Workplace Communication</a:t>
            </a:r>
            <a:endParaRPr/>
          </a:p>
        </p:txBody>
      </p:sp>
      <p:sp>
        <p:nvSpPr>
          <p:cNvPr id="182" name="Google Shape;182;p4"/>
          <p:cNvSpPr txBox="1"/>
          <p:nvPr>
            <p:ph idx="1" type="body"/>
          </p:nvPr>
        </p:nvSpPr>
        <p:spPr>
          <a:xfrm>
            <a:off x="457200" y="1845732"/>
            <a:ext cx="11488366" cy="501226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lang="en-US" sz="3200">
                <a:latin typeface="Times New Roman"/>
                <a:ea typeface="Times New Roman"/>
                <a:cs typeface="Times New Roman"/>
                <a:sym typeface="Times New Roman"/>
              </a:rPr>
              <a:t>Workplace communication is a generic term for all written and oral communications done on the job—whether in business, industry, or other professions. The terms </a:t>
            </a:r>
            <a:r>
              <a:rPr b="1" lang="en-US" sz="3200">
                <a:latin typeface="Times New Roman"/>
                <a:ea typeface="Times New Roman"/>
                <a:cs typeface="Times New Roman"/>
                <a:sym typeface="Times New Roman"/>
              </a:rPr>
              <a:t>professional writing, business writing, </a:t>
            </a:r>
            <a:r>
              <a:rPr lang="en-US" sz="3200">
                <a:latin typeface="Times New Roman"/>
                <a:ea typeface="Times New Roman"/>
                <a:cs typeface="Times New Roman"/>
                <a:sym typeface="Times New Roman"/>
              </a:rPr>
              <a:t>and </a:t>
            </a:r>
            <a:r>
              <a:rPr b="1" lang="en-US" sz="3200">
                <a:latin typeface="Times New Roman"/>
                <a:ea typeface="Times New Roman"/>
                <a:cs typeface="Times New Roman"/>
                <a:sym typeface="Times New Roman"/>
              </a:rPr>
              <a:t>occupational writing</a:t>
            </a:r>
            <a:r>
              <a:rPr lang="en-US" sz="3200">
                <a:latin typeface="Times New Roman"/>
                <a:ea typeface="Times New Roman"/>
                <a:cs typeface="Times New Roman"/>
                <a:sym typeface="Times New Roman"/>
              </a:rPr>
              <a:t> also refer to writing done in 	your career.</a:t>
            </a:r>
            <a:endParaRPr/>
          </a:p>
          <a:p>
            <a:pPr indent="0" lvl="0" marL="0" rtl="0" algn="l">
              <a:lnSpc>
                <a:spcPct val="90000"/>
              </a:lnSpc>
              <a:spcBef>
                <a:spcPts val="1000"/>
              </a:spcBef>
              <a:spcAft>
                <a:spcPts val="0"/>
              </a:spcAft>
              <a:buClr>
                <a:schemeClr val="dk1"/>
              </a:buClr>
              <a:buSzPts val="3200"/>
              <a:buNone/>
            </a:pPr>
            <a:r>
              <a:t/>
            </a:r>
            <a:endParaRPr sz="32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3200"/>
              <a:buChar char="•"/>
            </a:pPr>
            <a:r>
              <a:rPr lang="en-US" sz="3200">
                <a:latin typeface="Times New Roman"/>
                <a:ea typeface="Times New Roman"/>
                <a:cs typeface="Times New Roman"/>
                <a:sym typeface="Times New Roman"/>
              </a:rPr>
              <a:t>Besides projects that involve writing, your career will also bring you speaking responsibilities, such as formal speeches at conferences and informal presentations at meetings.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5"/>
          <p:cNvSpPr txBox="1"/>
          <p:nvPr>
            <p:ph type="title"/>
          </p:nvPr>
        </p:nvSpPr>
        <p:spPr>
          <a:xfrm>
            <a:off x="838200" y="0"/>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a:t>Writing in the Workplace</a:t>
            </a:r>
            <a:endParaRPr/>
          </a:p>
        </p:txBody>
      </p:sp>
      <p:sp>
        <p:nvSpPr>
          <p:cNvPr id="188" name="Google Shape;188;p5"/>
          <p:cNvSpPr txBox="1"/>
          <p:nvPr>
            <p:ph idx="1" type="body"/>
          </p:nvPr>
        </p:nvSpPr>
        <p:spPr>
          <a:xfrm>
            <a:off x="838199" y="1325563"/>
            <a:ext cx="11204643" cy="553243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sz="3200">
                <a:latin typeface="Times New Roman"/>
                <a:ea typeface="Times New Roman"/>
                <a:cs typeface="Times New Roman"/>
                <a:sym typeface="Times New Roman"/>
              </a:rPr>
              <a:t>Writing directly influences the following:</a:t>
            </a:r>
            <a:endParaRPr/>
          </a:p>
          <a:p>
            <a:pPr indent="0" lvl="0" marL="0" rtl="0" algn="l">
              <a:lnSpc>
                <a:spcPct val="90000"/>
              </a:lnSpc>
              <a:spcBef>
                <a:spcPts val="1000"/>
              </a:spcBef>
              <a:spcAft>
                <a:spcPts val="0"/>
              </a:spcAft>
              <a:buClr>
                <a:schemeClr val="dk1"/>
              </a:buClr>
              <a:buSzPts val="3200"/>
              <a:buNone/>
            </a:pPr>
            <a:r>
              <a:rPr lang="en-US" sz="3200">
                <a:latin typeface="Times New Roman"/>
                <a:ea typeface="Times New Roman"/>
                <a:cs typeface="Times New Roman"/>
                <a:sym typeface="Times New Roman"/>
              </a:rPr>
              <a:t>■ Your performance evaluations</a:t>
            </a:r>
            <a:endParaRPr/>
          </a:p>
          <a:p>
            <a:pPr indent="0" lvl="0" marL="0" rtl="0" algn="l">
              <a:lnSpc>
                <a:spcPct val="90000"/>
              </a:lnSpc>
              <a:spcBef>
                <a:spcPts val="1000"/>
              </a:spcBef>
              <a:spcAft>
                <a:spcPts val="0"/>
              </a:spcAft>
              <a:buClr>
                <a:schemeClr val="dk1"/>
              </a:buClr>
              <a:buSzPts val="3200"/>
              <a:buNone/>
            </a:pPr>
            <a:r>
              <a:rPr lang="en-US" sz="3200">
                <a:latin typeface="Times New Roman"/>
                <a:ea typeface="Times New Roman"/>
                <a:cs typeface="Times New Roman"/>
                <a:sym typeface="Times New Roman"/>
              </a:rPr>
              <a:t>■ Your professional reputation</a:t>
            </a:r>
            <a:endParaRPr/>
          </a:p>
          <a:p>
            <a:pPr indent="0" lvl="0" marL="0" rtl="0" algn="l">
              <a:lnSpc>
                <a:spcPct val="90000"/>
              </a:lnSpc>
              <a:spcBef>
                <a:spcPts val="1000"/>
              </a:spcBef>
              <a:spcAft>
                <a:spcPts val="0"/>
              </a:spcAft>
              <a:buClr>
                <a:schemeClr val="dk1"/>
              </a:buClr>
              <a:buSzPts val="3200"/>
              <a:buNone/>
            </a:pPr>
            <a:r>
              <a:rPr lang="en-US" sz="3200">
                <a:latin typeface="Times New Roman"/>
                <a:ea typeface="Times New Roman"/>
                <a:cs typeface="Times New Roman"/>
                <a:sym typeface="Times New Roman"/>
              </a:rPr>
              <a:t>■ Your organization’s productivity and success in the marketplace</a:t>
            </a:r>
            <a:endParaRPr/>
          </a:p>
          <a:p>
            <a:pPr indent="0" lvl="0" marL="0" rtl="0" algn="l">
              <a:lnSpc>
                <a:spcPct val="90000"/>
              </a:lnSpc>
              <a:spcBef>
                <a:spcPts val="1000"/>
              </a:spcBef>
              <a:spcAft>
                <a:spcPts val="0"/>
              </a:spcAft>
              <a:buClr>
                <a:schemeClr val="dk1"/>
              </a:buClr>
              <a:buSzPts val="3200"/>
              <a:buNone/>
            </a:pPr>
            <a:r>
              <a:t/>
            </a:r>
            <a:endParaRPr sz="32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3200"/>
              <a:buNone/>
            </a:pPr>
            <a:r>
              <a:rPr lang="en-US" sz="3200">
                <a:latin typeface="Times New Roman"/>
                <a:ea typeface="Times New Roman"/>
                <a:cs typeface="Times New Roman"/>
                <a:sym typeface="Times New Roman"/>
              </a:rPr>
              <a:t>Effective communicators understand the needs of the context in which they are speaking and writing, what Lloyd Bitzer has labeled the “</a:t>
            </a:r>
            <a:r>
              <a:rPr b="1" lang="en-US" sz="3200">
                <a:solidFill>
                  <a:srgbClr val="002060"/>
                </a:solidFill>
                <a:latin typeface="Times New Roman"/>
                <a:ea typeface="Times New Roman"/>
                <a:cs typeface="Times New Roman"/>
                <a:sym typeface="Times New Roman"/>
              </a:rPr>
              <a:t>rhetorical situation</a:t>
            </a:r>
            <a:r>
              <a:rPr lang="en-US" sz="3200">
                <a:latin typeface="Times New Roman"/>
                <a:ea typeface="Times New Roman"/>
                <a:cs typeface="Times New Roman"/>
                <a:sym typeface="Times New Roman"/>
              </a:rPr>
              <a:t>.” It means that the speakers must respond to audience’s expectations about appropriate content, form, and tone for a particular setting.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graphicFrame>
        <p:nvGraphicFramePr>
          <p:cNvPr id="194" name="Google Shape;194;p6"/>
          <p:cNvGraphicFramePr/>
          <p:nvPr/>
        </p:nvGraphicFramePr>
        <p:xfrm>
          <a:off x="152399" y="218442"/>
          <a:ext cx="3000000" cy="3000000"/>
        </p:xfrm>
        <a:graphic>
          <a:graphicData uri="http://schemas.openxmlformats.org/drawingml/2006/table">
            <a:tbl>
              <a:tblPr bandRow="1" firstRow="1">
                <a:noFill/>
                <a:tableStyleId>{6A7666D9-8917-424A-8A12-2AAD64C3940E}</a:tableStyleId>
              </a:tblPr>
              <a:tblGrid>
                <a:gridCol w="1716450"/>
                <a:gridCol w="2257250"/>
                <a:gridCol w="1986850"/>
                <a:gridCol w="1986850"/>
                <a:gridCol w="2072100"/>
                <a:gridCol w="1901600"/>
              </a:tblGrid>
              <a:tr h="1177725">
                <a:tc>
                  <a:txBody>
                    <a:bodyPr/>
                    <a:lstStyle/>
                    <a:p>
                      <a:pPr indent="0" lvl="0" marL="0" marR="0" rtl="0" algn="ctr">
                        <a:spcBef>
                          <a:spcPts val="0"/>
                        </a:spcBef>
                        <a:spcAft>
                          <a:spcPts val="0"/>
                        </a:spcAft>
                        <a:buNone/>
                      </a:pPr>
                      <a:r>
                        <a:rPr lang="en-US" sz="2400" u="none" cap="none" strike="noStrike">
                          <a:solidFill>
                            <a:schemeClr val="lt1"/>
                          </a:solidFill>
                          <a:latin typeface="Times New Roman"/>
                          <a:ea typeface="Times New Roman"/>
                          <a:cs typeface="Times New Roman"/>
                          <a:sym typeface="Times New Roman"/>
                        </a:rPr>
                        <a:t>Features</a:t>
                      </a:r>
                      <a:endParaRPr/>
                    </a:p>
                  </a:txBody>
                  <a:tcPr marT="45725" marB="45725" marR="91450" marL="91450">
                    <a:solidFill>
                      <a:srgbClr val="002060"/>
                    </a:solidFill>
                  </a:tcPr>
                </a:tc>
                <a:tc>
                  <a:txBody>
                    <a:bodyPr/>
                    <a:lstStyle/>
                    <a:p>
                      <a:pPr indent="0" lvl="0" marL="0" marR="0" rtl="0" algn="ctr">
                        <a:spcBef>
                          <a:spcPts val="0"/>
                        </a:spcBef>
                        <a:spcAft>
                          <a:spcPts val="0"/>
                        </a:spcAft>
                        <a:buNone/>
                      </a:pPr>
                      <a:r>
                        <a:rPr lang="en-US" sz="2400" u="none" cap="none" strike="noStrike">
                          <a:solidFill>
                            <a:schemeClr val="lt1"/>
                          </a:solidFill>
                          <a:latin typeface="Times New Roman"/>
                          <a:ea typeface="Times New Roman"/>
                          <a:cs typeface="Times New Roman"/>
                          <a:sym typeface="Times New Roman"/>
                        </a:rPr>
                        <a:t>Purpose</a:t>
                      </a:r>
                      <a:endParaRPr/>
                    </a:p>
                  </a:txBody>
                  <a:tcPr marT="45725" marB="45725" marR="91450" marL="91450">
                    <a:solidFill>
                      <a:srgbClr val="002060"/>
                    </a:solidFill>
                  </a:tcPr>
                </a:tc>
                <a:tc>
                  <a:txBody>
                    <a:bodyPr/>
                    <a:lstStyle/>
                    <a:p>
                      <a:pPr indent="0" lvl="0" marL="0" marR="0" rtl="0" algn="ctr">
                        <a:spcBef>
                          <a:spcPts val="0"/>
                        </a:spcBef>
                        <a:spcAft>
                          <a:spcPts val="0"/>
                        </a:spcAft>
                        <a:buNone/>
                      </a:pPr>
                      <a:r>
                        <a:rPr lang="en-US" sz="2400" u="none" cap="none" strike="noStrike">
                          <a:solidFill>
                            <a:schemeClr val="lt1"/>
                          </a:solidFill>
                          <a:latin typeface="Times New Roman"/>
                          <a:ea typeface="Times New Roman"/>
                          <a:cs typeface="Times New Roman"/>
                          <a:sym typeface="Times New Roman"/>
                        </a:rPr>
                        <a:t>Writer’s Knowledge of Topic</a:t>
                      </a:r>
                      <a:endParaRPr/>
                    </a:p>
                  </a:txBody>
                  <a:tcPr marT="45725" marB="45725" marR="91450" marL="91450">
                    <a:solidFill>
                      <a:srgbClr val="002060"/>
                    </a:solidFill>
                  </a:tcPr>
                </a:tc>
                <a:tc>
                  <a:txBody>
                    <a:bodyPr/>
                    <a:lstStyle/>
                    <a:p>
                      <a:pPr indent="0" lvl="0" marL="0" marR="0" rtl="0" algn="ctr">
                        <a:spcBef>
                          <a:spcPts val="0"/>
                        </a:spcBef>
                        <a:spcAft>
                          <a:spcPts val="0"/>
                        </a:spcAft>
                        <a:buNone/>
                      </a:pPr>
                      <a:r>
                        <a:rPr lang="en-US" sz="2400" u="none" cap="none" strike="noStrike">
                          <a:solidFill>
                            <a:schemeClr val="lt1"/>
                          </a:solidFill>
                          <a:latin typeface="Times New Roman"/>
                          <a:ea typeface="Times New Roman"/>
                          <a:cs typeface="Times New Roman"/>
                          <a:sym typeface="Times New Roman"/>
                        </a:rPr>
                        <a:t>Audience</a:t>
                      </a:r>
                      <a:endParaRPr/>
                    </a:p>
                  </a:txBody>
                  <a:tcPr marT="45725" marB="45725" marR="91450" marL="91450">
                    <a:solidFill>
                      <a:srgbClr val="002060"/>
                    </a:solidFill>
                  </a:tcPr>
                </a:tc>
                <a:tc>
                  <a:txBody>
                    <a:bodyPr/>
                    <a:lstStyle/>
                    <a:p>
                      <a:pPr indent="0" lvl="0" marL="0" marR="0" rtl="0" algn="ctr">
                        <a:spcBef>
                          <a:spcPts val="0"/>
                        </a:spcBef>
                        <a:spcAft>
                          <a:spcPts val="0"/>
                        </a:spcAft>
                        <a:buNone/>
                      </a:pPr>
                      <a:r>
                        <a:rPr lang="en-US" sz="2400" u="none" cap="none" strike="noStrike">
                          <a:solidFill>
                            <a:schemeClr val="lt1"/>
                          </a:solidFill>
                          <a:latin typeface="Times New Roman"/>
                          <a:ea typeface="Times New Roman"/>
                          <a:cs typeface="Times New Roman"/>
                          <a:sym typeface="Times New Roman"/>
                        </a:rPr>
                        <a:t>Criteria of Evaluation</a:t>
                      </a:r>
                      <a:endParaRPr/>
                    </a:p>
                  </a:txBody>
                  <a:tcPr marT="45725" marB="45725" marR="91450" marL="91450">
                    <a:solidFill>
                      <a:srgbClr val="002060"/>
                    </a:solidFill>
                  </a:tcPr>
                </a:tc>
                <a:tc>
                  <a:txBody>
                    <a:bodyPr/>
                    <a:lstStyle/>
                    <a:p>
                      <a:pPr indent="0" lvl="0" marL="0" marR="0" rtl="0" algn="ctr">
                        <a:spcBef>
                          <a:spcPts val="0"/>
                        </a:spcBef>
                        <a:spcAft>
                          <a:spcPts val="0"/>
                        </a:spcAft>
                        <a:buNone/>
                      </a:pPr>
                      <a:r>
                        <a:rPr lang="en-US" sz="2400" u="none" cap="none" strike="noStrike">
                          <a:solidFill>
                            <a:schemeClr val="lt1"/>
                          </a:solidFill>
                          <a:latin typeface="Times New Roman"/>
                          <a:ea typeface="Times New Roman"/>
                          <a:cs typeface="Times New Roman"/>
                          <a:sym typeface="Times New Roman"/>
                        </a:rPr>
                        <a:t>Graphic Elements</a:t>
                      </a:r>
                      <a:endParaRPr/>
                    </a:p>
                  </a:txBody>
                  <a:tcPr marT="45725" marB="45725" marR="91450" marL="91450">
                    <a:solidFill>
                      <a:srgbClr val="002060"/>
                    </a:solidFill>
                  </a:tcPr>
                </a:tc>
              </a:tr>
              <a:tr h="2703025">
                <a:tc>
                  <a:txBody>
                    <a:bodyPr/>
                    <a:lstStyle/>
                    <a:p>
                      <a:pPr indent="0" lvl="0" marL="0" marR="0" rtl="0" algn="l">
                        <a:spcBef>
                          <a:spcPts val="0"/>
                        </a:spcBef>
                        <a:spcAft>
                          <a:spcPts val="0"/>
                        </a:spcAft>
                        <a:buNone/>
                      </a:pPr>
                      <a:r>
                        <a:rPr b="1" lang="en-US" sz="2400" u="none" cap="none" strike="noStrike">
                          <a:solidFill>
                            <a:schemeClr val="dk1"/>
                          </a:solidFill>
                          <a:latin typeface="Times New Roman"/>
                          <a:ea typeface="Times New Roman"/>
                          <a:cs typeface="Times New Roman"/>
                          <a:sym typeface="Times New Roman"/>
                        </a:rPr>
                        <a:t>Academic Writing</a:t>
                      </a:r>
                      <a:endParaRPr/>
                    </a:p>
                  </a:txBody>
                  <a:tcPr marT="45725" marB="45725" marR="91450" marL="91450">
                    <a:solidFill>
                      <a:srgbClr val="DDEAF6"/>
                    </a:solidFill>
                  </a:tcPr>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Communicating what</a:t>
                      </a:r>
                      <a:r>
                        <a:rPr lang="en-US" sz="2400">
                          <a:latin typeface="Times New Roman"/>
                          <a:ea typeface="Times New Roman"/>
                          <a:cs typeface="Times New Roman"/>
                          <a:sym typeface="Times New Roman"/>
                        </a:rPr>
                        <a:t> the student knows about the topic to earn a high grade</a:t>
                      </a:r>
                      <a:endParaRPr sz="2400">
                        <a:latin typeface="Times New Roman"/>
                        <a:ea typeface="Times New Roman"/>
                        <a:cs typeface="Times New Roman"/>
                        <a:sym typeface="Times New Roman"/>
                      </a:endParaRPr>
                    </a:p>
                  </a:txBody>
                  <a:tcPr marT="45725" marB="45725" marR="91450" marL="91450">
                    <a:solidFill>
                      <a:srgbClr val="DDEAF6"/>
                    </a:solidFill>
                  </a:tcPr>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Less than the teacher who evaluates the writing</a:t>
                      </a:r>
                      <a:endParaRPr/>
                    </a:p>
                  </a:txBody>
                  <a:tcPr marT="45725" marB="45725" marR="91450" marL="91450">
                    <a:solidFill>
                      <a:srgbClr val="DDEAF6"/>
                    </a:solidFill>
                  </a:tcPr>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The teacher who assigned the project or classmates</a:t>
                      </a:r>
                      <a:endParaRPr/>
                    </a:p>
                  </a:txBody>
                  <a:tcPr marT="45725" marB="45725" marR="91450" marL="91450">
                    <a:solidFill>
                      <a:srgbClr val="DDEAF6"/>
                    </a:solidFill>
                  </a:tcPr>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Depth,</a:t>
                      </a:r>
                      <a:r>
                        <a:rPr lang="en-US" sz="2400">
                          <a:latin typeface="Times New Roman"/>
                          <a:ea typeface="Times New Roman"/>
                          <a:cs typeface="Times New Roman"/>
                          <a:sym typeface="Times New Roman"/>
                        </a:rPr>
                        <a:t> logic, clarity, unity, supporting evidence, and grammar</a:t>
                      </a:r>
                      <a:endParaRPr sz="2400">
                        <a:latin typeface="Times New Roman"/>
                        <a:ea typeface="Times New Roman"/>
                        <a:cs typeface="Times New Roman"/>
                        <a:sym typeface="Times New Roman"/>
                      </a:endParaRPr>
                    </a:p>
                  </a:txBody>
                  <a:tcPr marT="45725" marB="45725" marR="91450" marL="91450">
                    <a:solidFill>
                      <a:srgbClr val="DDEAF6"/>
                    </a:solidFill>
                  </a:tcPr>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Sometimes used to explain and persuade</a:t>
                      </a:r>
                      <a:endParaRPr/>
                    </a:p>
                  </a:txBody>
                  <a:tcPr marT="45725" marB="45725" marR="91450" marL="91450">
                    <a:solidFill>
                      <a:srgbClr val="DDEAF6"/>
                    </a:solidFill>
                  </a:tcPr>
                </a:tc>
              </a:tr>
              <a:tr h="2627200">
                <a:tc>
                  <a:txBody>
                    <a:bodyPr/>
                    <a:lstStyle/>
                    <a:p>
                      <a:pPr indent="0" lvl="0" marL="0" marR="0" rtl="0" algn="l">
                        <a:spcBef>
                          <a:spcPts val="0"/>
                        </a:spcBef>
                        <a:spcAft>
                          <a:spcPts val="0"/>
                        </a:spcAft>
                        <a:buNone/>
                      </a:pPr>
                      <a:r>
                        <a:rPr b="1" lang="en-US" sz="2400">
                          <a:solidFill>
                            <a:schemeClr val="dk1"/>
                          </a:solidFill>
                          <a:latin typeface="Times New Roman"/>
                          <a:ea typeface="Times New Roman"/>
                          <a:cs typeface="Times New Roman"/>
                          <a:sym typeface="Times New Roman"/>
                        </a:rPr>
                        <a:t>Workplace</a:t>
                      </a:r>
                      <a:r>
                        <a:rPr b="1" lang="en-US" sz="2400">
                          <a:solidFill>
                            <a:schemeClr val="dk1"/>
                          </a:solidFill>
                          <a:latin typeface="Times New Roman"/>
                          <a:ea typeface="Times New Roman"/>
                          <a:cs typeface="Times New Roman"/>
                          <a:sym typeface="Times New Roman"/>
                        </a:rPr>
                        <a:t> Writing</a:t>
                      </a:r>
                      <a:endParaRPr b="1" sz="2400">
                        <a:solidFill>
                          <a:schemeClr val="dk1"/>
                        </a:solidFill>
                        <a:latin typeface="Times New Roman"/>
                        <a:ea typeface="Times New Roman"/>
                        <a:cs typeface="Times New Roman"/>
                        <a:sym typeface="Times New Roman"/>
                      </a:endParaRPr>
                    </a:p>
                  </a:txBody>
                  <a:tcPr marT="45725" marB="45725" marR="91450" marL="91450">
                    <a:solidFill>
                      <a:srgbClr val="DDEAF6"/>
                    </a:solidFill>
                  </a:tcPr>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Getting something done within</a:t>
                      </a:r>
                      <a:r>
                        <a:rPr lang="en-US" sz="2400">
                          <a:latin typeface="Times New Roman"/>
                          <a:ea typeface="Times New Roman"/>
                          <a:cs typeface="Times New Roman"/>
                          <a:sym typeface="Times New Roman"/>
                        </a:rPr>
                        <a:t> an organization</a:t>
                      </a:r>
                      <a:endParaRPr sz="2400">
                        <a:latin typeface="Times New Roman"/>
                        <a:ea typeface="Times New Roman"/>
                        <a:cs typeface="Times New Roman"/>
                        <a:sym typeface="Times New Roman"/>
                      </a:endParaRPr>
                    </a:p>
                  </a:txBody>
                  <a:tcPr marT="45725" marB="45725" marR="91450" marL="91450">
                    <a:solidFill>
                      <a:srgbClr val="DDEAF6"/>
                    </a:solidFill>
                  </a:tcPr>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Usually more than the reader’s knowledge</a:t>
                      </a:r>
                      <a:endParaRPr/>
                    </a:p>
                  </a:txBody>
                  <a:tcPr marT="45725" marB="45725" marR="91450" marL="91450">
                    <a:solidFill>
                      <a:srgbClr val="DDEAF6"/>
                    </a:solidFill>
                  </a:tcPr>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Often several people with differing professional backgrounds</a:t>
                      </a:r>
                      <a:endParaRPr/>
                    </a:p>
                  </a:txBody>
                  <a:tcPr marT="45725" marB="45725" marR="91450" marL="91450">
                    <a:solidFill>
                      <a:srgbClr val="DDEAF6"/>
                    </a:solidFill>
                  </a:tcPr>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Clear content organization,</a:t>
                      </a:r>
                      <a:r>
                        <a:rPr lang="en-US" sz="2400">
                          <a:latin typeface="Times New Roman"/>
                          <a:ea typeface="Times New Roman"/>
                          <a:cs typeface="Times New Roman"/>
                          <a:sym typeface="Times New Roman"/>
                        </a:rPr>
                        <a:t> appropriate to the needs of busy readers</a:t>
                      </a:r>
                      <a:endParaRPr sz="2400">
                        <a:latin typeface="Times New Roman"/>
                        <a:ea typeface="Times New Roman"/>
                        <a:cs typeface="Times New Roman"/>
                        <a:sym typeface="Times New Roman"/>
                      </a:endParaRPr>
                    </a:p>
                  </a:txBody>
                  <a:tcPr marT="45725" marB="45725" marR="91450" marL="91450">
                    <a:solidFill>
                      <a:srgbClr val="DDEAF6"/>
                    </a:solidFill>
                  </a:tcPr>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Frequently used to help readers find</a:t>
                      </a:r>
                      <a:r>
                        <a:rPr lang="en-US" sz="2400">
                          <a:latin typeface="Times New Roman"/>
                          <a:ea typeface="Times New Roman"/>
                          <a:cs typeface="Times New Roman"/>
                          <a:sym typeface="Times New Roman"/>
                        </a:rPr>
                        <a:t> information and understand ideas</a:t>
                      </a:r>
                      <a:endParaRPr sz="2400">
                        <a:latin typeface="Times New Roman"/>
                        <a:ea typeface="Times New Roman"/>
                        <a:cs typeface="Times New Roman"/>
                        <a:sym typeface="Times New Roman"/>
                      </a:endParaRPr>
                    </a:p>
                  </a:txBody>
                  <a:tcPr marT="45725" marB="45725" marR="91450" marL="91450">
                    <a:solidFill>
                      <a:srgbClr val="DDEAF6"/>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7"/>
          <p:cNvSpPr txBox="1"/>
          <p:nvPr>
            <p:ph type="title"/>
          </p:nvPr>
        </p:nvSpPr>
        <p:spPr>
          <a:xfrm>
            <a:off x="7781194" y="1543295"/>
            <a:ext cx="3968261" cy="4083782"/>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002060"/>
              </a:buClr>
              <a:buSzPct val="100000"/>
              <a:buFont typeface="Times New Roman"/>
              <a:buNone/>
            </a:pPr>
            <a:r>
              <a:rPr b="1" lang="en-US" sz="4900">
                <a:solidFill>
                  <a:srgbClr val="002060"/>
                </a:solidFill>
              </a:rPr>
              <a:t>At workplace we are both the consumers and producers of technical communication</a:t>
            </a:r>
            <a:br>
              <a:rPr lang="en-US"/>
            </a:br>
            <a:endParaRPr/>
          </a:p>
        </p:txBody>
      </p:sp>
      <p:pic>
        <p:nvPicPr>
          <p:cNvPr id="201" name="Google Shape;201;p7"/>
          <p:cNvPicPr preferRelativeResize="0"/>
          <p:nvPr/>
        </p:nvPicPr>
        <p:blipFill rotWithShape="1">
          <a:blip r:embed="rId3">
            <a:alphaModFix/>
          </a:blip>
          <a:srcRect b="0" l="0" r="0" t="0"/>
          <a:stretch/>
        </p:blipFill>
        <p:spPr>
          <a:xfrm>
            <a:off x="281355" y="-61708"/>
            <a:ext cx="7308636" cy="691970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8"/>
          <p:cNvSpPr txBox="1"/>
          <p:nvPr>
            <p:ph type="title"/>
          </p:nvPr>
        </p:nvSpPr>
        <p:spPr>
          <a:xfrm rot="-5400000">
            <a:off x="-2597113" y="2825983"/>
            <a:ext cx="6858000" cy="1206034"/>
          </a:xfrm>
          <a:prstGeom prst="rect">
            <a:avLst/>
          </a:prstGeom>
          <a:solidFill>
            <a:schemeClr val="dk1"/>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Lucida Sans"/>
              <a:buNone/>
            </a:pPr>
            <a:r>
              <a:rPr b="1" lang="en-US">
                <a:solidFill>
                  <a:schemeClr val="lt1"/>
                </a:solidFill>
                <a:latin typeface="Lucida Sans"/>
                <a:ea typeface="Lucida Sans"/>
                <a:cs typeface="Lucida Sans"/>
                <a:sym typeface="Lucida Sans"/>
              </a:rPr>
              <a:t>TECHNICAL DOCUMENTS</a:t>
            </a:r>
            <a:endParaRPr/>
          </a:p>
        </p:txBody>
      </p:sp>
      <p:graphicFrame>
        <p:nvGraphicFramePr>
          <p:cNvPr id="208" name="Google Shape;208;p8"/>
          <p:cNvGraphicFramePr/>
          <p:nvPr/>
        </p:nvGraphicFramePr>
        <p:xfrm>
          <a:off x="2867145" y="23611"/>
          <a:ext cx="3000000" cy="3000000"/>
        </p:xfrm>
        <a:graphic>
          <a:graphicData uri="http://schemas.openxmlformats.org/drawingml/2006/table">
            <a:tbl>
              <a:tblPr bandRow="1" firstRow="1">
                <a:noFill/>
                <a:tableStyleId>{6A7666D9-8917-424A-8A12-2AAD64C3940E}</a:tableStyleId>
              </a:tblPr>
              <a:tblGrid>
                <a:gridCol w="7279425"/>
              </a:tblGrid>
              <a:tr h="362150">
                <a:tc>
                  <a:txBody>
                    <a:bodyPr/>
                    <a:lstStyle/>
                    <a:p>
                      <a:pPr indent="0" lvl="0" marL="0" marR="0" rtl="0" algn="l">
                        <a:spcBef>
                          <a:spcPts val="0"/>
                        </a:spcBef>
                        <a:spcAft>
                          <a:spcPts val="0"/>
                        </a:spcAft>
                        <a:buNone/>
                      </a:pPr>
                      <a:r>
                        <a:rPr lang="en-US" sz="2000"/>
                        <a:t>Correspondence</a:t>
                      </a:r>
                      <a:endParaRPr/>
                    </a:p>
                  </a:txBody>
                  <a:tcPr marT="45725" marB="45725" marR="91450" marL="91450"/>
                </a:tc>
              </a:tr>
              <a:tr h="599050">
                <a:tc>
                  <a:txBody>
                    <a:bodyPr/>
                    <a:lstStyle/>
                    <a:p>
                      <a:pPr indent="0" lvl="0" marL="0" marR="0" rtl="0" algn="l">
                        <a:spcBef>
                          <a:spcPts val="0"/>
                        </a:spcBef>
                        <a:spcAft>
                          <a:spcPts val="0"/>
                        </a:spcAft>
                        <a:buNone/>
                      </a:pPr>
                      <a:r>
                        <a:rPr lang="en-US" sz="2000"/>
                        <a:t>Memos to your boss and</a:t>
                      </a:r>
                      <a:r>
                        <a:rPr lang="en-US" sz="2000"/>
                        <a:t> to your </a:t>
                      </a:r>
                      <a:endParaRPr/>
                    </a:p>
                    <a:p>
                      <a:pPr indent="0" lvl="0" marL="0" marR="0" rtl="0" algn="l">
                        <a:spcBef>
                          <a:spcPts val="0"/>
                        </a:spcBef>
                        <a:spcAft>
                          <a:spcPts val="0"/>
                        </a:spcAft>
                        <a:buNone/>
                      </a:pPr>
                      <a:r>
                        <a:rPr lang="en-US" sz="2000"/>
                        <a:t>Routine letters to customers, vendors etc</a:t>
                      </a:r>
                      <a:endParaRPr sz="2000"/>
                    </a:p>
                    <a:p>
                      <a:pPr indent="0" lvl="0" marL="0" marR="0" rtl="0" algn="l">
                        <a:spcBef>
                          <a:spcPts val="0"/>
                        </a:spcBef>
                        <a:spcAft>
                          <a:spcPts val="0"/>
                        </a:spcAft>
                        <a:buNone/>
                      </a:pPr>
                      <a:r>
                        <a:rPr lang="en-US" sz="2000"/>
                        <a:t>Letters to customers</a:t>
                      </a:r>
                      <a:endParaRPr/>
                    </a:p>
                    <a:p>
                      <a:pPr indent="0" lvl="0" marL="0" marR="0" rtl="0" algn="l">
                        <a:spcBef>
                          <a:spcPts val="0"/>
                        </a:spcBef>
                        <a:spcAft>
                          <a:spcPts val="0"/>
                        </a:spcAft>
                        <a:buNone/>
                      </a:pPr>
                      <a:r>
                        <a:rPr lang="en-US" sz="2000"/>
                        <a:t>Sales letters to potential customers</a:t>
                      </a:r>
                      <a:endParaRPr/>
                    </a:p>
                    <a:p>
                      <a:pPr indent="0" lvl="0" marL="0" marR="0" rtl="0" algn="l">
                        <a:spcBef>
                          <a:spcPts val="0"/>
                        </a:spcBef>
                        <a:spcAft>
                          <a:spcPts val="0"/>
                        </a:spcAft>
                        <a:buNone/>
                      </a:pPr>
                      <a:r>
                        <a:rPr lang="en-US" sz="2000"/>
                        <a:t>Electronic mail to co-workers or customers</a:t>
                      </a:r>
                      <a:endParaRPr sz="2000"/>
                    </a:p>
                  </a:txBody>
                  <a:tcPr marT="45725" marB="45725" marR="91450" marL="91450"/>
                </a:tc>
              </a:tr>
              <a:tr h="311725">
                <a:tc>
                  <a:txBody>
                    <a:bodyPr/>
                    <a:lstStyle/>
                    <a:p>
                      <a:pPr indent="0" lvl="0" marL="0" marR="0" rtl="0" algn="l">
                        <a:spcBef>
                          <a:spcPts val="0"/>
                        </a:spcBef>
                        <a:spcAft>
                          <a:spcPts val="0"/>
                        </a:spcAft>
                        <a:buNone/>
                      </a:pPr>
                      <a:r>
                        <a:rPr b="1" lang="en-US" sz="2000"/>
                        <a:t>Short Reports</a:t>
                      </a:r>
                      <a:endParaRPr/>
                    </a:p>
                  </a:txBody>
                  <a:tcPr marT="45725" marB="45725" marR="91450" marL="91450"/>
                </a:tc>
              </a:tr>
              <a:tr h="599050">
                <a:tc>
                  <a:txBody>
                    <a:bodyPr/>
                    <a:lstStyle/>
                    <a:p>
                      <a:pPr indent="0" lvl="0" marL="0" marR="0" rtl="0" algn="l">
                        <a:spcBef>
                          <a:spcPts val="0"/>
                        </a:spcBef>
                        <a:spcAft>
                          <a:spcPts val="0"/>
                        </a:spcAft>
                        <a:buNone/>
                      </a:pPr>
                      <a:r>
                        <a:rPr lang="en-US" sz="2000"/>
                        <a:t>Analysis of problem</a:t>
                      </a:r>
                      <a:endParaRPr/>
                    </a:p>
                    <a:p>
                      <a:pPr indent="0" lvl="0" marL="0" marR="0" rtl="0" algn="l">
                        <a:spcBef>
                          <a:spcPts val="0"/>
                        </a:spcBef>
                        <a:spcAft>
                          <a:spcPts val="0"/>
                        </a:spcAft>
                        <a:buNone/>
                      </a:pPr>
                      <a:r>
                        <a:rPr lang="en-US" sz="2000"/>
                        <a:t>Recommendation</a:t>
                      </a:r>
                      <a:endParaRPr/>
                    </a:p>
                    <a:p>
                      <a:pPr indent="0" lvl="0" marL="0" marR="0" rtl="0" algn="l">
                        <a:spcBef>
                          <a:spcPts val="0"/>
                        </a:spcBef>
                        <a:spcAft>
                          <a:spcPts val="0"/>
                        </a:spcAft>
                        <a:buNone/>
                      </a:pPr>
                      <a:r>
                        <a:rPr lang="en-US" sz="2000"/>
                        <a:t>Equipment</a:t>
                      </a:r>
                      <a:r>
                        <a:rPr lang="en-US" sz="2000"/>
                        <a:t> Evaluation</a:t>
                      </a:r>
                      <a:endParaRPr/>
                    </a:p>
                    <a:p>
                      <a:pPr indent="0" lvl="0" marL="0" marR="0" rtl="0" algn="l">
                        <a:spcBef>
                          <a:spcPts val="0"/>
                        </a:spcBef>
                        <a:spcAft>
                          <a:spcPts val="0"/>
                        </a:spcAft>
                        <a:buNone/>
                      </a:pPr>
                      <a:r>
                        <a:rPr lang="en-US" sz="2000"/>
                        <a:t>Progress or periodic report</a:t>
                      </a:r>
                      <a:endParaRPr/>
                    </a:p>
                    <a:p>
                      <a:pPr indent="0" lvl="0" marL="0" marR="0" rtl="0" algn="l">
                        <a:spcBef>
                          <a:spcPts val="0"/>
                        </a:spcBef>
                        <a:spcAft>
                          <a:spcPts val="0"/>
                        </a:spcAft>
                        <a:buNone/>
                      </a:pPr>
                      <a:r>
                        <a:rPr lang="en-US" sz="2000"/>
                        <a:t>Description of results of a laboratory work or a company trip</a:t>
                      </a:r>
                      <a:endParaRPr sz="2000"/>
                    </a:p>
                  </a:txBody>
                  <a:tcPr marT="45725" marB="45725" marR="91450" marL="91450"/>
                </a:tc>
              </a:tr>
              <a:tr h="377225">
                <a:tc>
                  <a:txBody>
                    <a:bodyPr/>
                    <a:lstStyle/>
                    <a:p>
                      <a:pPr indent="0" lvl="0" marL="0" marR="0" rtl="0" algn="l">
                        <a:spcBef>
                          <a:spcPts val="0"/>
                        </a:spcBef>
                        <a:spcAft>
                          <a:spcPts val="0"/>
                        </a:spcAft>
                        <a:buNone/>
                      </a:pPr>
                      <a:r>
                        <a:rPr b="1" lang="en-US" sz="2000"/>
                        <a:t>Long Reports</a:t>
                      </a:r>
                      <a:endParaRPr/>
                    </a:p>
                  </a:txBody>
                  <a:tcPr marT="45725" marB="45725" marR="91450" marL="91450"/>
                </a:tc>
              </a:tr>
              <a:tr h="599050">
                <a:tc>
                  <a:txBody>
                    <a:bodyPr/>
                    <a:lstStyle/>
                    <a:p>
                      <a:pPr indent="0" lvl="0" marL="0" marR="0" rtl="0" algn="l">
                        <a:spcBef>
                          <a:spcPts val="0"/>
                        </a:spcBef>
                        <a:spcAft>
                          <a:spcPts val="0"/>
                        </a:spcAft>
                        <a:buNone/>
                      </a:pPr>
                      <a:r>
                        <a:rPr lang="en-US" sz="2000"/>
                        <a:t>Project report in field or laboratory work</a:t>
                      </a:r>
                      <a:endParaRPr/>
                    </a:p>
                    <a:p>
                      <a:pPr indent="0" lvl="0" marL="0" marR="0" rtl="0" algn="l">
                        <a:spcBef>
                          <a:spcPts val="0"/>
                        </a:spcBef>
                        <a:spcAft>
                          <a:spcPts val="0"/>
                        </a:spcAft>
                        <a:buNone/>
                      </a:pPr>
                      <a:r>
                        <a:rPr lang="en-US" sz="2000"/>
                        <a:t>Proposal and Feasibility study</a:t>
                      </a:r>
                      <a:endParaRPr/>
                    </a:p>
                  </a:txBody>
                  <a:tcPr marT="45725" marB="45725" marR="91450" marL="91450"/>
                </a:tc>
              </a:tr>
              <a:tr h="403100">
                <a:tc>
                  <a:txBody>
                    <a:bodyPr/>
                    <a:lstStyle/>
                    <a:p>
                      <a:pPr indent="0" lvl="0" marL="0" marR="0" rtl="0" algn="l">
                        <a:spcBef>
                          <a:spcPts val="0"/>
                        </a:spcBef>
                        <a:spcAft>
                          <a:spcPts val="0"/>
                        </a:spcAft>
                        <a:buNone/>
                      </a:pPr>
                      <a:r>
                        <a:rPr b="1" lang="en-US" sz="2000"/>
                        <a:t>Other Examples</a:t>
                      </a:r>
                      <a:endParaRPr/>
                    </a:p>
                  </a:txBody>
                  <a:tcPr marT="45725" marB="45725" marR="91450" marL="91450"/>
                </a:tc>
              </a:tr>
              <a:tr h="599050">
                <a:tc>
                  <a:txBody>
                    <a:bodyPr/>
                    <a:lstStyle/>
                    <a:p>
                      <a:pPr indent="0" lvl="0" marL="0" marR="0" rtl="0" algn="l">
                        <a:spcBef>
                          <a:spcPts val="0"/>
                        </a:spcBef>
                        <a:spcAft>
                          <a:spcPts val="0"/>
                        </a:spcAft>
                        <a:buNone/>
                      </a:pPr>
                      <a:r>
                        <a:rPr lang="en-US" sz="2000"/>
                        <a:t>Abstract or summary</a:t>
                      </a:r>
                      <a:r>
                        <a:rPr lang="en-US" sz="2000"/>
                        <a:t> of technical articles</a:t>
                      </a:r>
                      <a:endParaRPr/>
                    </a:p>
                    <a:p>
                      <a:pPr indent="0" lvl="0" marL="0" marR="0" rtl="0" algn="l">
                        <a:spcBef>
                          <a:spcPts val="0"/>
                        </a:spcBef>
                        <a:spcAft>
                          <a:spcPts val="0"/>
                        </a:spcAft>
                        <a:buNone/>
                      </a:pPr>
                      <a:r>
                        <a:rPr lang="en-US" sz="2000"/>
                        <a:t>Technical article or presentation</a:t>
                      </a:r>
                      <a:endParaRPr/>
                    </a:p>
                    <a:p>
                      <a:pPr indent="0" lvl="0" marL="0" marR="0" rtl="0" algn="l">
                        <a:spcBef>
                          <a:spcPts val="0"/>
                        </a:spcBef>
                        <a:spcAft>
                          <a:spcPts val="0"/>
                        </a:spcAft>
                        <a:buNone/>
                      </a:pPr>
                      <a:r>
                        <a:rPr lang="en-US" sz="2000"/>
                        <a:t>Operation manual</a:t>
                      </a:r>
                      <a:endParaRPr/>
                    </a:p>
                    <a:p>
                      <a:pPr indent="0" lvl="0" marL="0" marR="0" rtl="0" algn="l">
                        <a:spcBef>
                          <a:spcPts val="0"/>
                        </a:spcBef>
                        <a:spcAft>
                          <a:spcPts val="0"/>
                        </a:spcAft>
                        <a:buNone/>
                      </a:pPr>
                      <a:r>
                        <a:rPr lang="en-US" sz="2000"/>
                        <a:t>Website</a:t>
                      </a:r>
                      <a:endParaRPr sz="2000"/>
                    </a:p>
                  </a:txBody>
                  <a:tcPr marT="45725" marB="45725" marR="91450" marL="91450"/>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9"/>
          <p:cNvSpPr txBox="1"/>
          <p:nvPr>
            <p:ph type="title"/>
          </p:nvPr>
        </p:nvSpPr>
        <p:spPr>
          <a:xfrm>
            <a:off x="609600" y="0"/>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lang="en-US"/>
              <a:t>Features of Technical Writing</a:t>
            </a:r>
            <a:endParaRPr/>
          </a:p>
        </p:txBody>
      </p:sp>
      <p:grpSp>
        <p:nvGrpSpPr>
          <p:cNvPr id="214" name="Google Shape;214;p9"/>
          <p:cNvGrpSpPr/>
          <p:nvPr/>
        </p:nvGrpSpPr>
        <p:grpSpPr>
          <a:xfrm>
            <a:off x="196313" y="1821185"/>
            <a:ext cx="11723171" cy="4392624"/>
            <a:chOff x="2882" y="327666"/>
            <a:chExt cx="11723171" cy="4392624"/>
          </a:xfrm>
        </p:grpSpPr>
        <p:sp>
          <p:nvSpPr>
            <p:cNvPr id="215" name="Google Shape;215;p9"/>
            <p:cNvSpPr/>
            <p:nvPr/>
          </p:nvSpPr>
          <p:spPr>
            <a:xfrm>
              <a:off x="2882" y="327666"/>
              <a:ext cx="3378941" cy="2027365"/>
            </a:xfrm>
            <a:prstGeom prst="rect">
              <a:avLst/>
            </a:prstGeom>
            <a:solidFill>
              <a:srgbClr val="BBD6EE"/>
            </a:solidFill>
            <a:ln cap="flat" cmpd="sng" w="1270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9"/>
            <p:cNvSpPr txBox="1"/>
            <p:nvPr/>
          </p:nvSpPr>
          <p:spPr>
            <a:xfrm>
              <a:off x="2882" y="327666"/>
              <a:ext cx="3378941" cy="2027365"/>
            </a:xfrm>
            <a:prstGeom prst="rect">
              <a:avLst/>
            </a:prstGeom>
            <a:noFill/>
            <a:ln>
              <a:noFill/>
            </a:ln>
          </p:spPr>
          <p:txBody>
            <a:bodyPr anchorCtr="0" anchor="ctr" bIns="121900" lIns="121900" spcFirstLastPara="1" rIns="121900" wrap="square" tIns="121900">
              <a:noAutofit/>
            </a:bodyPr>
            <a:lstStyle/>
            <a:p>
              <a:pPr indent="0" lvl="0" marL="0" marR="0" rtl="0" algn="ctr">
                <a:lnSpc>
                  <a:spcPct val="90000"/>
                </a:lnSpc>
                <a:spcBef>
                  <a:spcPts val="0"/>
                </a:spcBef>
                <a:spcAft>
                  <a:spcPts val="0"/>
                </a:spcAft>
                <a:buClr>
                  <a:srgbClr val="002060"/>
                </a:buClr>
                <a:buSzPts val="3200"/>
                <a:buFont typeface="Times New Roman"/>
                <a:buNone/>
              </a:pPr>
              <a:r>
                <a:rPr b="1" i="0" lang="en-US" sz="3200" u="none" cap="none" strike="noStrike">
                  <a:solidFill>
                    <a:srgbClr val="002060"/>
                  </a:solidFill>
                  <a:latin typeface="Arial"/>
                  <a:ea typeface="Arial"/>
                  <a:cs typeface="Arial"/>
                  <a:sym typeface="Arial"/>
                </a:rPr>
                <a:t>Purposeful</a:t>
              </a:r>
              <a:r>
                <a:rPr b="0" i="0" lang="en-US" sz="2600" u="none" cap="none" strike="noStrike">
                  <a:solidFill>
                    <a:srgbClr val="002060"/>
                  </a:solidFill>
                  <a:latin typeface="Arial"/>
                  <a:ea typeface="Arial"/>
                  <a:cs typeface="Arial"/>
                  <a:sym typeface="Arial"/>
                </a:rPr>
                <a:t> objective/focused</a:t>
              </a:r>
              <a:endParaRPr/>
            </a:p>
          </p:txBody>
        </p:sp>
        <p:sp>
          <p:nvSpPr>
            <p:cNvPr id="217" name="Google Shape;217;p9"/>
            <p:cNvSpPr/>
            <p:nvPr/>
          </p:nvSpPr>
          <p:spPr>
            <a:xfrm>
              <a:off x="3719718" y="327666"/>
              <a:ext cx="4289499" cy="2027365"/>
            </a:xfrm>
            <a:prstGeom prst="rect">
              <a:avLst/>
            </a:prstGeom>
            <a:solidFill>
              <a:srgbClr val="002060"/>
            </a:solidFill>
            <a:ln cap="flat" cmpd="sng" w="1270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9"/>
            <p:cNvSpPr txBox="1"/>
            <p:nvPr/>
          </p:nvSpPr>
          <p:spPr>
            <a:xfrm>
              <a:off x="3719718" y="327666"/>
              <a:ext cx="4289499" cy="2027365"/>
            </a:xfrm>
            <a:prstGeom prst="rect">
              <a:avLst/>
            </a:prstGeom>
            <a:noFill/>
            <a:ln>
              <a:noFill/>
            </a:ln>
          </p:spPr>
          <p:txBody>
            <a:bodyPr anchorCtr="0" anchor="ctr" bIns="121900" lIns="121900" spcFirstLastPara="1" rIns="121900" wrap="square" tIns="121900">
              <a:noAutofit/>
            </a:bodyPr>
            <a:lstStyle/>
            <a:p>
              <a:pPr indent="0" lvl="0" marL="0" marR="0" rtl="0" algn="ctr">
                <a:lnSpc>
                  <a:spcPct val="90000"/>
                </a:lnSpc>
                <a:spcBef>
                  <a:spcPts val="0"/>
                </a:spcBef>
                <a:spcAft>
                  <a:spcPts val="0"/>
                </a:spcAft>
                <a:buClr>
                  <a:schemeClr val="lt1"/>
                </a:buClr>
                <a:buSzPts val="3200"/>
                <a:buFont typeface="Times New Roman"/>
                <a:buNone/>
              </a:pPr>
              <a:r>
                <a:rPr b="1" i="0" lang="en-US" sz="3200" u="none" cap="none" strike="noStrike">
                  <a:solidFill>
                    <a:schemeClr val="lt1"/>
                  </a:solidFill>
                  <a:latin typeface="Arial"/>
                  <a:ea typeface="Arial"/>
                  <a:cs typeface="Arial"/>
                  <a:sym typeface="Arial"/>
                </a:rPr>
                <a:t>Contextualized</a:t>
              </a:r>
              <a:r>
                <a:rPr b="1" i="0" lang="en-US" sz="2600" u="none" cap="none" strike="noStrike">
                  <a:solidFill>
                    <a:schemeClr val="lt1"/>
                  </a:solidFill>
                  <a:latin typeface="Arial"/>
                  <a:ea typeface="Arial"/>
                  <a:cs typeface="Arial"/>
                  <a:sym typeface="Arial"/>
                </a:rPr>
                <a:t> </a:t>
              </a:r>
              <a:r>
                <a:rPr b="0" i="0" lang="en-US" sz="2400" u="none" cap="none" strike="noStrike">
                  <a:solidFill>
                    <a:schemeClr val="lt1"/>
                  </a:solidFill>
                  <a:latin typeface="Arial"/>
                  <a:ea typeface="Arial"/>
                  <a:cs typeface="Arial"/>
                  <a:sym typeface="Arial"/>
                </a:rPr>
                <a:t>context based/ situation oriented</a:t>
              </a:r>
              <a:endParaRPr/>
            </a:p>
          </p:txBody>
        </p:sp>
        <p:sp>
          <p:nvSpPr>
            <p:cNvPr id="219" name="Google Shape;219;p9"/>
            <p:cNvSpPr/>
            <p:nvPr/>
          </p:nvSpPr>
          <p:spPr>
            <a:xfrm>
              <a:off x="8347112" y="327666"/>
              <a:ext cx="3378941" cy="2027365"/>
            </a:xfrm>
            <a:prstGeom prst="rect">
              <a:avLst/>
            </a:prstGeom>
            <a:solidFill>
              <a:srgbClr val="9CC2E5"/>
            </a:solidFill>
            <a:ln cap="flat" cmpd="sng" w="1270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9"/>
            <p:cNvSpPr txBox="1"/>
            <p:nvPr/>
          </p:nvSpPr>
          <p:spPr>
            <a:xfrm>
              <a:off x="8347112" y="327666"/>
              <a:ext cx="3378941" cy="2027365"/>
            </a:xfrm>
            <a:prstGeom prst="rect">
              <a:avLst/>
            </a:prstGeom>
            <a:noFill/>
            <a:ln>
              <a:noFill/>
            </a:ln>
          </p:spPr>
          <p:txBody>
            <a:bodyPr anchorCtr="0" anchor="ctr" bIns="137150" lIns="137150" spcFirstLastPara="1" rIns="137150" wrap="square" tIns="137150">
              <a:noAutofit/>
            </a:bodyPr>
            <a:lstStyle/>
            <a:p>
              <a:pPr indent="0" lvl="0" marL="0" marR="0" rtl="0" algn="ctr">
                <a:lnSpc>
                  <a:spcPct val="90000"/>
                </a:lnSpc>
                <a:spcBef>
                  <a:spcPts val="0"/>
                </a:spcBef>
                <a:spcAft>
                  <a:spcPts val="0"/>
                </a:spcAft>
                <a:buClr>
                  <a:srgbClr val="002060"/>
                </a:buClr>
                <a:buSzPts val="3600"/>
                <a:buFont typeface="Arial"/>
                <a:buNone/>
              </a:pPr>
              <a:r>
                <a:rPr b="1" i="0" lang="en-US" sz="3600" u="none" cap="none" strike="noStrike">
                  <a:solidFill>
                    <a:srgbClr val="002060"/>
                  </a:solidFill>
                  <a:latin typeface="Arial"/>
                  <a:ea typeface="Arial"/>
                  <a:cs typeface="Arial"/>
                  <a:sym typeface="Arial"/>
                </a:rPr>
                <a:t>Realistic</a:t>
              </a:r>
              <a:endParaRPr/>
            </a:p>
            <a:p>
              <a:pPr indent="0" lvl="0" marL="0" marR="0" rtl="0" algn="ctr">
                <a:lnSpc>
                  <a:spcPct val="90000"/>
                </a:lnSpc>
                <a:spcBef>
                  <a:spcPts val="1260"/>
                </a:spcBef>
                <a:spcAft>
                  <a:spcPts val="0"/>
                </a:spcAft>
                <a:buClr>
                  <a:srgbClr val="002060"/>
                </a:buClr>
                <a:buSzPts val="3000"/>
                <a:buFont typeface="Arial"/>
                <a:buNone/>
              </a:pPr>
              <a:r>
                <a:rPr b="0" i="0" lang="en-US" sz="3000" u="none" cap="none" strike="noStrike">
                  <a:solidFill>
                    <a:srgbClr val="002060"/>
                  </a:solidFill>
                  <a:latin typeface="Arial"/>
                  <a:ea typeface="Arial"/>
                  <a:cs typeface="Arial"/>
                  <a:sym typeface="Arial"/>
                </a:rPr>
                <a:t>factual and demonstrable</a:t>
              </a:r>
              <a:endParaRPr/>
            </a:p>
          </p:txBody>
        </p:sp>
        <p:sp>
          <p:nvSpPr>
            <p:cNvPr id="221" name="Google Shape;221;p9"/>
            <p:cNvSpPr/>
            <p:nvPr/>
          </p:nvSpPr>
          <p:spPr>
            <a:xfrm>
              <a:off x="175851" y="2692925"/>
              <a:ext cx="3378941" cy="2027365"/>
            </a:xfrm>
            <a:prstGeom prst="rect">
              <a:avLst/>
            </a:prstGeom>
            <a:solidFill>
              <a:srgbClr val="002060"/>
            </a:solidFill>
            <a:ln cap="flat" cmpd="sng" w="1270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9"/>
            <p:cNvSpPr txBox="1"/>
            <p:nvPr/>
          </p:nvSpPr>
          <p:spPr>
            <a:xfrm>
              <a:off x="175851" y="2692925"/>
              <a:ext cx="3378941" cy="2027365"/>
            </a:xfrm>
            <a:prstGeom prst="rect">
              <a:avLst/>
            </a:prstGeom>
            <a:noFill/>
            <a:ln>
              <a:noFill/>
            </a:ln>
          </p:spPr>
          <p:txBody>
            <a:bodyPr anchorCtr="0" anchor="ctr" bIns="121900" lIns="121900" spcFirstLastPara="1" rIns="121900" wrap="square" tIns="121900">
              <a:noAutofit/>
            </a:bodyPr>
            <a:lstStyle/>
            <a:p>
              <a:pPr indent="0" lvl="0" marL="0" marR="0" rtl="0" algn="ctr">
                <a:lnSpc>
                  <a:spcPct val="90000"/>
                </a:lnSpc>
                <a:spcBef>
                  <a:spcPts val="0"/>
                </a:spcBef>
                <a:spcAft>
                  <a:spcPts val="0"/>
                </a:spcAft>
                <a:buClr>
                  <a:schemeClr val="lt1"/>
                </a:buClr>
                <a:buSzPts val="3200"/>
                <a:buFont typeface="Times New Roman"/>
                <a:buNone/>
              </a:pPr>
              <a:r>
                <a:rPr b="1" i="0" lang="en-US" sz="3200" u="none" cap="none" strike="noStrike">
                  <a:solidFill>
                    <a:schemeClr val="lt1"/>
                  </a:solidFill>
                  <a:latin typeface="Arial"/>
                  <a:ea typeface="Arial"/>
                  <a:cs typeface="Arial"/>
                  <a:sym typeface="Arial"/>
                </a:rPr>
                <a:t>Directional</a:t>
              </a:r>
              <a:r>
                <a:rPr b="0" i="0" lang="en-US" sz="2800" u="none" cap="none" strike="noStrike">
                  <a:solidFill>
                    <a:schemeClr val="lt1"/>
                  </a:solidFill>
                  <a:latin typeface="Arial"/>
                  <a:ea typeface="Arial"/>
                  <a:cs typeface="Arial"/>
                  <a:sym typeface="Arial"/>
                </a:rPr>
                <a:t> specific audience</a:t>
              </a:r>
              <a:endParaRPr b="0" i="0" sz="2600" u="none" cap="none" strike="noStrike">
                <a:solidFill>
                  <a:schemeClr val="lt1"/>
                </a:solidFill>
                <a:latin typeface="Arial"/>
                <a:ea typeface="Arial"/>
                <a:cs typeface="Arial"/>
                <a:sym typeface="Arial"/>
              </a:endParaRPr>
            </a:p>
          </p:txBody>
        </p:sp>
        <p:sp>
          <p:nvSpPr>
            <p:cNvPr id="223" name="Google Shape;223;p9"/>
            <p:cNvSpPr/>
            <p:nvPr/>
          </p:nvSpPr>
          <p:spPr>
            <a:xfrm>
              <a:off x="3892687" y="2692925"/>
              <a:ext cx="3378941" cy="2027365"/>
            </a:xfrm>
            <a:prstGeom prst="rect">
              <a:avLst/>
            </a:prstGeom>
            <a:solidFill>
              <a:srgbClr val="9CC2E5"/>
            </a:solidFill>
            <a:ln cap="flat" cmpd="sng" w="1270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9"/>
            <p:cNvSpPr txBox="1"/>
            <p:nvPr/>
          </p:nvSpPr>
          <p:spPr>
            <a:xfrm>
              <a:off x="3892687" y="2692925"/>
              <a:ext cx="3378941" cy="2027365"/>
            </a:xfrm>
            <a:prstGeom prst="rect">
              <a:avLst/>
            </a:prstGeom>
            <a:noFill/>
            <a:ln>
              <a:noFill/>
            </a:ln>
          </p:spPr>
          <p:txBody>
            <a:bodyPr anchorCtr="0" anchor="ctr" bIns="137150" lIns="137150" spcFirstLastPara="1" rIns="137150" wrap="square" tIns="137150">
              <a:noAutofit/>
            </a:bodyPr>
            <a:lstStyle/>
            <a:p>
              <a:pPr indent="0" lvl="0" marL="0" marR="0" rtl="0" algn="ctr">
                <a:lnSpc>
                  <a:spcPct val="90000"/>
                </a:lnSpc>
                <a:spcBef>
                  <a:spcPts val="0"/>
                </a:spcBef>
                <a:spcAft>
                  <a:spcPts val="0"/>
                </a:spcAft>
                <a:buClr>
                  <a:srgbClr val="002060"/>
                </a:buClr>
                <a:buSzPts val="3600"/>
                <a:buFont typeface="Arial"/>
                <a:buNone/>
              </a:pPr>
              <a:r>
                <a:rPr b="1" i="0" lang="en-US" sz="3600" u="none" cap="none" strike="noStrike">
                  <a:solidFill>
                    <a:srgbClr val="002060"/>
                  </a:solidFill>
                  <a:latin typeface="Arial"/>
                  <a:ea typeface="Arial"/>
                  <a:cs typeface="Arial"/>
                  <a:sym typeface="Arial"/>
                </a:rPr>
                <a:t>Outcome-based</a:t>
              </a:r>
              <a:endParaRPr/>
            </a:p>
            <a:p>
              <a:pPr indent="0" lvl="0" marL="0" marR="0" rtl="0" algn="ctr">
                <a:lnSpc>
                  <a:spcPct val="90000"/>
                </a:lnSpc>
                <a:spcBef>
                  <a:spcPts val="1260"/>
                </a:spcBef>
                <a:spcAft>
                  <a:spcPts val="0"/>
                </a:spcAft>
                <a:buClr>
                  <a:srgbClr val="002060"/>
                </a:buClr>
                <a:buSzPts val="2800"/>
                <a:buFont typeface="Arial"/>
                <a:buNone/>
              </a:pPr>
              <a:r>
                <a:rPr b="0" i="0" lang="en-US" sz="2800" u="none" cap="none" strike="noStrike">
                  <a:solidFill>
                    <a:srgbClr val="002060"/>
                  </a:solidFill>
                  <a:latin typeface="Arial"/>
                  <a:ea typeface="Arial"/>
                  <a:cs typeface="Arial"/>
                  <a:sym typeface="Arial"/>
                </a:rPr>
                <a:t>Achieves targets</a:t>
              </a:r>
              <a:endParaRPr/>
            </a:p>
          </p:txBody>
        </p:sp>
        <p:sp>
          <p:nvSpPr>
            <p:cNvPr id="225" name="Google Shape;225;p9"/>
            <p:cNvSpPr/>
            <p:nvPr/>
          </p:nvSpPr>
          <p:spPr>
            <a:xfrm>
              <a:off x="7609522" y="2692925"/>
              <a:ext cx="3943562" cy="2027365"/>
            </a:xfrm>
            <a:prstGeom prst="rect">
              <a:avLst/>
            </a:prstGeom>
            <a:solidFill>
              <a:srgbClr val="002060"/>
            </a:solidFill>
            <a:ln cap="flat" cmpd="sng" w="1270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9"/>
            <p:cNvSpPr txBox="1"/>
            <p:nvPr/>
          </p:nvSpPr>
          <p:spPr>
            <a:xfrm>
              <a:off x="7609522" y="2692925"/>
              <a:ext cx="3943562" cy="2027365"/>
            </a:xfrm>
            <a:prstGeom prst="rect">
              <a:avLst/>
            </a:prstGeom>
            <a:noFill/>
            <a:ln>
              <a:noFill/>
            </a:ln>
          </p:spPr>
          <p:txBody>
            <a:bodyPr anchorCtr="0" anchor="ctr" bIns="121900" lIns="121900" spcFirstLastPara="1" rIns="121900" wrap="square" tIns="121900">
              <a:noAutofit/>
            </a:bodyPr>
            <a:lstStyle/>
            <a:p>
              <a:pPr indent="0" lvl="0" marL="0" marR="0" rtl="0" algn="ctr">
                <a:lnSpc>
                  <a:spcPct val="90000"/>
                </a:lnSpc>
                <a:spcBef>
                  <a:spcPts val="0"/>
                </a:spcBef>
                <a:spcAft>
                  <a:spcPts val="0"/>
                </a:spcAft>
                <a:buClr>
                  <a:schemeClr val="lt1"/>
                </a:buClr>
                <a:buSzPts val="3200"/>
                <a:buFont typeface="Arial"/>
                <a:buNone/>
              </a:pPr>
              <a:r>
                <a:rPr b="1" i="0" lang="en-US" sz="3200" u="none" cap="none" strike="noStrike">
                  <a:solidFill>
                    <a:schemeClr val="lt1"/>
                  </a:solidFill>
                  <a:latin typeface="Arial"/>
                  <a:ea typeface="Arial"/>
                  <a:cs typeface="Arial"/>
                  <a:sym typeface="Arial"/>
                </a:rPr>
                <a:t>Interdisciplinary</a:t>
              </a:r>
              <a:endParaRPr/>
            </a:p>
            <a:p>
              <a:pPr indent="0" lvl="0" marL="0" marR="0" rtl="0" algn="ctr">
                <a:lnSpc>
                  <a:spcPct val="90000"/>
                </a:lnSpc>
                <a:spcBef>
                  <a:spcPts val="1120"/>
                </a:spcBef>
                <a:spcAft>
                  <a:spcPts val="0"/>
                </a:spcAft>
                <a:buClr>
                  <a:schemeClr val="lt1"/>
                </a:buClr>
                <a:buSzPts val="2800"/>
                <a:buFont typeface="Arial"/>
                <a:buNone/>
              </a:pPr>
              <a:r>
                <a:rPr b="0" i="0" lang="en-US" sz="2800" u="none" cap="none" strike="noStrike">
                  <a:solidFill>
                    <a:schemeClr val="lt1"/>
                  </a:solidFill>
                  <a:latin typeface="Arial"/>
                  <a:ea typeface="Arial"/>
                  <a:cs typeface="Arial"/>
                  <a:sym typeface="Arial"/>
                </a:rPr>
                <a:t>Multiple fields</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id="232" name="Google Shape;232;p10"/>
          <p:cNvPicPr preferRelativeResize="0"/>
          <p:nvPr/>
        </p:nvPicPr>
        <p:blipFill rotWithShape="1">
          <a:blip r:embed="rId3">
            <a:alphaModFix/>
          </a:blip>
          <a:srcRect b="0" l="0" r="0" t="0"/>
          <a:stretch/>
        </p:blipFill>
        <p:spPr>
          <a:xfrm>
            <a:off x="1468192" y="154546"/>
            <a:ext cx="10698632" cy="6703454"/>
          </a:xfrm>
          <a:prstGeom prst="rect">
            <a:avLst/>
          </a:prstGeom>
          <a:noFill/>
          <a:ln>
            <a:noFill/>
          </a:ln>
        </p:spPr>
      </p:pic>
      <p:sp>
        <p:nvSpPr>
          <p:cNvPr id="233" name="Google Shape;233;p10"/>
          <p:cNvSpPr txBox="1"/>
          <p:nvPr/>
        </p:nvSpPr>
        <p:spPr>
          <a:xfrm rot="-5400000">
            <a:off x="-4138321" y="2750906"/>
            <a:ext cx="10515600" cy="1325563"/>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3600"/>
              <a:buFont typeface="Times New Roman"/>
              <a:buNone/>
            </a:pPr>
            <a:r>
              <a:rPr b="1" i="0" lang="en-US" sz="3600" u="none" cap="none" strike="noStrike">
                <a:solidFill>
                  <a:schemeClr val="dk1"/>
                </a:solidFill>
                <a:latin typeface="Times New Roman"/>
                <a:ea typeface="Times New Roman"/>
                <a:cs typeface="Times New Roman"/>
                <a:sym typeface="Times New Roman"/>
              </a:rPr>
              <a:t>An Effective Technical Document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1"/>
          <p:cNvSpPr txBox="1"/>
          <p:nvPr/>
        </p:nvSpPr>
        <p:spPr>
          <a:xfrm>
            <a:off x="2861733" y="353943"/>
            <a:ext cx="6688667"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000" u="none" cap="none" strike="noStrike">
                <a:solidFill>
                  <a:schemeClr val="dk1"/>
                </a:solidFill>
                <a:latin typeface="Times New Roman"/>
                <a:ea typeface="Times New Roman"/>
                <a:cs typeface="Times New Roman"/>
                <a:sym typeface="Times New Roman"/>
              </a:rPr>
              <a:t>THINGS TO CONSIDER</a:t>
            </a:r>
            <a:endParaRPr/>
          </a:p>
        </p:txBody>
      </p:sp>
      <p:sp>
        <p:nvSpPr>
          <p:cNvPr id="240" name="Google Shape;240;p11"/>
          <p:cNvSpPr/>
          <p:nvPr/>
        </p:nvSpPr>
        <p:spPr>
          <a:xfrm>
            <a:off x="338668" y="707886"/>
            <a:ext cx="12208934" cy="61247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Audience: </a:t>
            </a:r>
            <a:r>
              <a:rPr lang="en-US" sz="2800">
                <a:solidFill>
                  <a:schemeClr val="dk1"/>
                </a:solidFill>
                <a:latin typeface="Times New Roman"/>
                <a:ea typeface="Times New Roman"/>
                <a:cs typeface="Times New Roman"/>
                <a:sym typeface="Times New Roman"/>
              </a:rPr>
              <a:t>Identify audience's level of technical knowledge, interests, and needs.</a:t>
            </a:r>
            <a:endParaRPr b="1"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Purpose: </a:t>
            </a:r>
            <a:r>
              <a:rPr lang="en-US" sz="2800">
                <a:solidFill>
                  <a:schemeClr val="dk1"/>
                </a:solidFill>
                <a:latin typeface="Times New Roman"/>
                <a:ea typeface="Times New Roman"/>
                <a:cs typeface="Times New Roman"/>
                <a:sym typeface="Times New Roman"/>
              </a:rPr>
              <a:t>Is it to inform, educate, persuade, or troubleshoot?</a:t>
            </a:r>
            <a:endParaRPr/>
          </a:p>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Complexity: </a:t>
            </a:r>
            <a:r>
              <a:rPr lang="en-US" sz="2800">
                <a:solidFill>
                  <a:schemeClr val="dk1"/>
                </a:solidFill>
                <a:latin typeface="Times New Roman"/>
                <a:ea typeface="Times New Roman"/>
                <a:cs typeface="Times New Roman"/>
                <a:sym typeface="Times New Roman"/>
              </a:rPr>
              <a:t>Break down information into simpler, understandable ideas.</a:t>
            </a:r>
            <a:endParaRPr/>
          </a:p>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Format: </a:t>
            </a:r>
            <a:r>
              <a:rPr lang="en-US" sz="2800">
                <a:solidFill>
                  <a:schemeClr val="dk1"/>
                </a:solidFill>
                <a:latin typeface="Times New Roman"/>
                <a:ea typeface="Times New Roman"/>
                <a:cs typeface="Times New Roman"/>
                <a:sym typeface="Times New Roman"/>
              </a:rPr>
              <a:t>Use written documents, presentations, videos, or discussions.</a:t>
            </a:r>
            <a:endParaRPr b="1"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Clarity: </a:t>
            </a:r>
            <a:r>
              <a:rPr lang="en-US" sz="2800">
                <a:solidFill>
                  <a:schemeClr val="dk1"/>
                </a:solidFill>
                <a:latin typeface="Times New Roman"/>
                <a:ea typeface="Times New Roman"/>
                <a:cs typeface="Times New Roman"/>
                <a:sym typeface="Times New Roman"/>
              </a:rPr>
              <a:t>Your message must be concise, easy to understand, and free of errors.</a:t>
            </a:r>
            <a:endParaRPr b="1"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Feedback: </a:t>
            </a:r>
            <a:r>
              <a:rPr lang="en-US" sz="2800">
                <a:solidFill>
                  <a:schemeClr val="dk1"/>
                </a:solidFill>
                <a:latin typeface="Times New Roman"/>
                <a:ea typeface="Times New Roman"/>
                <a:cs typeface="Times New Roman"/>
                <a:sym typeface="Times New Roman"/>
              </a:rPr>
              <a:t>Encourage audience’s question/answer session.</a:t>
            </a:r>
            <a:endParaRPr/>
          </a:p>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Timeliness: </a:t>
            </a:r>
            <a:r>
              <a:rPr lang="en-US" sz="2800">
                <a:solidFill>
                  <a:schemeClr val="dk1"/>
                </a:solidFill>
                <a:latin typeface="Times New Roman"/>
                <a:ea typeface="Times New Roman"/>
                <a:cs typeface="Times New Roman"/>
                <a:sym typeface="Times New Roman"/>
              </a:rPr>
              <a:t>Avoid delays.</a:t>
            </a:r>
            <a:endParaRPr/>
          </a:p>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Visuals: </a:t>
            </a:r>
            <a:r>
              <a:rPr lang="en-US" sz="2800">
                <a:solidFill>
                  <a:schemeClr val="dk1"/>
                </a:solidFill>
                <a:latin typeface="Times New Roman"/>
                <a:ea typeface="Times New Roman"/>
                <a:cs typeface="Times New Roman"/>
                <a:sym typeface="Times New Roman"/>
              </a:rPr>
              <a:t>Use visual aids such as diagrams, flowcharts, and screenshots to help 		illustrate complex technical concepts.</a:t>
            </a:r>
            <a:endParaRPr/>
          </a:p>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Accessibility: </a:t>
            </a:r>
            <a:r>
              <a:rPr lang="en-US" sz="2800">
                <a:solidFill>
                  <a:schemeClr val="dk1"/>
                </a:solidFill>
                <a:latin typeface="Times New Roman"/>
                <a:ea typeface="Times New Roman"/>
                <a:cs typeface="Times New Roman"/>
                <a:sym typeface="Times New Roman"/>
              </a:rPr>
              <a:t>Ensure that your communication is accessible and understandable.</a:t>
            </a:r>
            <a:endParaRPr/>
          </a:p>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Consistency: </a:t>
            </a:r>
            <a:r>
              <a:rPr lang="en-US" sz="2800">
                <a:solidFill>
                  <a:schemeClr val="dk1"/>
                </a:solidFill>
                <a:latin typeface="Times New Roman"/>
                <a:ea typeface="Times New Roman"/>
                <a:cs typeface="Times New Roman"/>
                <a:sym typeface="Times New Roman"/>
              </a:rPr>
              <a:t>Establish a consistent style and format for your technical communication to ensure clarity.</a:t>
            </a:r>
            <a:endParaRPr/>
          </a:p>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2"/>
          <p:cNvSpPr txBox="1"/>
          <p:nvPr>
            <p:ph type="title"/>
          </p:nvPr>
        </p:nvSpPr>
        <p:spPr>
          <a:xfrm>
            <a:off x="766140" y="93763"/>
            <a:ext cx="10515600" cy="100691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F5496"/>
              </a:buClr>
              <a:buSzPts val="4000"/>
              <a:buFont typeface="Times New Roman"/>
              <a:buNone/>
            </a:pPr>
            <a:r>
              <a:rPr b="1" lang="en-US" sz="4000">
                <a:solidFill>
                  <a:srgbClr val="2F5496"/>
                </a:solidFill>
              </a:rPr>
              <a:t>Purpose</a:t>
            </a:r>
            <a:r>
              <a:rPr b="1" lang="en-US" sz="4000">
                <a:solidFill>
                  <a:schemeClr val="dk1"/>
                </a:solidFill>
              </a:rPr>
              <a:t> of Technical Writing</a:t>
            </a:r>
            <a:endParaRPr/>
          </a:p>
        </p:txBody>
      </p:sp>
      <p:sp>
        <p:nvSpPr>
          <p:cNvPr id="246" name="Google Shape;246;p12"/>
          <p:cNvSpPr txBox="1"/>
          <p:nvPr>
            <p:ph idx="1" type="body"/>
          </p:nvPr>
        </p:nvSpPr>
        <p:spPr>
          <a:xfrm>
            <a:off x="299720" y="2197917"/>
            <a:ext cx="11446080" cy="52832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3200"/>
              <a:buNone/>
            </a:pPr>
            <a:r>
              <a:rPr b="1" lang="en-US" sz="3200">
                <a:solidFill>
                  <a:schemeClr val="dk1"/>
                </a:solidFill>
                <a:latin typeface="Times New Roman"/>
                <a:ea typeface="Times New Roman"/>
                <a:cs typeface="Times New Roman"/>
                <a:sym typeface="Times New Roman"/>
              </a:rPr>
              <a:t>People in the working world communicate technical information for a number of purposes, many of which fall into one of two categories: </a:t>
            </a:r>
            <a:endParaRPr/>
          </a:p>
          <a:p>
            <a:pPr indent="-342900" lvl="0" marL="342900" rtl="0" algn="l">
              <a:lnSpc>
                <a:spcPct val="90000"/>
              </a:lnSpc>
              <a:spcBef>
                <a:spcPts val="1000"/>
              </a:spcBef>
              <a:spcAft>
                <a:spcPts val="0"/>
              </a:spcAft>
              <a:buClr>
                <a:schemeClr val="dk1"/>
              </a:buClr>
              <a:buSzPts val="3200"/>
              <a:buChar char="•"/>
            </a:pPr>
            <a:r>
              <a:rPr lang="en-US" sz="3200">
                <a:solidFill>
                  <a:schemeClr val="dk1"/>
                </a:solidFill>
                <a:latin typeface="Times New Roman"/>
                <a:ea typeface="Times New Roman"/>
                <a:cs typeface="Times New Roman"/>
                <a:sym typeface="Times New Roman"/>
              </a:rPr>
              <a:t>To help others learn about a subject, carry out a task, or make a decision.</a:t>
            </a:r>
            <a:endParaRPr/>
          </a:p>
          <a:p>
            <a:pPr indent="-342900" lvl="0" marL="342900" rtl="0" algn="l">
              <a:lnSpc>
                <a:spcPct val="90000"/>
              </a:lnSpc>
              <a:spcBef>
                <a:spcPts val="1000"/>
              </a:spcBef>
              <a:spcAft>
                <a:spcPts val="0"/>
              </a:spcAft>
              <a:buClr>
                <a:schemeClr val="dk1"/>
              </a:buClr>
              <a:buSzPts val="3200"/>
              <a:buChar char="•"/>
            </a:pPr>
            <a:r>
              <a:rPr lang="en-US" sz="3200">
                <a:solidFill>
                  <a:schemeClr val="dk1"/>
                </a:solidFill>
                <a:latin typeface="Times New Roman"/>
                <a:ea typeface="Times New Roman"/>
                <a:cs typeface="Times New Roman"/>
                <a:sym typeface="Times New Roman"/>
              </a:rPr>
              <a:t>To reinforce or change attitudes and motivate readers to take an action. </a:t>
            </a:r>
            <a:endParaRPr/>
          </a:p>
          <a:p>
            <a:pPr indent="0" lvl="0" marL="0" rtl="0" algn="ctr">
              <a:lnSpc>
                <a:spcPct val="90000"/>
              </a:lnSpc>
              <a:spcBef>
                <a:spcPts val="1000"/>
              </a:spcBef>
              <a:spcAft>
                <a:spcPts val="0"/>
              </a:spcAft>
              <a:buClr>
                <a:srgbClr val="2F5496"/>
              </a:buClr>
              <a:buSzPts val="3200"/>
              <a:buNone/>
            </a:pPr>
            <a:r>
              <a:rPr b="1" lang="en-US" sz="3200">
                <a:solidFill>
                  <a:srgbClr val="2F5496"/>
                </a:solidFill>
                <a:latin typeface="Times New Roman"/>
                <a:ea typeface="Times New Roman"/>
                <a:cs typeface="Times New Roman"/>
                <a:sym typeface="Times New Roman"/>
              </a:rPr>
              <a:t>Technical Writing is done by an informed writer conveying needed information to an uninformed reader.</a:t>
            </a:r>
            <a:endParaRPr/>
          </a:p>
          <a:p>
            <a:pPr indent="0" lvl="0" marL="0" rtl="0" algn="l">
              <a:lnSpc>
                <a:spcPct val="90000"/>
              </a:lnSpc>
              <a:spcBef>
                <a:spcPts val="1000"/>
              </a:spcBef>
              <a:spcAft>
                <a:spcPts val="0"/>
              </a:spcAft>
              <a:buClr>
                <a:schemeClr val="dk1"/>
              </a:buClr>
              <a:buSzPts val="2800"/>
              <a:buNone/>
            </a:pPr>
            <a:r>
              <a:t/>
            </a:r>
            <a:endParaRPr b="1"/>
          </a:p>
        </p:txBody>
      </p:sp>
      <p:sp>
        <p:nvSpPr>
          <p:cNvPr id="247" name="Google Shape;247;p12"/>
          <p:cNvSpPr txBox="1"/>
          <p:nvPr/>
        </p:nvSpPr>
        <p:spPr>
          <a:xfrm>
            <a:off x="0" y="872354"/>
            <a:ext cx="11446080" cy="1325563"/>
          </a:xfrm>
          <a:prstGeom prst="rect">
            <a:avLst/>
          </a:prstGeom>
          <a:noFill/>
          <a:ln>
            <a:noFill/>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chemeClr val="dk1"/>
              </a:buClr>
              <a:buSzPct val="100000"/>
              <a:buFont typeface="Times New Roman"/>
              <a:buNone/>
            </a:pPr>
            <a:r>
              <a:rPr b="1" lang="en-US" sz="3600">
                <a:solidFill>
                  <a:schemeClr val="dk1"/>
                </a:solidFill>
                <a:latin typeface="Times New Roman"/>
                <a:ea typeface="Times New Roman"/>
                <a:cs typeface="Times New Roman"/>
                <a:sym typeface="Times New Roman"/>
              </a:rPr>
              <a:t>Q1</a:t>
            </a:r>
            <a:r>
              <a:rPr lang="en-US" sz="3600">
                <a:solidFill>
                  <a:schemeClr val="dk1"/>
                </a:solidFill>
                <a:latin typeface="Times New Roman"/>
                <a:ea typeface="Times New Roman"/>
                <a:cs typeface="Times New Roman"/>
                <a:sym typeface="Times New Roman"/>
              </a:rPr>
              <a:t>. Am I writing primarily to create a record or provide information, to request or to persuade?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3"/>
          <p:cNvSpPr txBox="1"/>
          <p:nvPr>
            <p:ph type="title"/>
          </p:nvPr>
        </p:nvSpPr>
        <p:spPr>
          <a:xfrm>
            <a:off x="2910625" y="393946"/>
            <a:ext cx="7415441" cy="85530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F5496"/>
              </a:buClr>
              <a:buSzPts val="4400"/>
              <a:buFont typeface="Times New Roman"/>
              <a:buNone/>
            </a:pPr>
            <a:r>
              <a:rPr b="1" lang="en-US">
                <a:solidFill>
                  <a:srgbClr val="2F5496"/>
                </a:solidFill>
              </a:rPr>
              <a:t>Audience</a:t>
            </a:r>
            <a:r>
              <a:rPr lang="en-US">
                <a:solidFill>
                  <a:srgbClr val="2F5496"/>
                </a:solidFill>
              </a:rPr>
              <a:t> </a:t>
            </a:r>
            <a:r>
              <a:rPr lang="en-US">
                <a:solidFill>
                  <a:schemeClr val="dk1"/>
                </a:solidFill>
              </a:rPr>
              <a:t>of Technical Writing</a:t>
            </a:r>
            <a:endParaRPr/>
          </a:p>
        </p:txBody>
      </p:sp>
      <p:sp>
        <p:nvSpPr>
          <p:cNvPr id="254" name="Google Shape;254;p13"/>
          <p:cNvSpPr txBox="1"/>
          <p:nvPr>
            <p:ph idx="1" type="body"/>
          </p:nvPr>
        </p:nvSpPr>
        <p:spPr>
          <a:xfrm>
            <a:off x="940157" y="2147161"/>
            <a:ext cx="10609401" cy="4913312"/>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Font typeface="Noto Sans Symbols"/>
              <a:buChar char="✔"/>
            </a:pPr>
            <a:r>
              <a:rPr lang="en-US">
                <a:solidFill>
                  <a:schemeClr val="dk1"/>
                </a:solidFill>
                <a:latin typeface="Times New Roman"/>
                <a:ea typeface="Times New Roman"/>
                <a:cs typeface="Times New Roman"/>
                <a:sym typeface="Times New Roman"/>
              </a:rPr>
              <a:t>Supervisors and their Superiors</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solidFill>
                  <a:schemeClr val="dk1"/>
                </a:solidFill>
                <a:latin typeface="Times New Roman"/>
                <a:ea typeface="Times New Roman"/>
                <a:cs typeface="Times New Roman"/>
                <a:sym typeface="Times New Roman"/>
              </a:rPr>
              <a:t>Colleagues in your own department</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solidFill>
                  <a:schemeClr val="dk1"/>
                </a:solidFill>
                <a:latin typeface="Times New Roman"/>
                <a:ea typeface="Times New Roman"/>
                <a:cs typeface="Times New Roman"/>
                <a:sym typeface="Times New Roman"/>
              </a:rPr>
              <a:t>Subordinates in your department</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solidFill>
                  <a:schemeClr val="dk1"/>
                </a:solidFill>
                <a:latin typeface="Times New Roman"/>
                <a:ea typeface="Times New Roman"/>
                <a:cs typeface="Times New Roman"/>
                <a:sym typeface="Times New Roman"/>
              </a:rPr>
              <a:t>Employees and other departments or branches</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solidFill>
                  <a:schemeClr val="dk1"/>
                </a:solidFill>
                <a:latin typeface="Times New Roman"/>
                <a:ea typeface="Times New Roman"/>
                <a:cs typeface="Times New Roman"/>
                <a:sym typeface="Times New Roman"/>
              </a:rPr>
              <a:t>Clients</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solidFill>
                  <a:schemeClr val="dk1"/>
                </a:solidFill>
                <a:latin typeface="Times New Roman"/>
                <a:ea typeface="Times New Roman"/>
                <a:cs typeface="Times New Roman"/>
                <a:sym typeface="Times New Roman"/>
              </a:rPr>
              <a:t>Subcontractors and vendors</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solidFill>
                  <a:schemeClr val="dk1"/>
                </a:solidFill>
                <a:latin typeface="Times New Roman"/>
                <a:ea typeface="Times New Roman"/>
                <a:cs typeface="Times New Roman"/>
                <a:sym typeface="Times New Roman"/>
              </a:rPr>
              <a:t>Professors/ Members of selection committees</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solidFill>
                  <a:schemeClr val="dk1"/>
                </a:solidFill>
                <a:latin typeface="Times New Roman"/>
                <a:ea typeface="Times New Roman"/>
                <a:cs typeface="Times New Roman"/>
                <a:sym typeface="Times New Roman"/>
              </a:rPr>
              <a:t>HR Manager</a:t>
            </a:r>
            <a:endParaRPr/>
          </a:p>
        </p:txBody>
      </p:sp>
      <p:sp>
        <p:nvSpPr>
          <p:cNvPr id="255" name="Google Shape;255;p13"/>
          <p:cNvSpPr txBox="1"/>
          <p:nvPr/>
        </p:nvSpPr>
        <p:spPr>
          <a:xfrm>
            <a:off x="271959" y="821598"/>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3200"/>
              <a:buFont typeface="Times New Roman"/>
              <a:buNone/>
            </a:pPr>
            <a:r>
              <a:t/>
            </a:r>
            <a:endParaRPr b="1" sz="3200">
              <a:solidFill>
                <a:schemeClr val="dk1"/>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3200"/>
              <a:buFont typeface="Times New Roman"/>
              <a:buNone/>
            </a:pPr>
            <a:r>
              <a:rPr b="1" lang="en-US" sz="3200">
                <a:solidFill>
                  <a:schemeClr val="dk1"/>
                </a:solidFill>
                <a:latin typeface="Times New Roman"/>
                <a:ea typeface="Times New Roman"/>
                <a:cs typeface="Times New Roman"/>
                <a:sym typeface="Times New Roman"/>
              </a:rPr>
              <a:t>Q2. Who will read what I have written?</a:t>
            </a:r>
            <a:endParaRPr/>
          </a:p>
        </p:txBody>
      </p:sp>
      <p:pic>
        <p:nvPicPr>
          <p:cNvPr descr="Technical Writing - Expert Support | Pro Tech Writers" id="256" name="Google Shape;256;p13"/>
          <p:cNvPicPr preferRelativeResize="0"/>
          <p:nvPr/>
        </p:nvPicPr>
        <p:blipFill rotWithShape="1">
          <a:blip r:embed="rId3">
            <a:alphaModFix/>
          </a:blip>
          <a:srcRect b="0" l="0" r="0" t="0"/>
          <a:stretch/>
        </p:blipFill>
        <p:spPr>
          <a:xfrm>
            <a:off x="8374174" y="3089031"/>
            <a:ext cx="3768969" cy="376896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4"/>
          <p:cNvSpPr txBox="1"/>
          <p:nvPr>
            <p:ph type="title"/>
          </p:nvPr>
        </p:nvSpPr>
        <p:spPr>
          <a:xfrm>
            <a:off x="846183" y="256902"/>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F5496"/>
              </a:buClr>
              <a:buSzPts val="4400"/>
              <a:buFont typeface="Times New Roman"/>
              <a:buNone/>
            </a:pPr>
            <a:r>
              <a:rPr b="1" lang="en-US">
                <a:solidFill>
                  <a:srgbClr val="2F5496"/>
                </a:solidFill>
              </a:rPr>
              <a:t>Tone</a:t>
            </a:r>
            <a:r>
              <a:rPr lang="en-US">
                <a:solidFill>
                  <a:schemeClr val="dk1"/>
                </a:solidFill>
              </a:rPr>
              <a:t> in Technical Writing</a:t>
            </a:r>
            <a:endParaRPr/>
          </a:p>
        </p:txBody>
      </p:sp>
      <p:sp>
        <p:nvSpPr>
          <p:cNvPr id="262" name="Google Shape;262;p14"/>
          <p:cNvSpPr txBox="1"/>
          <p:nvPr>
            <p:ph idx="1" type="body"/>
          </p:nvPr>
        </p:nvSpPr>
        <p:spPr>
          <a:xfrm>
            <a:off x="434703" y="1405881"/>
            <a:ext cx="11338560" cy="547624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US">
                <a:solidFill>
                  <a:schemeClr val="dk1"/>
                </a:solidFill>
                <a:latin typeface="Times New Roman"/>
                <a:ea typeface="Times New Roman"/>
                <a:cs typeface="Times New Roman"/>
                <a:sym typeface="Times New Roman"/>
              </a:rPr>
              <a:t>Tone refers to the writer’s attitude/ emotional character towards the reader and the subject of the message.</a:t>
            </a:r>
            <a:endParaRPr/>
          </a:p>
        </p:txBody>
      </p:sp>
      <p:sp>
        <p:nvSpPr>
          <p:cNvPr id="263" name="Google Shape;263;p14"/>
          <p:cNvSpPr txBox="1"/>
          <p:nvPr/>
        </p:nvSpPr>
        <p:spPr>
          <a:xfrm>
            <a:off x="1086394" y="1405731"/>
            <a:ext cx="11105606"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3200"/>
              <a:buFont typeface="Arial"/>
              <a:buNone/>
            </a:pPr>
            <a:r>
              <a:rPr lang="en-US" sz="3200">
                <a:solidFill>
                  <a:schemeClr val="lt1"/>
                </a:solidFill>
                <a:latin typeface="Arial"/>
                <a:ea typeface="Arial"/>
                <a:cs typeface="Arial"/>
                <a:sym typeface="Arial"/>
              </a:rPr>
              <a:t>Q3. Is your tone appropriate to your purpose and your intended</a:t>
            </a:r>
            <a:endParaRPr/>
          </a:p>
        </p:txBody>
      </p:sp>
      <p:graphicFrame>
        <p:nvGraphicFramePr>
          <p:cNvPr id="264" name="Google Shape;264;p14"/>
          <p:cNvGraphicFramePr/>
          <p:nvPr/>
        </p:nvGraphicFramePr>
        <p:xfrm>
          <a:off x="616597" y="2407213"/>
          <a:ext cx="3000000" cy="3000000"/>
        </p:xfrm>
        <a:graphic>
          <a:graphicData uri="http://schemas.openxmlformats.org/drawingml/2006/table">
            <a:tbl>
              <a:tblPr bandRow="1" firstRow="1">
                <a:noFill/>
                <a:tableStyleId>{6A7666D9-8917-424A-8A12-2AAD64C3940E}</a:tableStyleId>
              </a:tblPr>
              <a:tblGrid>
                <a:gridCol w="2978225"/>
                <a:gridCol w="5256275"/>
              </a:tblGrid>
              <a:tr h="503300">
                <a:tc>
                  <a:txBody>
                    <a:bodyPr/>
                    <a:lstStyle/>
                    <a:p>
                      <a:pPr indent="0" lvl="0" marL="0" marR="0" rtl="0" algn="l">
                        <a:spcBef>
                          <a:spcPts val="0"/>
                        </a:spcBef>
                        <a:spcAft>
                          <a:spcPts val="0"/>
                        </a:spcAft>
                        <a:buNone/>
                      </a:pPr>
                      <a:r>
                        <a:rPr lang="en-US" sz="2800">
                          <a:latin typeface="Times New Roman"/>
                          <a:ea typeface="Times New Roman"/>
                          <a:cs typeface="Times New Roman"/>
                          <a:sym typeface="Times New Roman"/>
                        </a:rPr>
                        <a:t>Factual</a:t>
                      </a:r>
                      <a:endParaRPr/>
                    </a:p>
                  </a:txBody>
                  <a:tcPr marT="45725" marB="45725" marR="91450" marL="91450"/>
                </a:tc>
                <a:tc>
                  <a:txBody>
                    <a:bodyPr/>
                    <a:lstStyle/>
                    <a:p>
                      <a:pPr indent="0" lvl="0" marL="0" marR="0" rtl="0" algn="l">
                        <a:spcBef>
                          <a:spcPts val="0"/>
                        </a:spcBef>
                        <a:spcAft>
                          <a:spcPts val="0"/>
                        </a:spcAft>
                        <a:buNone/>
                      </a:pPr>
                      <a:r>
                        <a:rPr lang="en-US" sz="2800">
                          <a:latin typeface="Times New Roman"/>
                          <a:ea typeface="Times New Roman"/>
                          <a:cs typeface="Times New Roman"/>
                          <a:sym typeface="Times New Roman"/>
                        </a:rPr>
                        <a:t>Usually serious to a lighter tone</a:t>
                      </a:r>
                      <a:endParaRPr/>
                    </a:p>
                  </a:txBody>
                  <a:tcPr marT="45725" marB="45725" marR="91450" marL="91450"/>
                </a:tc>
              </a:tr>
              <a:tr h="503300">
                <a:tc>
                  <a:txBody>
                    <a:bodyPr/>
                    <a:lstStyle/>
                    <a:p>
                      <a:pPr indent="0" lvl="0" marL="0" marR="0" rtl="0" algn="l">
                        <a:spcBef>
                          <a:spcPts val="0"/>
                        </a:spcBef>
                        <a:spcAft>
                          <a:spcPts val="0"/>
                        </a:spcAft>
                        <a:buNone/>
                      </a:pPr>
                      <a:r>
                        <a:rPr lang="en-US" sz="2800">
                          <a:latin typeface="Times New Roman"/>
                          <a:ea typeface="Times New Roman"/>
                          <a:cs typeface="Times New Roman"/>
                          <a:sym typeface="Times New Roman"/>
                        </a:rPr>
                        <a:t>Neutral</a:t>
                      </a:r>
                      <a:endParaRPr/>
                    </a:p>
                  </a:txBody>
                  <a:tcPr marT="45725" marB="45725" marR="91450" marL="91450"/>
                </a:tc>
                <a:tc>
                  <a:txBody>
                    <a:bodyPr/>
                    <a:lstStyle/>
                    <a:p>
                      <a:pPr indent="0" lvl="0" marL="0" marR="0" rtl="0" algn="l">
                        <a:spcBef>
                          <a:spcPts val="0"/>
                        </a:spcBef>
                        <a:spcAft>
                          <a:spcPts val="0"/>
                        </a:spcAft>
                        <a:buNone/>
                      </a:pPr>
                      <a:r>
                        <a:rPr lang="en-US" sz="2800">
                          <a:latin typeface="Times New Roman"/>
                          <a:ea typeface="Times New Roman"/>
                          <a:cs typeface="Times New Roman"/>
                          <a:sym typeface="Times New Roman"/>
                        </a:rPr>
                        <a:t>Appropriate to the target audience</a:t>
                      </a:r>
                      <a:endParaRPr/>
                    </a:p>
                  </a:txBody>
                  <a:tcPr marT="45725" marB="45725" marR="91450" marL="91450"/>
                </a:tc>
              </a:tr>
              <a:tr h="547225">
                <a:tc>
                  <a:txBody>
                    <a:bodyPr/>
                    <a:lstStyle/>
                    <a:p>
                      <a:pPr indent="0" lvl="0" marL="0" marR="0" rtl="0" algn="l">
                        <a:spcBef>
                          <a:spcPts val="0"/>
                        </a:spcBef>
                        <a:spcAft>
                          <a:spcPts val="0"/>
                        </a:spcAft>
                        <a:buNone/>
                      </a:pPr>
                      <a:r>
                        <a:rPr lang="en-US" sz="2800">
                          <a:latin typeface="Times New Roman"/>
                          <a:ea typeface="Times New Roman"/>
                          <a:cs typeface="Times New Roman"/>
                          <a:sym typeface="Times New Roman"/>
                        </a:rPr>
                        <a:t>Sincere</a:t>
                      </a:r>
                      <a:endParaRPr/>
                    </a:p>
                  </a:txBody>
                  <a:tcPr marT="45725" marB="45725" marR="91450" marL="91450"/>
                </a:tc>
                <a:tc>
                  <a:txBody>
                    <a:bodyPr/>
                    <a:lstStyle/>
                    <a:p>
                      <a:pPr indent="0" lvl="0" marL="0" marR="0" rtl="0" algn="l">
                        <a:spcBef>
                          <a:spcPts val="0"/>
                        </a:spcBef>
                        <a:spcAft>
                          <a:spcPts val="0"/>
                        </a:spcAft>
                        <a:buNone/>
                      </a:pPr>
                      <a:r>
                        <a:rPr lang="en-US" sz="2800">
                          <a:latin typeface="Times New Roman"/>
                          <a:ea typeface="Times New Roman"/>
                          <a:cs typeface="Times New Roman"/>
                          <a:sym typeface="Times New Roman"/>
                        </a:rPr>
                        <a:t>Avoids a strong emotion</a:t>
                      </a:r>
                      <a:endParaRPr/>
                    </a:p>
                  </a:txBody>
                  <a:tcPr marT="45725" marB="45725" marR="91450" marL="91450"/>
                </a:tc>
              </a:tr>
              <a:tr h="917775">
                <a:tc>
                  <a:txBody>
                    <a:bodyPr/>
                    <a:lstStyle/>
                    <a:p>
                      <a:pPr indent="0" lvl="0" marL="0" marR="0" rtl="0" algn="l">
                        <a:spcBef>
                          <a:spcPts val="0"/>
                        </a:spcBef>
                        <a:spcAft>
                          <a:spcPts val="0"/>
                        </a:spcAft>
                        <a:buNone/>
                      </a:pPr>
                      <a:r>
                        <a:rPr lang="en-US" sz="2800">
                          <a:latin typeface="Times New Roman"/>
                          <a:ea typeface="Times New Roman"/>
                          <a:cs typeface="Times New Roman"/>
                          <a:sym typeface="Times New Roman"/>
                        </a:rPr>
                        <a:t>Non-discriminative</a:t>
                      </a:r>
                      <a:endParaRPr/>
                    </a:p>
                  </a:txBody>
                  <a:tcPr marT="45725" marB="45725" marR="91450" marL="91450"/>
                </a:tc>
                <a:tc>
                  <a:txBody>
                    <a:bodyPr/>
                    <a:lstStyle/>
                    <a:p>
                      <a:pPr indent="0" lvl="0" marL="0" marR="0" rtl="0" algn="l">
                        <a:spcBef>
                          <a:spcPts val="0"/>
                        </a:spcBef>
                        <a:spcAft>
                          <a:spcPts val="0"/>
                        </a:spcAft>
                        <a:buNone/>
                      </a:pPr>
                      <a:r>
                        <a:rPr lang="en-US" sz="2800">
                          <a:latin typeface="Times New Roman"/>
                          <a:ea typeface="Times New Roman"/>
                          <a:cs typeface="Times New Roman"/>
                          <a:sym typeface="Times New Roman"/>
                        </a:rPr>
                        <a:t>Flat/</a:t>
                      </a:r>
                      <a:r>
                        <a:rPr lang="en-US" sz="2800">
                          <a:latin typeface="Times New Roman"/>
                          <a:ea typeface="Times New Roman"/>
                          <a:cs typeface="Times New Roman"/>
                          <a:sym typeface="Times New Roman"/>
                        </a:rPr>
                        <a:t> Even</a:t>
                      </a:r>
                      <a:endParaRPr sz="2800">
                        <a:latin typeface="Times New Roman"/>
                        <a:ea typeface="Times New Roman"/>
                        <a:cs typeface="Times New Roman"/>
                        <a:sym typeface="Times New Roman"/>
                      </a:endParaRPr>
                    </a:p>
                  </a:txBody>
                  <a:tcPr marT="45725" marB="45725" marR="91450" marL="91450"/>
                </a:tc>
              </a:tr>
            </a:tbl>
          </a:graphicData>
        </a:graphic>
      </p:graphicFrame>
      <p:pic>
        <p:nvPicPr>
          <p:cNvPr descr="What Is A Technical Writer And How Can You Become One?, 52% OFF" id="265" name="Google Shape;265;p14"/>
          <p:cNvPicPr preferRelativeResize="0"/>
          <p:nvPr/>
        </p:nvPicPr>
        <p:blipFill rotWithShape="1">
          <a:blip r:embed="rId3">
            <a:alphaModFix/>
          </a:blip>
          <a:srcRect b="0" l="0" r="0" t="0"/>
          <a:stretch/>
        </p:blipFill>
        <p:spPr>
          <a:xfrm>
            <a:off x="9033004" y="3835506"/>
            <a:ext cx="2801815" cy="27924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5"/>
          <p:cNvSpPr txBox="1"/>
          <p:nvPr>
            <p:ph type="title"/>
          </p:nvPr>
        </p:nvSpPr>
        <p:spPr>
          <a:xfrm>
            <a:off x="838200" y="287852"/>
            <a:ext cx="10515600" cy="70843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2060"/>
              </a:buClr>
              <a:buSzPts val="4400"/>
              <a:buFont typeface="Times New Roman"/>
              <a:buNone/>
            </a:pPr>
            <a:r>
              <a:rPr b="1" lang="en-US">
                <a:solidFill>
                  <a:srgbClr val="002060"/>
                </a:solidFill>
              </a:rPr>
              <a:t>Tone</a:t>
            </a:r>
            <a:r>
              <a:rPr lang="en-US"/>
              <a:t> in Technical Writing</a:t>
            </a:r>
            <a:endParaRPr/>
          </a:p>
        </p:txBody>
      </p:sp>
      <p:sp>
        <p:nvSpPr>
          <p:cNvPr id="271" name="Google Shape;271;p15"/>
          <p:cNvSpPr txBox="1"/>
          <p:nvPr>
            <p:ph idx="1" type="body"/>
          </p:nvPr>
        </p:nvSpPr>
        <p:spPr>
          <a:xfrm>
            <a:off x="838200" y="1231277"/>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solidFill>
                  <a:schemeClr val="dk1"/>
                </a:solidFill>
                <a:latin typeface="Times New Roman"/>
                <a:ea typeface="Times New Roman"/>
                <a:cs typeface="Times New Roman"/>
                <a:sym typeface="Times New Roman"/>
              </a:rPr>
              <a:t>Polite tone (especially those who outrank you)</a:t>
            </a:r>
            <a:endParaRPr/>
          </a:p>
          <a:p>
            <a:pPr indent="-228600" lvl="0" marL="228600" rtl="0" algn="l">
              <a:lnSpc>
                <a:spcPct val="90000"/>
              </a:lnSpc>
              <a:spcBef>
                <a:spcPts val="1000"/>
              </a:spcBef>
              <a:spcAft>
                <a:spcPts val="0"/>
              </a:spcAft>
              <a:buClr>
                <a:schemeClr val="dk1"/>
              </a:buClr>
              <a:buSzPts val="2800"/>
              <a:buChar char="•"/>
            </a:pPr>
            <a:r>
              <a:rPr lang="en-US">
                <a:solidFill>
                  <a:schemeClr val="dk1"/>
                </a:solidFill>
                <a:latin typeface="Times New Roman"/>
                <a:ea typeface="Times New Roman"/>
                <a:cs typeface="Times New Roman"/>
                <a:sym typeface="Times New Roman"/>
              </a:rPr>
              <a:t>Don’t sound too tough or demanding about potentially sensitive issues.</a:t>
            </a:r>
            <a:endParaRPr/>
          </a:p>
          <a:p>
            <a:pPr indent="-228600" lvl="0" marL="228600" rtl="0" algn="l">
              <a:lnSpc>
                <a:spcPct val="90000"/>
              </a:lnSpc>
              <a:spcBef>
                <a:spcPts val="1000"/>
              </a:spcBef>
              <a:spcAft>
                <a:spcPts val="0"/>
              </a:spcAft>
              <a:buClr>
                <a:schemeClr val="dk1"/>
              </a:buClr>
              <a:buSzPts val="2800"/>
              <a:buChar char="•"/>
            </a:pPr>
            <a:r>
              <a:rPr lang="en-US">
                <a:solidFill>
                  <a:schemeClr val="dk1"/>
                </a:solidFill>
                <a:latin typeface="Times New Roman"/>
                <a:ea typeface="Times New Roman"/>
                <a:cs typeface="Times New Roman"/>
                <a:sym typeface="Times New Roman"/>
              </a:rPr>
              <a:t>Phrase your sentences in a nonthreatening way</a:t>
            </a:r>
            <a:endParaRPr/>
          </a:p>
          <a:p>
            <a:pPr indent="-228600" lvl="0" marL="228600" rtl="0" algn="l">
              <a:lnSpc>
                <a:spcPct val="90000"/>
              </a:lnSpc>
              <a:spcBef>
                <a:spcPts val="1000"/>
              </a:spcBef>
              <a:spcAft>
                <a:spcPts val="0"/>
              </a:spcAft>
              <a:buClr>
                <a:schemeClr val="dk1"/>
              </a:buClr>
              <a:buSzPts val="2800"/>
              <a:buChar char="•"/>
            </a:pPr>
            <a:r>
              <a:rPr lang="en-US">
                <a:solidFill>
                  <a:schemeClr val="dk1"/>
                </a:solidFill>
                <a:latin typeface="Times New Roman"/>
                <a:ea typeface="Times New Roman"/>
                <a:cs typeface="Times New Roman"/>
                <a:sym typeface="Times New Roman"/>
              </a:rPr>
              <a:t>Emphasize the reader’s viewpoint – the </a:t>
            </a:r>
            <a:r>
              <a:rPr b="1" lang="en-US">
                <a:solidFill>
                  <a:srgbClr val="2F5496"/>
                </a:solidFill>
                <a:highlight>
                  <a:srgbClr val="FFFF00"/>
                </a:highlight>
                <a:latin typeface="Times New Roman"/>
                <a:ea typeface="Times New Roman"/>
                <a:cs typeface="Times New Roman"/>
                <a:sym typeface="Times New Roman"/>
              </a:rPr>
              <a:t>“you” approach</a:t>
            </a:r>
            <a:endParaRPr/>
          </a:p>
        </p:txBody>
      </p:sp>
      <p:graphicFrame>
        <p:nvGraphicFramePr>
          <p:cNvPr id="272" name="Google Shape;272;p15"/>
          <p:cNvGraphicFramePr/>
          <p:nvPr/>
        </p:nvGraphicFramePr>
        <p:xfrm>
          <a:off x="838200" y="3406946"/>
          <a:ext cx="3000000" cy="3000000"/>
        </p:xfrm>
        <a:graphic>
          <a:graphicData uri="http://schemas.openxmlformats.org/drawingml/2006/table">
            <a:tbl>
              <a:tblPr bandRow="1" firstRow="1">
                <a:noFill/>
                <a:tableStyleId>{6A7666D9-8917-424A-8A12-2AAD64C3940E}</a:tableStyleId>
              </a:tblPr>
              <a:tblGrid>
                <a:gridCol w="5302150"/>
                <a:gridCol w="5374450"/>
              </a:tblGrid>
              <a:tr h="474375">
                <a:tc>
                  <a:txBody>
                    <a:bodyPr/>
                    <a:lstStyle/>
                    <a:p>
                      <a:pPr indent="0" lvl="0" marL="0" marR="0" rtl="0" algn="ctr">
                        <a:spcBef>
                          <a:spcPts val="0"/>
                        </a:spcBef>
                        <a:spcAft>
                          <a:spcPts val="0"/>
                        </a:spcAft>
                        <a:buNone/>
                      </a:pPr>
                      <a:r>
                        <a:rPr b="1" lang="en-US" sz="2800">
                          <a:latin typeface="Times New Roman"/>
                          <a:ea typeface="Times New Roman"/>
                          <a:cs typeface="Times New Roman"/>
                          <a:sym typeface="Times New Roman"/>
                        </a:rPr>
                        <a:t>Writer-centered Perspective</a:t>
                      </a:r>
                      <a:endParaRPr/>
                    </a:p>
                  </a:txBody>
                  <a:tcPr marT="45725" marB="45725" marR="91450" marL="91450"/>
                </a:tc>
                <a:tc>
                  <a:txBody>
                    <a:bodyPr/>
                    <a:lstStyle/>
                    <a:p>
                      <a:pPr indent="0" lvl="0" marL="0" marR="0" rtl="0" algn="ctr">
                        <a:spcBef>
                          <a:spcPts val="0"/>
                        </a:spcBef>
                        <a:spcAft>
                          <a:spcPts val="0"/>
                        </a:spcAft>
                        <a:buNone/>
                      </a:pPr>
                      <a:r>
                        <a:rPr b="1" lang="en-US" sz="2800">
                          <a:latin typeface="Times New Roman"/>
                          <a:ea typeface="Times New Roman"/>
                          <a:cs typeface="Times New Roman"/>
                          <a:sym typeface="Times New Roman"/>
                        </a:rPr>
                        <a:t>Reader-centered</a:t>
                      </a:r>
                      <a:r>
                        <a:rPr b="1" lang="en-US" sz="2800">
                          <a:latin typeface="Times New Roman"/>
                          <a:ea typeface="Times New Roman"/>
                          <a:cs typeface="Times New Roman"/>
                          <a:sym typeface="Times New Roman"/>
                        </a:rPr>
                        <a:t> Perspective</a:t>
                      </a:r>
                      <a:endParaRPr b="1" sz="2800">
                        <a:latin typeface="Times New Roman"/>
                        <a:ea typeface="Times New Roman"/>
                        <a:cs typeface="Times New Roman"/>
                        <a:sym typeface="Times New Roman"/>
                      </a:endParaRPr>
                    </a:p>
                  </a:txBody>
                  <a:tcPr marT="45725" marB="45725" marR="91450" marL="91450"/>
                </a:tc>
              </a:tr>
              <a:tr h="2371850">
                <a:tc>
                  <a:txBody>
                    <a:bodyPr/>
                    <a:lstStyle/>
                    <a:p>
                      <a:pPr indent="0" lvl="0" marL="0" marR="0" rtl="0" algn="l">
                        <a:spcBef>
                          <a:spcPts val="0"/>
                        </a:spcBef>
                        <a:spcAft>
                          <a:spcPts val="0"/>
                        </a:spcAft>
                        <a:buNone/>
                      </a:pPr>
                      <a:r>
                        <a:rPr lang="en-US" sz="2800">
                          <a:latin typeface="Times New Roman"/>
                          <a:ea typeface="Times New Roman"/>
                          <a:cs typeface="Times New Roman"/>
                          <a:sym typeface="Times New Roman"/>
                        </a:rPr>
                        <a:t>If </a:t>
                      </a:r>
                      <a:r>
                        <a:rPr b="1" lang="en-US" sz="2800">
                          <a:solidFill>
                            <a:srgbClr val="FF0000"/>
                          </a:solidFill>
                          <a:latin typeface="Times New Roman"/>
                          <a:ea typeface="Times New Roman"/>
                          <a:cs typeface="Times New Roman"/>
                          <a:sym typeface="Times New Roman"/>
                        </a:rPr>
                        <a:t>I</a:t>
                      </a:r>
                      <a:r>
                        <a:rPr lang="en-US" sz="2800">
                          <a:latin typeface="Times New Roman"/>
                          <a:ea typeface="Times New Roman"/>
                          <a:cs typeface="Times New Roman"/>
                          <a:sym typeface="Times New Roman"/>
                        </a:rPr>
                        <a:t> can answer any questions, I’ll be happy to do so.</a:t>
                      </a:r>
                      <a:endParaRPr/>
                    </a:p>
                    <a:p>
                      <a:pPr indent="0" lvl="0" marL="0" marR="0" rtl="0" algn="l">
                        <a:spcBef>
                          <a:spcPts val="0"/>
                        </a:spcBef>
                        <a:spcAft>
                          <a:spcPts val="0"/>
                        </a:spcAft>
                        <a:buNone/>
                      </a:pPr>
                      <a:r>
                        <a:rPr b="1" lang="en-US" sz="2800">
                          <a:solidFill>
                            <a:srgbClr val="FF0000"/>
                          </a:solidFill>
                          <a:latin typeface="Times New Roman"/>
                          <a:ea typeface="Times New Roman"/>
                          <a:cs typeface="Times New Roman"/>
                          <a:sym typeface="Times New Roman"/>
                        </a:rPr>
                        <a:t>We</a:t>
                      </a:r>
                      <a:r>
                        <a:rPr lang="en-US" sz="2800">
                          <a:latin typeface="Times New Roman"/>
                          <a:ea typeface="Times New Roman"/>
                          <a:cs typeface="Times New Roman"/>
                          <a:sym typeface="Times New Roman"/>
                        </a:rPr>
                        <a:t> shipped the order this morning</a:t>
                      </a:r>
                      <a:endParaRPr/>
                    </a:p>
                    <a:p>
                      <a:pPr indent="0" lvl="0" marL="0" marR="0" rtl="0" algn="l">
                        <a:spcBef>
                          <a:spcPts val="0"/>
                        </a:spcBef>
                        <a:spcAft>
                          <a:spcPts val="0"/>
                        </a:spcAft>
                        <a:buNone/>
                      </a:pPr>
                      <a:r>
                        <a:rPr b="1" lang="en-US" sz="2800">
                          <a:solidFill>
                            <a:srgbClr val="FF0000"/>
                          </a:solidFill>
                          <a:latin typeface="Times New Roman"/>
                          <a:ea typeface="Times New Roman"/>
                          <a:cs typeface="Times New Roman"/>
                          <a:sym typeface="Times New Roman"/>
                        </a:rPr>
                        <a:t>I’m</a:t>
                      </a:r>
                      <a:r>
                        <a:rPr lang="en-US" sz="2800">
                          <a:latin typeface="Times New Roman"/>
                          <a:ea typeface="Times New Roman"/>
                          <a:cs typeface="Times New Roman"/>
                          <a:sym typeface="Times New Roman"/>
                        </a:rPr>
                        <a:t> happy to report that . . . </a:t>
                      </a:r>
                      <a:endParaRPr sz="28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2800">
                          <a:latin typeface="Times New Roman"/>
                          <a:ea typeface="Times New Roman"/>
                          <a:cs typeface="Times New Roman"/>
                          <a:sym typeface="Times New Roman"/>
                        </a:rPr>
                        <a:t>If </a:t>
                      </a:r>
                      <a:r>
                        <a:rPr b="1" lang="en-US" sz="2800">
                          <a:solidFill>
                            <a:srgbClr val="FF0000"/>
                          </a:solidFill>
                          <a:latin typeface="Times New Roman"/>
                          <a:ea typeface="Times New Roman"/>
                          <a:cs typeface="Times New Roman"/>
                          <a:sym typeface="Times New Roman"/>
                        </a:rPr>
                        <a:t>you</a:t>
                      </a:r>
                      <a:r>
                        <a:rPr lang="en-US" sz="2800">
                          <a:latin typeface="Times New Roman"/>
                          <a:ea typeface="Times New Roman"/>
                          <a:cs typeface="Times New Roman"/>
                          <a:sym typeface="Times New Roman"/>
                        </a:rPr>
                        <a:t> have any questions, please</a:t>
                      </a:r>
                      <a:r>
                        <a:rPr lang="en-US" sz="2800">
                          <a:latin typeface="Times New Roman"/>
                          <a:ea typeface="Times New Roman"/>
                          <a:cs typeface="Times New Roman"/>
                          <a:sym typeface="Times New Roman"/>
                        </a:rPr>
                        <a:t> ask.</a:t>
                      </a:r>
                      <a:endParaRPr/>
                    </a:p>
                    <a:p>
                      <a:pPr indent="0" lvl="0" marL="0" marR="0" rtl="0" algn="l">
                        <a:spcBef>
                          <a:spcPts val="0"/>
                        </a:spcBef>
                        <a:spcAft>
                          <a:spcPts val="0"/>
                        </a:spcAft>
                        <a:buNone/>
                      </a:pPr>
                      <a:r>
                        <a:rPr b="1" lang="en-US" sz="2800">
                          <a:solidFill>
                            <a:srgbClr val="FF0000"/>
                          </a:solidFill>
                          <a:latin typeface="Times New Roman"/>
                          <a:ea typeface="Times New Roman"/>
                          <a:cs typeface="Times New Roman"/>
                          <a:sym typeface="Times New Roman"/>
                        </a:rPr>
                        <a:t>Your</a:t>
                      </a:r>
                      <a:r>
                        <a:rPr lang="en-US" sz="2800">
                          <a:latin typeface="Times New Roman"/>
                          <a:ea typeface="Times New Roman"/>
                          <a:cs typeface="Times New Roman"/>
                          <a:sym typeface="Times New Roman"/>
                        </a:rPr>
                        <a:t> order was shipped this morning.</a:t>
                      </a:r>
                      <a:endParaRPr/>
                    </a:p>
                    <a:p>
                      <a:pPr indent="0" lvl="0" marL="0" marR="0" rtl="0" algn="l">
                        <a:spcBef>
                          <a:spcPts val="0"/>
                        </a:spcBef>
                        <a:spcAft>
                          <a:spcPts val="0"/>
                        </a:spcAft>
                        <a:buNone/>
                      </a:pPr>
                      <a:r>
                        <a:rPr b="1" lang="en-US" sz="2800">
                          <a:solidFill>
                            <a:srgbClr val="FF0000"/>
                          </a:solidFill>
                          <a:latin typeface="Times New Roman"/>
                          <a:ea typeface="Times New Roman"/>
                          <a:cs typeface="Times New Roman"/>
                          <a:sym typeface="Times New Roman"/>
                        </a:rPr>
                        <a:t>You’</a:t>
                      </a:r>
                      <a:r>
                        <a:rPr lang="en-US" sz="2800">
                          <a:latin typeface="Times New Roman"/>
                          <a:ea typeface="Times New Roman"/>
                          <a:cs typeface="Times New Roman"/>
                          <a:sym typeface="Times New Roman"/>
                        </a:rPr>
                        <a:t>ll be glad to know that . . . </a:t>
                      </a:r>
                      <a:endParaRPr/>
                    </a:p>
                  </a:txBody>
                  <a:tcPr marT="45725" marB="45725" marR="91450" marL="91450"/>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graphicFrame>
        <p:nvGraphicFramePr>
          <p:cNvPr id="277" name="Google Shape;277;p16"/>
          <p:cNvGraphicFramePr/>
          <p:nvPr/>
        </p:nvGraphicFramePr>
        <p:xfrm>
          <a:off x="1032930" y="719666"/>
          <a:ext cx="3000000" cy="3000000"/>
        </p:xfrm>
        <a:graphic>
          <a:graphicData uri="http://schemas.openxmlformats.org/drawingml/2006/table">
            <a:tbl>
              <a:tblPr bandRow="1" firstRow="1">
                <a:noFill/>
                <a:tableStyleId>{6A7666D9-8917-424A-8A12-2AAD64C3940E}</a:tableStyleId>
              </a:tblPr>
              <a:tblGrid>
                <a:gridCol w="5249325"/>
                <a:gridCol w="5249325"/>
              </a:tblGrid>
              <a:tr h="524325">
                <a:tc>
                  <a:txBody>
                    <a:bodyPr/>
                    <a:lstStyle/>
                    <a:p>
                      <a:pPr indent="0" lvl="0" marL="0" marR="0" rtl="0" algn="ctr">
                        <a:spcBef>
                          <a:spcPts val="0"/>
                        </a:spcBef>
                        <a:spcAft>
                          <a:spcPts val="0"/>
                        </a:spcAft>
                        <a:buNone/>
                      </a:pPr>
                      <a:r>
                        <a:rPr b="1" lang="en-US" sz="2400"/>
                        <a:t>Negative Wording</a:t>
                      </a:r>
                      <a:endParaRPr/>
                    </a:p>
                  </a:txBody>
                  <a:tcPr marT="45725" marB="45725" marR="91450" marL="91450"/>
                </a:tc>
                <a:tc>
                  <a:txBody>
                    <a:bodyPr/>
                    <a:lstStyle/>
                    <a:p>
                      <a:pPr indent="0" lvl="0" marL="0" marR="0" rtl="0" algn="ctr">
                        <a:spcBef>
                          <a:spcPts val="0"/>
                        </a:spcBef>
                        <a:spcAft>
                          <a:spcPts val="0"/>
                        </a:spcAft>
                        <a:buNone/>
                      </a:pPr>
                      <a:r>
                        <a:rPr b="1" lang="en-US" sz="2400"/>
                        <a:t>Positive Wording</a:t>
                      </a:r>
                      <a:endParaRPr/>
                    </a:p>
                  </a:txBody>
                  <a:tcPr marT="45725" marB="45725" marR="91450" marL="91450"/>
                </a:tc>
              </a:tr>
              <a:tr h="4718925">
                <a:tc>
                  <a:txBody>
                    <a:bodyPr/>
                    <a:lstStyle/>
                    <a:p>
                      <a:pPr indent="-342900" lvl="0" marL="342900" marR="0" rtl="0" algn="l">
                        <a:spcBef>
                          <a:spcPts val="0"/>
                        </a:spcBef>
                        <a:spcAft>
                          <a:spcPts val="0"/>
                        </a:spcAft>
                        <a:buClr>
                          <a:schemeClr val="dk1"/>
                        </a:buClr>
                        <a:buSzPts val="2400"/>
                        <a:buFont typeface="Arial"/>
                        <a:buChar char="•"/>
                      </a:pPr>
                      <a:r>
                        <a:rPr lang="en-US" sz="2400"/>
                        <a:t>We cannot process your claim because the necessary forms have not been completed.</a:t>
                      </a:r>
                      <a:endParaRPr/>
                    </a:p>
                    <a:p>
                      <a:pPr indent="-190500" lvl="0" marL="342900" marR="0" rtl="0" algn="l">
                        <a:spcBef>
                          <a:spcPts val="0"/>
                        </a:spcBef>
                        <a:spcAft>
                          <a:spcPts val="0"/>
                        </a:spcAft>
                        <a:buClr>
                          <a:schemeClr val="dk1"/>
                        </a:buClr>
                        <a:buSzPts val="2400"/>
                        <a:buFont typeface="Arial"/>
                        <a:buNone/>
                      </a:pPr>
                      <a:r>
                        <a:t/>
                      </a:r>
                      <a:endParaRPr sz="2400"/>
                    </a:p>
                    <a:p>
                      <a:pPr indent="-342900" lvl="0" marL="342900" marR="0" rtl="0" algn="l">
                        <a:spcBef>
                          <a:spcPts val="0"/>
                        </a:spcBef>
                        <a:spcAft>
                          <a:spcPts val="0"/>
                        </a:spcAft>
                        <a:buClr>
                          <a:schemeClr val="dk1"/>
                        </a:buClr>
                        <a:buSzPts val="2400"/>
                        <a:buFont typeface="Arial"/>
                        <a:buChar char="•"/>
                      </a:pPr>
                      <a:r>
                        <a:rPr lang="en-US" sz="2400"/>
                        <a:t>We do not take phone calls after 3:00 PM on Fridays.</a:t>
                      </a:r>
                      <a:endParaRPr/>
                    </a:p>
                    <a:p>
                      <a:pPr indent="-190500" lvl="0" marL="342900" marR="0" rtl="0" algn="l">
                        <a:spcBef>
                          <a:spcPts val="0"/>
                        </a:spcBef>
                        <a:spcAft>
                          <a:spcPts val="0"/>
                        </a:spcAft>
                        <a:buClr>
                          <a:schemeClr val="dk1"/>
                        </a:buClr>
                        <a:buSzPts val="2400"/>
                        <a:buFont typeface="Arial"/>
                        <a:buNone/>
                      </a:pPr>
                      <a:r>
                        <a:t/>
                      </a:r>
                      <a:endParaRPr sz="2400"/>
                    </a:p>
                    <a:p>
                      <a:pPr indent="-342900" lvl="0" marL="342900" marR="0" rtl="0" algn="l">
                        <a:spcBef>
                          <a:spcPts val="0"/>
                        </a:spcBef>
                        <a:spcAft>
                          <a:spcPts val="0"/>
                        </a:spcAft>
                        <a:buClr>
                          <a:schemeClr val="dk1"/>
                        </a:buClr>
                        <a:buSzPts val="2400"/>
                        <a:buFont typeface="Arial"/>
                        <a:buChar char="•"/>
                      </a:pPr>
                      <a:r>
                        <a:rPr lang="en-US" sz="2400"/>
                        <a:t>We closed your case because we never received the information requested in our letter of</a:t>
                      </a:r>
                      <a:r>
                        <a:rPr lang="en-US" sz="2400"/>
                        <a:t> April 2.</a:t>
                      </a:r>
                      <a:endParaRPr sz="2400"/>
                    </a:p>
                  </a:txBody>
                  <a:tcPr marT="45725" marB="45725" marR="91450" marL="91450"/>
                </a:tc>
                <a:tc>
                  <a:txBody>
                    <a:bodyPr/>
                    <a:lstStyle/>
                    <a:p>
                      <a:pPr indent="-342900" lvl="0" marL="342900" marR="0" rtl="0" algn="l">
                        <a:spcBef>
                          <a:spcPts val="0"/>
                        </a:spcBef>
                        <a:spcAft>
                          <a:spcPts val="0"/>
                        </a:spcAft>
                        <a:buClr>
                          <a:schemeClr val="dk1"/>
                        </a:buClr>
                        <a:buSzPts val="2400"/>
                        <a:buFont typeface="Arial"/>
                        <a:buChar char="•"/>
                      </a:pPr>
                      <a:r>
                        <a:rPr lang="en-US" sz="2400"/>
                        <a:t>Your claim can be processed as soon as you complete the necessary forms.</a:t>
                      </a:r>
                      <a:endParaRPr/>
                    </a:p>
                    <a:p>
                      <a:pPr indent="-190500" lvl="0" marL="342900" marR="0" rtl="0" algn="l">
                        <a:spcBef>
                          <a:spcPts val="0"/>
                        </a:spcBef>
                        <a:spcAft>
                          <a:spcPts val="0"/>
                        </a:spcAft>
                        <a:buClr>
                          <a:schemeClr val="dk1"/>
                        </a:buClr>
                        <a:buSzPts val="2400"/>
                        <a:buFont typeface="Arial"/>
                        <a:buNone/>
                      </a:pPr>
                      <a:r>
                        <a:t/>
                      </a:r>
                      <a:endParaRPr sz="2400"/>
                    </a:p>
                    <a:p>
                      <a:pPr indent="-342900" lvl="0" marL="342900" marR="0" rtl="0" algn="l">
                        <a:spcBef>
                          <a:spcPts val="0"/>
                        </a:spcBef>
                        <a:spcAft>
                          <a:spcPts val="0"/>
                        </a:spcAft>
                        <a:buClr>
                          <a:schemeClr val="dk1"/>
                        </a:buClr>
                        <a:buSzPts val="2400"/>
                        <a:buFont typeface="Arial"/>
                        <a:buChar char="•"/>
                      </a:pPr>
                      <a:r>
                        <a:rPr lang="en-US" sz="2400"/>
                        <a:t>You may reach us by telephone on Fridays until 3 PM.</a:t>
                      </a:r>
                      <a:endParaRPr/>
                    </a:p>
                    <a:p>
                      <a:pPr indent="-190500" lvl="0" marL="342900" marR="0" rtl="0" algn="l">
                        <a:spcBef>
                          <a:spcPts val="0"/>
                        </a:spcBef>
                        <a:spcAft>
                          <a:spcPts val="0"/>
                        </a:spcAft>
                        <a:buClr>
                          <a:schemeClr val="dk1"/>
                        </a:buClr>
                        <a:buSzPts val="2400"/>
                        <a:buFont typeface="Arial"/>
                        <a:buNone/>
                      </a:pPr>
                      <a:r>
                        <a:t/>
                      </a:r>
                      <a:endParaRPr sz="2400"/>
                    </a:p>
                    <a:p>
                      <a:pPr indent="-342900" lvl="0" marL="342900" marR="0" rtl="0" algn="l">
                        <a:spcBef>
                          <a:spcPts val="0"/>
                        </a:spcBef>
                        <a:spcAft>
                          <a:spcPts val="0"/>
                        </a:spcAft>
                        <a:buClr>
                          <a:schemeClr val="dk1"/>
                        </a:buClr>
                        <a:buSzPts val="2400"/>
                        <a:buFont typeface="Arial"/>
                        <a:buChar char="•"/>
                      </a:pPr>
                      <a:r>
                        <a:rPr lang="en-US" sz="2400"/>
                        <a:t>Your case will be reactivated as soon as you provide the information requested in out April 2 letter.</a:t>
                      </a:r>
                      <a:endParaRPr/>
                    </a:p>
                  </a:txBody>
                  <a:tcPr marT="45725" marB="45725" marR="91450" marL="91450"/>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7"/>
          <p:cNvSpPr txBox="1"/>
          <p:nvPr>
            <p:ph type="title"/>
          </p:nvPr>
        </p:nvSpPr>
        <p:spPr>
          <a:xfrm>
            <a:off x="956733" y="508000"/>
            <a:ext cx="10515600" cy="132556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a:t>Positive Language</a:t>
            </a:r>
            <a:endParaRPr/>
          </a:p>
        </p:txBody>
      </p:sp>
      <p:sp>
        <p:nvSpPr>
          <p:cNvPr id="284" name="Google Shape;284;p17"/>
          <p:cNvSpPr txBox="1"/>
          <p:nvPr>
            <p:ph idx="1" type="body"/>
          </p:nvPr>
        </p:nvSpPr>
        <p:spPr>
          <a:xfrm>
            <a:off x="956733" y="2290764"/>
            <a:ext cx="11049000" cy="1430184"/>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000000"/>
              </a:buClr>
              <a:buSzPts val="3600"/>
              <a:buNone/>
            </a:pPr>
            <a:r>
              <a:rPr lang="en-US" sz="3600">
                <a:solidFill>
                  <a:srgbClr val="000000"/>
                </a:solidFill>
                <a:latin typeface="Times New Roman"/>
                <a:ea typeface="Times New Roman"/>
                <a:cs typeface="Times New Roman"/>
                <a:sym typeface="Times New Roman"/>
              </a:rPr>
              <a:t>What are the possible alternatives of “no problem” to make your readers feel positive?</a:t>
            </a:r>
            <a:endParaRPr/>
          </a:p>
          <a:p>
            <a:pPr indent="0" lvl="0" marL="0" rtl="0" algn="l">
              <a:lnSpc>
                <a:spcPct val="90000"/>
              </a:lnSpc>
              <a:spcBef>
                <a:spcPts val="1000"/>
              </a:spcBef>
              <a:spcAft>
                <a:spcPts val="0"/>
              </a:spcAft>
              <a:buClr>
                <a:schemeClr val="dk1"/>
              </a:buClr>
              <a:buSzPts val="3200"/>
              <a:buNone/>
            </a:pPr>
            <a:r>
              <a:t/>
            </a:r>
            <a:endParaRPr b="1" sz="3200">
              <a:solidFill>
                <a:srgbClr val="000000"/>
              </a:solidFill>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8"/>
          <p:cNvSpPr txBox="1"/>
          <p:nvPr>
            <p:ph type="title"/>
          </p:nvPr>
        </p:nvSpPr>
        <p:spPr>
          <a:xfrm>
            <a:off x="434297" y="35578"/>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lang="en-US"/>
              <a:t>Task 1</a:t>
            </a:r>
            <a:endParaRPr/>
          </a:p>
        </p:txBody>
      </p:sp>
      <p:sp>
        <p:nvSpPr>
          <p:cNvPr id="290" name="Google Shape;290;p18"/>
          <p:cNvSpPr txBox="1"/>
          <p:nvPr>
            <p:ph idx="1" type="body"/>
          </p:nvPr>
        </p:nvSpPr>
        <p:spPr>
          <a:xfrm>
            <a:off x="434297" y="1361141"/>
            <a:ext cx="11613324" cy="471881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sz="3200">
                <a:solidFill>
                  <a:schemeClr val="dk1"/>
                </a:solidFill>
                <a:latin typeface="Times New Roman"/>
                <a:ea typeface="Times New Roman"/>
                <a:cs typeface="Times New Roman"/>
                <a:sym typeface="Times New Roman"/>
              </a:rPr>
              <a:t>Locate an example of technical communication, such as users guide, manual, or a document borrowed from a family member or an acquaintance who works, and prepare a brief analysis in which you explain:</a:t>
            </a:r>
            <a:endParaRPr/>
          </a:p>
          <a:p>
            <a:pPr indent="-514350" lvl="0" marL="514350" rtl="0" algn="l">
              <a:lnSpc>
                <a:spcPct val="90000"/>
              </a:lnSpc>
              <a:spcBef>
                <a:spcPts val="1000"/>
              </a:spcBef>
              <a:spcAft>
                <a:spcPts val="0"/>
              </a:spcAft>
              <a:buClr>
                <a:schemeClr val="dk1"/>
              </a:buClr>
              <a:buSzPts val="3200"/>
              <a:buFont typeface="Times New Roman"/>
              <a:buAutoNum type="arabicParenR"/>
            </a:pPr>
            <a:r>
              <a:rPr lang="en-US" sz="3200">
                <a:solidFill>
                  <a:schemeClr val="dk1"/>
                </a:solidFill>
                <a:latin typeface="Times New Roman"/>
                <a:ea typeface="Times New Roman"/>
                <a:cs typeface="Times New Roman"/>
                <a:sym typeface="Times New Roman"/>
              </a:rPr>
              <a:t>The purpose for which the piece was written</a:t>
            </a:r>
            <a:endParaRPr/>
          </a:p>
          <a:p>
            <a:pPr indent="-514350" lvl="0" marL="514350" rtl="0" algn="l">
              <a:lnSpc>
                <a:spcPct val="90000"/>
              </a:lnSpc>
              <a:spcBef>
                <a:spcPts val="1000"/>
              </a:spcBef>
              <a:spcAft>
                <a:spcPts val="0"/>
              </a:spcAft>
              <a:buClr>
                <a:schemeClr val="dk1"/>
              </a:buClr>
              <a:buSzPts val="3200"/>
              <a:buFont typeface="Times New Roman"/>
              <a:buAutoNum type="arabicParenR"/>
            </a:pPr>
            <a:r>
              <a:rPr lang="en-US" sz="3200">
                <a:solidFill>
                  <a:schemeClr val="dk1"/>
                </a:solidFill>
                <a:latin typeface="Times New Roman"/>
                <a:ea typeface="Times New Roman"/>
                <a:cs typeface="Times New Roman"/>
                <a:sym typeface="Times New Roman"/>
              </a:rPr>
              <a:t>The apparent readers and their needs</a:t>
            </a:r>
            <a:endParaRPr/>
          </a:p>
          <a:p>
            <a:pPr indent="-514350" lvl="0" marL="514350" rtl="0" algn="l">
              <a:lnSpc>
                <a:spcPct val="90000"/>
              </a:lnSpc>
              <a:spcBef>
                <a:spcPts val="1000"/>
              </a:spcBef>
              <a:spcAft>
                <a:spcPts val="0"/>
              </a:spcAft>
              <a:buClr>
                <a:schemeClr val="dk1"/>
              </a:buClr>
              <a:buSzPts val="3200"/>
              <a:buFont typeface="Times New Roman"/>
              <a:buAutoNum type="arabicParenR"/>
            </a:pPr>
            <a:r>
              <a:rPr lang="en-US" sz="3200">
                <a:solidFill>
                  <a:schemeClr val="dk1"/>
                </a:solidFill>
                <a:latin typeface="Times New Roman"/>
                <a:ea typeface="Times New Roman"/>
                <a:cs typeface="Times New Roman"/>
                <a:sym typeface="Times New Roman"/>
              </a:rPr>
              <a:t>The way in which the examples differ from typical academic writing</a:t>
            </a:r>
            <a:endParaRPr/>
          </a:p>
          <a:p>
            <a:pPr indent="-514350" lvl="0" marL="514350" rtl="0" algn="l">
              <a:lnSpc>
                <a:spcPct val="90000"/>
              </a:lnSpc>
              <a:spcBef>
                <a:spcPts val="1000"/>
              </a:spcBef>
              <a:spcAft>
                <a:spcPts val="0"/>
              </a:spcAft>
              <a:buClr>
                <a:schemeClr val="dk1"/>
              </a:buClr>
              <a:buSzPts val="3200"/>
              <a:buFont typeface="Times New Roman"/>
              <a:buAutoNum type="arabicParenR"/>
            </a:pPr>
            <a:r>
              <a:rPr lang="en-US" sz="3200">
                <a:solidFill>
                  <a:schemeClr val="dk1"/>
                </a:solidFill>
                <a:latin typeface="Times New Roman"/>
                <a:ea typeface="Times New Roman"/>
                <a:cs typeface="Times New Roman"/>
                <a:sym typeface="Times New Roman"/>
              </a:rPr>
              <a:t>The relative success with which the piece conveys the message (organization, special features of technical writing)</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9"/>
          <p:cNvSpPr txBox="1"/>
          <p:nvPr>
            <p:ph type="title"/>
          </p:nvPr>
        </p:nvSpPr>
        <p:spPr>
          <a:xfrm>
            <a:off x="696532" y="0"/>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Times New Roman"/>
              <a:buNone/>
            </a:pPr>
            <a:r>
              <a:rPr b="1" lang="en-US" sz="4000"/>
              <a:t>Task for Next Class</a:t>
            </a:r>
            <a:endParaRPr/>
          </a:p>
        </p:txBody>
      </p:sp>
      <p:sp>
        <p:nvSpPr>
          <p:cNvPr id="296" name="Google Shape;296;p19"/>
          <p:cNvSpPr txBox="1"/>
          <p:nvPr>
            <p:ph idx="1" type="body"/>
          </p:nvPr>
        </p:nvSpPr>
        <p:spPr>
          <a:xfrm>
            <a:off x="696532" y="1325562"/>
            <a:ext cx="11190667" cy="518953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sz="3200">
                <a:latin typeface="Times New Roman"/>
                <a:ea typeface="Times New Roman"/>
                <a:cs typeface="Times New Roman"/>
                <a:sym typeface="Times New Roman"/>
              </a:rPr>
              <a:t>Read the guidelines for Email Writing </a:t>
            </a:r>
            <a:endParaRPr/>
          </a:p>
          <a:p>
            <a:pPr indent="0" lvl="0" marL="0" rtl="0" algn="l">
              <a:lnSpc>
                <a:spcPct val="90000"/>
              </a:lnSpc>
              <a:spcBef>
                <a:spcPts val="1000"/>
              </a:spcBef>
              <a:spcAft>
                <a:spcPts val="0"/>
              </a:spcAft>
              <a:buClr>
                <a:schemeClr val="dk1"/>
              </a:buClr>
              <a:buSzPts val="3200"/>
              <a:buNone/>
            </a:pPr>
            <a:r>
              <a:rPr lang="en-US" sz="3200">
                <a:latin typeface="Times New Roman"/>
                <a:ea typeface="Times New Roman"/>
                <a:cs typeface="Times New Roman"/>
                <a:sym typeface="Times New Roman"/>
              </a:rPr>
              <a:t>P. 167 – 172 , (Technical Communication, Pfeiffer)</a:t>
            </a:r>
            <a:endParaRPr/>
          </a:p>
          <a:p>
            <a:pPr indent="0" lvl="0" marL="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0"/>
          <p:cNvSpPr txBox="1"/>
          <p:nvPr>
            <p:ph type="title"/>
          </p:nvPr>
        </p:nvSpPr>
        <p:spPr>
          <a:xfrm>
            <a:off x="342900" y="1864528"/>
            <a:ext cx="11458575" cy="218722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4800"/>
              <a:buFont typeface="Times New Roman"/>
              <a:buNone/>
            </a:pPr>
            <a:r>
              <a:rPr lang="en-US" sz="4800"/>
              <a:t>STRUCTURE of Technical Writing</a:t>
            </a:r>
            <a:br>
              <a:rPr lang="en-US" sz="4800"/>
            </a:br>
            <a:r>
              <a:rPr lang="en-US" sz="4800"/>
              <a:t>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1"/>
          <p:cNvSpPr txBox="1"/>
          <p:nvPr>
            <p:ph type="title"/>
          </p:nvPr>
        </p:nvSpPr>
        <p:spPr>
          <a:xfrm>
            <a:off x="838200" y="202367"/>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000"/>
              <a:buFont typeface="Times New Roman"/>
              <a:buNone/>
            </a:pPr>
            <a:r>
              <a:rPr b="1" lang="en-US" sz="4000">
                <a:solidFill>
                  <a:srgbClr val="002060"/>
                </a:solidFill>
              </a:rPr>
              <a:t>ABC Format</a:t>
            </a:r>
            <a:endParaRPr/>
          </a:p>
        </p:txBody>
      </p:sp>
      <p:sp>
        <p:nvSpPr>
          <p:cNvPr id="308" name="Google Shape;308;p21"/>
          <p:cNvSpPr txBox="1"/>
          <p:nvPr>
            <p:ph idx="1" type="body"/>
          </p:nvPr>
        </p:nvSpPr>
        <p:spPr>
          <a:xfrm>
            <a:off x="389744" y="1379095"/>
            <a:ext cx="7195279" cy="52765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3200"/>
              <a:buChar char="•"/>
            </a:pPr>
            <a:r>
              <a:rPr b="1" lang="en-US" sz="3200">
                <a:solidFill>
                  <a:schemeClr val="dk1"/>
                </a:solidFill>
                <a:latin typeface="Times New Roman"/>
                <a:ea typeface="Times New Roman"/>
                <a:cs typeface="Times New Roman"/>
                <a:sym typeface="Times New Roman"/>
              </a:rPr>
              <a:t>Abstract: </a:t>
            </a:r>
            <a:r>
              <a:rPr lang="en-US" sz="3200">
                <a:solidFill>
                  <a:schemeClr val="dk1"/>
                </a:solidFill>
                <a:latin typeface="Times New Roman"/>
                <a:ea typeface="Times New Roman"/>
                <a:cs typeface="Times New Roman"/>
                <a:sym typeface="Times New Roman"/>
              </a:rPr>
              <a:t>A brief beginning component is represented by the narrow top of the diamond, which leads into the body.</a:t>
            </a:r>
            <a:endParaRPr/>
          </a:p>
          <a:p>
            <a:pPr indent="-228600" lvl="0" marL="228600" rtl="0" algn="l">
              <a:lnSpc>
                <a:spcPct val="90000"/>
              </a:lnSpc>
              <a:spcBef>
                <a:spcPts val="1000"/>
              </a:spcBef>
              <a:spcAft>
                <a:spcPts val="0"/>
              </a:spcAft>
              <a:buClr>
                <a:schemeClr val="dk1"/>
              </a:buClr>
              <a:buSzPts val="3200"/>
              <a:buChar char="•"/>
            </a:pPr>
            <a:r>
              <a:rPr b="1" lang="en-US" sz="3200">
                <a:solidFill>
                  <a:schemeClr val="dk1"/>
                </a:solidFill>
                <a:latin typeface="Times New Roman"/>
                <a:ea typeface="Times New Roman"/>
                <a:cs typeface="Times New Roman"/>
                <a:sym typeface="Times New Roman"/>
              </a:rPr>
              <a:t>Body: </a:t>
            </a:r>
            <a:r>
              <a:rPr lang="en-US" sz="3200">
                <a:solidFill>
                  <a:schemeClr val="dk1"/>
                </a:solidFill>
                <a:latin typeface="Times New Roman"/>
                <a:ea typeface="Times New Roman"/>
                <a:cs typeface="Times New Roman"/>
                <a:sym typeface="Times New Roman"/>
              </a:rPr>
              <a:t>The longer middle component is represented by the broad, expansive portion of the diamond figure.</a:t>
            </a:r>
            <a:endParaRPr/>
          </a:p>
          <a:p>
            <a:pPr indent="-228600" lvl="0" marL="228600" rtl="0" algn="l">
              <a:lnSpc>
                <a:spcPct val="90000"/>
              </a:lnSpc>
              <a:spcBef>
                <a:spcPts val="1000"/>
              </a:spcBef>
              <a:spcAft>
                <a:spcPts val="0"/>
              </a:spcAft>
              <a:buClr>
                <a:schemeClr val="dk1"/>
              </a:buClr>
              <a:buSzPts val="3200"/>
              <a:buChar char="•"/>
            </a:pPr>
            <a:r>
              <a:rPr b="1" lang="en-US" sz="3200">
                <a:solidFill>
                  <a:schemeClr val="dk1"/>
                </a:solidFill>
                <a:latin typeface="Times New Roman"/>
                <a:ea typeface="Times New Roman"/>
                <a:cs typeface="Times New Roman"/>
                <a:sym typeface="Times New Roman"/>
              </a:rPr>
              <a:t>Conclusion: </a:t>
            </a:r>
            <a:r>
              <a:rPr lang="en-US" sz="3200">
                <a:solidFill>
                  <a:schemeClr val="dk1"/>
                </a:solidFill>
                <a:latin typeface="Times New Roman"/>
                <a:ea typeface="Times New Roman"/>
                <a:cs typeface="Times New Roman"/>
                <a:sym typeface="Times New Roman"/>
              </a:rPr>
              <a:t>A brief ending component is represented by the narrow bottom of the diamond, which leads away from the body</a:t>
            </a:r>
            <a:r>
              <a:rPr lang="en-US" sz="3200">
                <a:latin typeface="Times New Roman"/>
                <a:ea typeface="Times New Roman"/>
                <a:cs typeface="Times New Roman"/>
                <a:sym typeface="Times New Roman"/>
              </a:rPr>
              <a:t>.</a:t>
            </a:r>
            <a:endParaRPr/>
          </a:p>
        </p:txBody>
      </p:sp>
      <p:pic>
        <p:nvPicPr>
          <p:cNvPr id="309" name="Google Shape;309;p21"/>
          <p:cNvPicPr preferRelativeResize="0"/>
          <p:nvPr/>
        </p:nvPicPr>
        <p:blipFill rotWithShape="1">
          <a:blip r:embed="rId3">
            <a:alphaModFix/>
          </a:blip>
          <a:srcRect b="0" l="0" r="0" t="0"/>
          <a:stretch/>
        </p:blipFill>
        <p:spPr>
          <a:xfrm>
            <a:off x="7719934" y="1901486"/>
            <a:ext cx="4326021" cy="38731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2"/>
          <p:cNvSpPr txBox="1"/>
          <p:nvPr>
            <p:ph idx="1" type="body"/>
          </p:nvPr>
        </p:nvSpPr>
        <p:spPr>
          <a:xfrm>
            <a:off x="245771" y="225380"/>
            <a:ext cx="11744667" cy="6632619"/>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90000"/>
              </a:lnSpc>
              <a:spcBef>
                <a:spcPts val="0"/>
              </a:spcBef>
              <a:spcAft>
                <a:spcPts val="0"/>
              </a:spcAft>
              <a:buClr>
                <a:srgbClr val="002060"/>
              </a:buClr>
              <a:buSzPct val="100000"/>
              <a:buNone/>
            </a:pPr>
            <a:r>
              <a:rPr b="1" lang="en-US" sz="4700">
                <a:solidFill>
                  <a:srgbClr val="002060"/>
                </a:solidFill>
                <a:latin typeface="Times New Roman"/>
                <a:ea typeface="Times New Roman"/>
                <a:cs typeface="Times New Roman"/>
                <a:sym typeface="Times New Roman"/>
              </a:rPr>
              <a:t>Email Writing Guidelines</a:t>
            </a:r>
            <a:endParaRPr/>
          </a:p>
          <a:p>
            <a:pPr indent="0" lvl="0" marL="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Maintain a high level of </a:t>
            </a:r>
            <a:r>
              <a:rPr b="1" lang="en-US">
                <a:solidFill>
                  <a:srgbClr val="2F5496"/>
                </a:solidFill>
                <a:latin typeface="Times New Roman"/>
                <a:ea typeface="Times New Roman"/>
                <a:cs typeface="Times New Roman"/>
                <a:sym typeface="Times New Roman"/>
              </a:rPr>
              <a:t>professionalism</a:t>
            </a:r>
            <a:r>
              <a:rPr lang="en-US">
                <a:latin typeface="Times New Roman"/>
                <a:ea typeface="Times New Roman"/>
                <a:cs typeface="Times New Roman"/>
                <a:sym typeface="Times New Roman"/>
              </a:rPr>
              <a:t> in your use of e-mail.</a:t>
            </a:r>
            <a:endParaRPr/>
          </a:p>
          <a:p>
            <a:pPr indent="-228600" lvl="1" marL="685800" rtl="0" algn="l">
              <a:lnSpc>
                <a:spcPct val="90000"/>
              </a:lnSpc>
              <a:spcBef>
                <a:spcPts val="500"/>
              </a:spcBef>
              <a:spcAft>
                <a:spcPts val="0"/>
              </a:spcAft>
              <a:buClr>
                <a:schemeClr val="dk1"/>
              </a:buClr>
              <a:buSzPct val="100000"/>
              <a:buFont typeface="Noto Sans Symbols"/>
              <a:buChar char="⮚"/>
            </a:pPr>
            <a:r>
              <a:rPr lang="en-US" sz="2800">
                <a:latin typeface="Times New Roman"/>
                <a:ea typeface="Times New Roman"/>
                <a:cs typeface="Times New Roman"/>
                <a:sym typeface="Times New Roman"/>
              </a:rPr>
              <a:t>Do not forward jokes or spam, discuss office gossip, or use biased language.</a:t>
            </a:r>
            <a:endParaRPr/>
          </a:p>
          <a:p>
            <a:pPr indent="-228600" lvl="1" marL="685800" rtl="0" algn="l">
              <a:lnSpc>
                <a:spcPct val="90000"/>
              </a:lnSpc>
              <a:spcBef>
                <a:spcPts val="500"/>
              </a:spcBef>
              <a:spcAft>
                <a:spcPts val="0"/>
              </a:spcAft>
              <a:buClr>
                <a:schemeClr val="dk1"/>
              </a:buClr>
              <a:buSzPct val="100000"/>
              <a:buFont typeface="Noto Sans Symbols"/>
              <a:buChar char="⮚"/>
            </a:pPr>
            <a:r>
              <a:rPr lang="en-US" sz="2800">
                <a:latin typeface="Times New Roman"/>
                <a:ea typeface="Times New Roman"/>
                <a:cs typeface="Times New Roman"/>
                <a:sym typeface="Times New Roman"/>
              </a:rPr>
              <a:t>Do not send flames (e-mails that contain abusive, obscene, or derogatory language) to attack someone. </a:t>
            </a:r>
            <a:endParaRPr/>
          </a:p>
          <a:p>
            <a:pPr indent="-228600" lvl="1" marL="685800" rtl="0" algn="l">
              <a:lnSpc>
                <a:spcPct val="90000"/>
              </a:lnSpc>
              <a:spcBef>
                <a:spcPts val="500"/>
              </a:spcBef>
              <a:spcAft>
                <a:spcPts val="0"/>
              </a:spcAft>
              <a:buClr>
                <a:schemeClr val="dk1"/>
              </a:buClr>
              <a:buSzPct val="100000"/>
              <a:buFont typeface="Noto Sans Symbols"/>
              <a:buChar char="⮚"/>
            </a:pPr>
            <a:r>
              <a:rPr lang="en-US" sz="2800">
                <a:latin typeface="Times New Roman"/>
                <a:ea typeface="Times New Roman"/>
                <a:cs typeface="Times New Roman"/>
                <a:sym typeface="Times New Roman"/>
              </a:rPr>
              <a:t>Do not use clever or hobby-related e-mail usernames (sushilover@ domain.com); instead use, e.g.  msmith@domain.com.</a:t>
            </a:r>
            <a:endParaRPr/>
          </a:p>
          <a:p>
            <a:pPr indent="-228600" lvl="1" marL="685800" rtl="0" algn="l">
              <a:lnSpc>
                <a:spcPct val="90000"/>
              </a:lnSpc>
              <a:spcBef>
                <a:spcPts val="500"/>
              </a:spcBef>
              <a:spcAft>
                <a:spcPts val="0"/>
              </a:spcAft>
              <a:buClr>
                <a:schemeClr val="dk1"/>
              </a:buClr>
              <a:buSzPct val="100000"/>
              <a:buFont typeface="Noto Sans Symbols"/>
              <a:buChar char="⮚"/>
            </a:pPr>
            <a:r>
              <a:rPr lang="en-US" sz="2800">
                <a:latin typeface="Times New Roman"/>
                <a:ea typeface="Times New Roman"/>
                <a:cs typeface="Times New Roman"/>
                <a:sym typeface="Times New Roman"/>
              </a:rPr>
              <a:t>Do not use emoticons</a:t>
            </a:r>
            <a:endParaRPr/>
          </a:p>
          <a:p>
            <a:pPr indent="-90805" lvl="1" marL="685800" rtl="0" algn="l">
              <a:lnSpc>
                <a:spcPct val="90000"/>
              </a:lnSpc>
              <a:spcBef>
                <a:spcPts val="500"/>
              </a:spcBef>
              <a:spcAft>
                <a:spcPts val="0"/>
              </a:spcAft>
              <a:buClr>
                <a:schemeClr val="dk1"/>
              </a:buClr>
              <a:buSzPct val="100000"/>
              <a:buFont typeface="Noto Sans Symbols"/>
              <a:buNone/>
            </a:pPr>
            <a:r>
              <a:t/>
            </a:r>
            <a:endParaRPr sz="28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Provide a </a:t>
            </a:r>
            <a:r>
              <a:rPr b="1" lang="en-US">
                <a:solidFill>
                  <a:srgbClr val="2F5496"/>
                </a:solidFill>
                <a:latin typeface="Times New Roman"/>
                <a:ea typeface="Times New Roman"/>
                <a:cs typeface="Times New Roman"/>
                <a:sym typeface="Times New Roman"/>
              </a:rPr>
              <a:t>subject line </a:t>
            </a:r>
            <a:r>
              <a:rPr lang="en-US">
                <a:latin typeface="Times New Roman"/>
                <a:ea typeface="Times New Roman"/>
                <a:cs typeface="Times New Roman"/>
                <a:sym typeface="Times New Roman"/>
              </a:rPr>
              <a:t>that describes the topic and focus of your message.</a:t>
            </a:r>
            <a:endParaRPr/>
          </a:p>
          <a:p>
            <a:pPr indent="-228600" lvl="0" marL="228600" rtl="0" algn="l">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Adapt </a:t>
            </a:r>
            <a:r>
              <a:rPr b="1" lang="en-US">
                <a:solidFill>
                  <a:srgbClr val="2F5496"/>
                </a:solidFill>
                <a:latin typeface="Times New Roman"/>
                <a:ea typeface="Times New Roman"/>
                <a:cs typeface="Times New Roman"/>
                <a:sym typeface="Times New Roman"/>
              </a:rPr>
              <a:t>forwarded messages</a:t>
            </a:r>
            <a:r>
              <a:rPr lang="en-US">
                <a:latin typeface="Times New Roman"/>
                <a:ea typeface="Times New Roman"/>
                <a:cs typeface="Times New Roman"/>
                <a:sym typeface="Times New Roman"/>
              </a:rPr>
              <a:t>: revise the subject line to reflect the current content and cut irrelevant previous text, based on your purpose and context.</a:t>
            </a:r>
            <a:endParaRPr/>
          </a:p>
          <a:p>
            <a:pPr indent="-228600" lvl="0" marL="228600" rtl="0" algn="l">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Use the “</a:t>
            </a:r>
            <a:r>
              <a:rPr b="1" lang="en-US">
                <a:latin typeface="Times New Roman"/>
                <a:ea typeface="Times New Roman"/>
                <a:cs typeface="Times New Roman"/>
                <a:sym typeface="Times New Roman"/>
              </a:rPr>
              <a:t>cc</a:t>
            </a:r>
            <a:r>
              <a:rPr lang="en-US">
                <a:latin typeface="Times New Roman"/>
                <a:ea typeface="Times New Roman"/>
                <a:cs typeface="Times New Roman"/>
                <a:sym typeface="Times New Roman"/>
              </a:rPr>
              <a:t>:” (courtesy copy) address line thoughtfully to keep others informed and follow your organization’s practice or protocol for copying messages to others.</a:t>
            </a:r>
            <a:endParaRPr/>
          </a:p>
          <a:p>
            <a:pPr indent="-228600" lvl="0" marL="228600" rtl="0" algn="l">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Include a cover message for all e-mail messages with </a:t>
            </a:r>
            <a:r>
              <a:rPr b="1" lang="en-US">
                <a:solidFill>
                  <a:srgbClr val="2F5496"/>
                </a:solidFill>
                <a:latin typeface="Times New Roman"/>
                <a:ea typeface="Times New Roman"/>
                <a:cs typeface="Times New Roman"/>
                <a:sym typeface="Times New Roman"/>
              </a:rPr>
              <a:t>attachments</a:t>
            </a:r>
            <a:r>
              <a:rPr lang="en-US">
                <a:latin typeface="Times New Roman"/>
                <a:ea typeface="Times New Roman"/>
                <a:cs typeface="Times New Roman"/>
                <a:sym typeface="Times New Roman"/>
              </a:rPr>
              <a:t> (“Attached is a copy of my budget proposal for your review. . . .”).</a:t>
            </a:r>
            <a:endParaRPr/>
          </a:p>
          <a:p>
            <a:pPr indent="-228600" lvl="0" marL="228600" rtl="0" algn="l">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Do not write in ALL UPPERCASE LETTERS or in all lowercase letters.</a:t>
            </a:r>
            <a:endParaRPr/>
          </a:p>
          <a:p>
            <a:pPr indent="-228600" lvl="0" marL="228600" rtl="0" algn="l">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Avoid </a:t>
            </a:r>
            <a:r>
              <a:rPr b="1" lang="en-US">
                <a:solidFill>
                  <a:srgbClr val="2F5496"/>
                </a:solidFill>
                <a:latin typeface="Times New Roman"/>
                <a:ea typeface="Times New Roman"/>
                <a:cs typeface="Times New Roman"/>
                <a:sym typeface="Times New Roman"/>
              </a:rPr>
              <a:t>abbreviations</a:t>
            </a:r>
            <a:r>
              <a:rPr lang="en-US">
                <a:latin typeface="Times New Roman"/>
                <a:ea typeface="Times New Roman"/>
                <a:cs typeface="Times New Roman"/>
                <a:sym typeface="Times New Roman"/>
              </a:rPr>
              <a:t> (BTW for by the way) used in personal e-mail, chat rooms, and text messaging.</a:t>
            </a:r>
            <a:endParaRPr/>
          </a:p>
          <a:p>
            <a:pPr indent="-9080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t>Writing Task: Email to Instructor </a:t>
            </a:r>
            <a:endParaRPr/>
          </a:p>
        </p:txBody>
      </p:sp>
      <p:sp>
        <p:nvSpPr>
          <p:cNvPr id="321" name="Google Shape;321;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0000"/>
              </a:buClr>
              <a:buSzPts val="2800"/>
              <a:buFont typeface="Arial"/>
              <a:buChar char="•"/>
            </a:pPr>
            <a:r>
              <a:rPr b="0" i="0" lang="en-US" sz="2800" u="none" cap="none" strike="noStrike">
                <a:solidFill>
                  <a:srgbClr val="000000"/>
                </a:solidFill>
                <a:latin typeface="Times New Roman"/>
                <a:ea typeface="Times New Roman"/>
                <a:cs typeface="Times New Roman"/>
                <a:sym typeface="Times New Roman"/>
              </a:rPr>
              <a:t>The email should concisely describe the following: </a:t>
            </a:r>
            <a:endParaRPr/>
          </a:p>
          <a:p>
            <a:pPr indent="-228600" lvl="1" marL="685800" marR="0" rtl="0" algn="l">
              <a:lnSpc>
                <a:spcPct val="90000"/>
              </a:lnSpc>
              <a:spcBef>
                <a:spcPts val="500"/>
              </a:spcBef>
              <a:spcAft>
                <a:spcPts val="0"/>
              </a:spcAft>
              <a:buClr>
                <a:srgbClr val="000000"/>
              </a:buClr>
              <a:buSzPts val="2800"/>
              <a:buFont typeface="Courier New"/>
              <a:buChar char="o"/>
            </a:pPr>
            <a:r>
              <a:rPr b="0" i="0" lang="en-US" sz="2800" u="none" cap="none" strike="noStrike">
                <a:solidFill>
                  <a:srgbClr val="000000"/>
                </a:solidFill>
                <a:latin typeface="Times New Roman"/>
                <a:ea typeface="Times New Roman"/>
                <a:cs typeface="Times New Roman"/>
                <a:sym typeface="Times New Roman"/>
              </a:rPr>
              <a:t>Your course goals for the semester</a:t>
            </a:r>
            <a:endParaRPr/>
          </a:p>
          <a:p>
            <a:pPr indent="-228600" lvl="1" marL="685800" marR="0" rtl="0" algn="l">
              <a:lnSpc>
                <a:spcPct val="90000"/>
              </a:lnSpc>
              <a:spcBef>
                <a:spcPts val="500"/>
              </a:spcBef>
              <a:spcAft>
                <a:spcPts val="0"/>
              </a:spcAft>
              <a:buClr>
                <a:srgbClr val="000000"/>
              </a:buClr>
              <a:buSzPts val="2800"/>
              <a:buFont typeface="Courier New"/>
              <a:buChar char="o"/>
            </a:pPr>
            <a:r>
              <a:rPr b="0" i="0" lang="en-US" sz="2800" u="none" cap="none" strike="noStrike">
                <a:solidFill>
                  <a:srgbClr val="000000"/>
                </a:solidFill>
                <a:latin typeface="Times New Roman"/>
                <a:ea typeface="Times New Roman"/>
                <a:cs typeface="Times New Roman"/>
                <a:sym typeface="Times New Roman"/>
              </a:rPr>
              <a:t>A description of your employment, if any, and your favorite activities</a:t>
            </a:r>
            <a:endParaRPr/>
          </a:p>
          <a:p>
            <a:pPr indent="-228600" lvl="1" marL="685800" marR="0" rtl="0" algn="l">
              <a:lnSpc>
                <a:spcPct val="90000"/>
              </a:lnSpc>
              <a:spcBef>
                <a:spcPts val="500"/>
              </a:spcBef>
              <a:spcAft>
                <a:spcPts val="0"/>
              </a:spcAft>
              <a:buClr>
                <a:srgbClr val="000000"/>
              </a:buClr>
              <a:buSzPts val="2800"/>
              <a:buFont typeface="Courier New"/>
              <a:buChar char="o"/>
            </a:pPr>
            <a:r>
              <a:rPr b="0" i="0" lang="en-US" sz="2800" u="none" cap="none" strike="noStrike">
                <a:solidFill>
                  <a:srgbClr val="000000"/>
                </a:solidFill>
                <a:latin typeface="Times New Roman"/>
                <a:ea typeface="Times New Roman"/>
                <a:cs typeface="Times New Roman"/>
                <a:sym typeface="Times New Roman"/>
              </a:rPr>
              <a:t>An assessment of your current communication skills, including strengths and weaknesses</a:t>
            </a:r>
            <a:endParaRPr/>
          </a:p>
          <a:p>
            <a:pPr indent="-228600" lvl="1" marL="685800" marR="0" rtl="0" algn="l">
              <a:lnSpc>
                <a:spcPct val="90000"/>
              </a:lnSpc>
              <a:spcBef>
                <a:spcPts val="500"/>
              </a:spcBef>
              <a:spcAft>
                <a:spcPts val="0"/>
              </a:spcAft>
              <a:buClr>
                <a:srgbClr val="000000"/>
              </a:buClr>
              <a:buSzPts val="2800"/>
              <a:buFont typeface="Courier New"/>
              <a:buChar char="o"/>
            </a:pPr>
            <a:r>
              <a:rPr b="0" i="0" lang="en-US" sz="2800" u="none" cap="none" strike="noStrike">
                <a:solidFill>
                  <a:srgbClr val="000000"/>
                </a:solidFill>
                <a:latin typeface="Times New Roman"/>
                <a:ea typeface="Times New Roman"/>
                <a:cs typeface="Times New Roman"/>
                <a:sym typeface="Times New Roman"/>
              </a:rPr>
              <a:t>Let me know if you have any teacher pet peeves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Times New Roman"/>
              <a:buNone/>
            </a:pPr>
            <a:r>
              <a:rPr b="1" lang="en-US" sz="4000"/>
              <a:t>Grading Rubric for Email</a:t>
            </a:r>
            <a:endParaRPr/>
          </a:p>
        </p:txBody>
      </p:sp>
      <p:sp>
        <p:nvSpPr>
          <p:cNvPr id="327" name="Google Shape;327;p24"/>
          <p:cNvSpPr txBox="1"/>
          <p:nvPr>
            <p:ph idx="1" type="body"/>
          </p:nvPr>
        </p:nvSpPr>
        <p:spPr>
          <a:xfrm>
            <a:off x="838200" y="1690688"/>
            <a:ext cx="10515600" cy="4486275"/>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Did you email the assignment to faststudents@gmail.com by 7am, __________</a:t>
            </a:r>
            <a:endParaRPr/>
          </a:p>
          <a:p>
            <a:pPr indent="-228600" lvl="0" marL="228600" rtl="0" algn="l">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Did you summarize the main idea in the subject line?</a:t>
            </a:r>
            <a:endParaRPr/>
          </a:p>
          <a:p>
            <a:pPr indent="-228600" lvl="0" marL="228600" rtl="0" algn="l">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Was the appropriate salutation included?</a:t>
            </a:r>
            <a:endParaRPr/>
          </a:p>
          <a:p>
            <a:pPr indent="-228600" lvl="0" marL="228600" rtl="0" algn="l">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Did the body concisely describe each of the required components?</a:t>
            </a:r>
            <a:endParaRPr/>
          </a:p>
          <a:p>
            <a:pPr indent="-228600" lvl="0" marL="228600" rtl="0" algn="l">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Was the body organized into paragraphs so it was easy to read quickly?</a:t>
            </a:r>
            <a:endParaRPr/>
          </a:p>
          <a:p>
            <a:pPr indent="-228600" lvl="0" marL="228600" rtl="0" algn="l">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Did the email end with a summary or closing thought?</a:t>
            </a:r>
            <a:endParaRPr/>
          </a:p>
          <a:p>
            <a:pPr indent="-228600" lvl="0" marL="228600" rtl="0" algn="l">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Did you include full contact information after your name?</a:t>
            </a:r>
            <a:endParaRPr/>
          </a:p>
          <a:p>
            <a:pPr indent="-228600" lvl="0" marL="228600" rtl="0" algn="l">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Was the email free of any grammatical errors or typos?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a:t>Culture in Organizations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6"/>
          <p:cNvSpPr txBox="1"/>
          <p:nvPr>
            <p:ph type="title"/>
          </p:nvPr>
        </p:nvSpPr>
        <p:spPr>
          <a:xfrm>
            <a:off x="609600" y="0"/>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lang="en-US"/>
              <a:t>Elements of Organization Culture</a:t>
            </a:r>
            <a:endParaRPr/>
          </a:p>
        </p:txBody>
      </p:sp>
      <p:grpSp>
        <p:nvGrpSpPr>
          <p:cNvPr id="339" name="Google Shape;339;p26"/>
          <p:cNvGrpSpPr/>
          <p:nvPr/>
        </p:nvGrpSpPr>
        <p:grpSpPr>
          <a:xfrm>
            <a:off x="1457649" y="1493599"/>
            <a:ext cx="9200499" cy="5047795"/>
            <a:chOff x="1264218" y="80"/>
            <a:chExt cx="9200499" cy="5047795"/>
          </a:xfrm>
        </p:grpSpPr>
        <p:sp>
          <p:nvSpPr>
            <p:cNvPr id="340" name="Google Shape;340;p26"/>
            <p:cNvSpPr/>
            <p:nvPr/>
          </p:nvSpPr>
          <p:spPr>
            <a:xfrm>
              <a:off x="1264218" y="80"/>
              <a:ext cx="3882919" cy="2329751"/>
            </a:xfrm>
            <a:prstGeom prst="rect">
              <a:avLst/>
            </a:prstGeom>
            <a:solidFill>
              <a:srgbClr val="BBD6EE"/>
            </a:solidFill>
            <a:ln cap="flat" cmpd="sng" w="1270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6"/>
            <p:cNvSpPr txBox="1"/>
            <p:nvPr/>
          </p:nvSpPr>
          <p:spPr>
            <a:xfrm>
              <a:off x="1264218" y="80"/>
              <a:ext cx="3882919" cy="2329751"/>
            </a:xfrm>
            <a:prstGeom prst="rect">
              <a:avLst/>
            </a:prstGeom>
            <a:noFill/>
            <a:ln>
              <a:noFill/>
            </a:ln>
          </p:spPr>
          <p:txBody>
            <a:bodyPr anchorCtr="0" anchor="ctr" bIns="121900" lIns="121900" spcFirstLastPara="1" rIns="121900" wrap="square" tIns="121900">
              <a:noAutofit/>
            </a:bodyPr>
            <a:lstStyle/>
            <a:p>
              <a:pPr indent="0" lvl="0" marL="0" marR="0" rtl="0" algn="ctr">
                <a:lnSpc>
                  <a:spcPct val="90000"/>
                </a:lnSpc>
                <a:spcBef>
                  <a:spcPts val="0"/>
                </a:spcBef>
                <a:spcAft>
                  <a:spcPts val="0"/>
                </a:spcAft>
                <a:buClr>
                  <a:srgbClr val="002060"/>
                </a:buClr>
                <a:buSzPts val="3200"/>
                <a:buFont typeface="Times New Roman"/>
                <a:buNone/>
              </a:pPr>
              <a:r>
                <a:rPr b="1" lang="en-US" sz="3200">
                  <a:solidFill>
                    <a:srgbClr val="002060"/>
                  </a:solidFill>
                  <a:latin typeface="Arial"/>
                  <a:ea typeface="Arial"/>
                  <a:cs typeface="Arial"/>
                  <a:sym typeface="Arial"/>
                </a:rPr>
                <a:t>Organization History</a:t>
              </a:r>
              <a:endParaRPr sz="2600">
                <a:solidFill>
                  <a:srgbClr val="002060"/>
                </a:solidFill>
                <a:latin typeface="Arial"/>
                <a:ea typeface="Arial"/>
                <a:cs typeface="Arial"/>
                <a:sym typeface="Arial"/>
              </a:endParaRPr>
            </a:p>
          </p:txBody>
        </p:sp>
        <p:sp>
          <p:nvSpPr>
            <p:cNvPr id="342" name="Google Shape;342;p26"/>
            <p:cNvSpPr/>
            <p:nvPr/>
          </p:nvSpPr>
          <p:spPr>
            <a:xfrm>
              <a:off x="5535429" y="80"/>
              <a:ext cx="4929288" cy="2329751"/>
            </a:xfrm>
            <a:prstGeom prst="rect">
              <a:avLst/>
            </a:prstGeom>
            <a:solidFill>
              <a:srgbClr val="002060"/>
            </a:solidFill>
            <a:ln cap="flat" cmpd="sng" w="1270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6"/>
            <p:cNvSpPr txBox="1"/>
            <p:nvPr/>
          </p:nvSpPr>
          <p:spPr>
            <a:xfrm>
              <a:off x="5535429" y="80"/>
              <a:ext cx="4929288" cy="2329751"/>
            </a:xfrm>
            <a:prstGeom prst="rect">
              <a:avLst/>
            </a:prstGeom>
            <a:noFill/>
            <a:ln>
              <a:noFill/>
            </a:ln>
          </p:spPr>
          <p:txBody>
            <a:bodyPr anchorCtr="0" anchor="ctr" bIns="121900" lIns="121900" spcFirstLastPara="1" rIns="121900" wrap="square" tIns="121900">
              <a:noAutofit/>
            </a:bodyPr>
            <a:lstStyle/>
            <a:p>
              <a:pPr indent="0" lvl="0" marL="0" marR="0" rtl="0" algn="ctr">
                <a:lnSpc>
                  <a:spcPct val="90000"/>
                </a:lnSpc>
                <a:spcBef>
                  <a:spcPts val="0"/>
                </a:spcBef>
                <a:spcAft>
                  <a:spcPts val="0"/>
                </a:spcAft>
                <a:buClr>
                  <a:schemeClr val="lt1"/>
                </a:buClr>
                <a:buSzPts val="3200"/>
                <a:buFont typeface="Times New Roman"/>
                <a:buNone/>
              </a:pPr>
              <a:r>
                <a:rPr b="1" lang="en-US" sz="3200">
                  <a:solidFill>
                    <a:schemeClr val="lt1"/>
                  </a:solidFill>
                  <a:latin typeface="Arial"/>
                  <a:ea typeface="Arial"/>
                  <a:cs typeface="Arial"/>
                  <a:sym typeface="Arial"/>
                </a:rPr>
                <a:t>Type of Business</a:t>
              </a:r>
              <a:endParaRPr sz="2400">
                <a:solidFill>
                  <a:schemeClr val="lt1"/>
                </a:solidFill>
                <a:latin typeface="Arial"/>
                <a:ea typeface="Arial"/>
                <a:cs typeface="Arial"/>
                <a:sym typeface="Arial"/>
              </a:endParaRPr>
            </a:p>
          </p:txBody>
        </p:sp>
        <p:sp>
          <p:nvSpPr>
            <p:cNvPr id="344" name="Google Shape;344;p26"/>
            <p:cNvSpPr/>
            <p:nvPr/>
          </p:nvSpPr>
          <p:spPr>
            <a:xfrm>
              <a:off x="3923008" y="2718124"/>
              <a:ext cx="3882919" cy="2329751"/>
            </a:xfrm>
            <a:prstGeom prst="rect">
              <a:avLst/>
            </a:prstGeom>
            <a:solidFill>
              <a:srgbClr val="2E75B5"/>
            </a:solidFill>
            <a:ln cap="flat" cmpd="sng" w="12700">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6"/>
            <p:cNvSpPr txBox="1"/>
            <p:nvPr/>
          </p:nvSpPr>
          <p:spPr>
            <a:xfrm>
              <a:off x="3923008" y="2718124"/>
              <a:ext cx="3882919" cy="2329751"/>
            </a:xfrm>
            <a:prstGeom prst="rect">
              <a:avLst/>
            </a:prstGeom>
            <a:noFill/>
            <a:ln>
              <a:noFill/>
            </a:ln>
          </p:spPr>
          <p:txBody>
            <a:bodyPr anchorCtr="0" anchor="ctr" bIns="137150" lIns="137150" spcFirstLastPara="1" rIns="137150" wrap="square" tIns="137150">
              <a:noAutofit/>
            </a:bodyPr>
            <a:lstStyle/>
            <a:p>
              <a:pPr indent="0" lvl="0" marL="0" marR="0" rtl="0" algn="ctr">
                <a:lnSpc>
                  <a:spcPct val="90000"/>
                </a:lnSpc>
                <a:spcBef>
                  <a:spcPts val="0"/>
                </a:spcBef>
                <a:spcAft>
                  <a:spcPts val="0"/>
                </a:spcAft>
                <a:buClr>
                  <a:schemeClr val="dk1"/>
                </a:buClr>
                <a:buSzPts val="3600"/>
                <a:buFont typeface="Arial"/>
                <a:buNone/>
              </a:pPr>
              <a:r>
                <a:rPr b="1" lang="en-US" sz="3600">
                  <a:solidFill>
                    <a:schemeClr val="dk1"/>
                  </a:solidFill>
                  <a:latin typeface="Arial"/>
                  <a:ea typeface="Arial"/>
                  <a:cs typeface="Arial"/>
                  <a:sym typeface="Arial"/>
                </a:rPr>
                <a:t>Management Style</a:t>
              </a:r>
              <a:endParaRPr sz="3000">
                <a:solidFill>
                  <a:schemeClr val="dk1"/>
                </a:solidFill>
                <a:latin typeface="Arial"/>
                <a:ea typeface="Arial"/>
                <a:cs typeface="Arial"/>
                <a:sym typeface="Arial"/>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pic>
        <p:nvPicPr>
          <p:cNvPr id="350" name="Google Shape;350;p27"/>
          <p:cNvPicPr preferRelativeResize="0"/>
          <p:nvPr/>
        </p:nvPicPr>
        <p:blipFill rotWithShape="1">
          <a:blip r:embed="rId3">
            <a:alphaModFix/>
          </a:blip>
          <a:srcRect b="0" l="0" r="0" t="0"/>
          <a:stretch/>
        </p:blipFill>
        <p:spPr>
          <a:xfrm>
            <a:off x="669701" y="0"/>
            <a:ext cx="11075831" cy="685799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t>Understanding Cultures</a:t>
            </a:r>
            <a:endParaRPr/>
          </a:p>
        </p:txBody>
      </p:sp>
      <p:sp>
        <p:nvSpPr>
          <p:cNvPr id="356" name="Google Shape;356;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600"/>
              <a:buChar char="•"/>
            </a:pPr>
            <a:r>
              <a:rPr lang="en-US" sz="3600">
                <a:latin typeface="Times New Roman"/>
                <a:ea typeface="Times New Roman"/>
                <a:cs typeface="Times New Roman"/>
                <a:sym typeface="Times New Roman"/>
              </a:rPr>
              <a:t>All cultures have both common features and distinctive differences that must be studied. People in different cultures have different ways of thinking, different ways of acting and different expectations in communication.</a:t>
            </a:r>
            <a:endParaRPr/>
          </a:p>
          <a:p>
            <a:pPr indent="-228600" lvl="0" marL="228600" rtl="0" algn="l">
              <a:lnSpc>
                <a:spcPct val="90000"/>
              </a:lnSpc>
              <a:spcBef>
                <a:spcPts val="1000"/>
              </a:spcBef>
              <a:spcAft>
                <a:spcPts val="0"/>
              </a:spcAft>
              <a:buClr>
                <a:schemeClr val="dk1"/>
              </a:buClr>
              <a:buSzPts val="3600"/>
              <a:buChar char="•"/>
            </a:pPr>
            <a:r>
              <a:rPr lang="en-US" sz="3600">
                <a:latin typeface="Times New Roman"/>
                <a:ea typeface="Times New Roman"/>
                <a:cs typeface="Times New Roman"/>
                <a:sym typeface="Times New Roman"/>
              </a:rPr>
              <a:t>One of the ways that differences between cultures can be understood is through the concepts of high-context cultures and low-context cultures. </a:t>
            </a:r>
            <a:endParaRPr/>
          </a:p>
          <a:p>
            <a:pPr indent="0" lvl="0" marL="0" rtl="0" algn="l">
              <a:lnSpc>
                <a:spcPct val="90000"/>
              </a:lnSpc>
              <a:spcBef>
                <a:spcPts val="1000"/>
              </a:spcBef>
              <a:spcAft>
                <a:spcPts val="0"/>
              </a:spcAft>
              <a:buClr>
                <a:schemeClr val="dk1"/>
              </a:buClr>
              <a:buSzPts val="3600"/>
              <a:buNone/>
            </a:pPr>
            <a:r>
              <a:t/>
            </a:r>
            <a:endParaRPr sz="36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a:t>High-Context Cultures</a:t>
            </a:r>
            <a:endParaRPr/>
          </a:p>
        </p:txBody>
      </p:sp>
      <p:sp>
        <p:nvSpPr>
          <p:cNvPr id="362" name="Google Shape;362;p29"/>
          <p:cNvSpPr txBox="1"/>
          <p:nvPr>
            <p:ph idx="1" type="body"/>
          </p:nvPr>
        </p:nvSpPr>
        <p:spPr>
          <a:xfrm>
            <a:off x="527537" y="1690688"/>
            <a:ext cx="11166231" cy="500905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High-context cultures are fairly homogeneous, with the culture providing a high degree of context for communication. Thus, communications may be less explicit because members of the culture share characteristics such as religion, ethnic background, and education.</a:t>
            </a:r>
            <a:endParaRPr/>
          </a:p>
          <a:p>
            <a:pPr indent="-228600" lvl="0" marL="228600" rtl="0" algn="l">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Important characteristics of high-context cultures include:</a:t>
            </a:r>
            <a:endParaRPr/>
          </a:p>
          <a:p>
            <a:pPr indent="0" lvl="1" marL="457200" rtl="0" algn="l">
              <a:lnSpc>
                <a:spcPct val="90000"/>
              </a:lnSpc>
              <a:spcBef>
                <a:spcPts val="500"/>
              </a:spcBef>
              <a:spcAft>
                <a:spcPts val="0"/>
              </a:spcAft>
              <a:buClr>
                <a:schemeClr val="dk1"/>
              </a:buClr>
              <a:buSzPts val="2400"/>
              <a:buNone/>
            </a:pPr>
            <a:r>
              <a:rPr lang="en-US">
                <a:latin typeface="Times New Roman"/>
                <a:ea typeface="Times New Roman"/>
                <a:cs typeface="Times New Roman"/>
                <a:sym typeface="Times New Roman"/>
              </a:rPr>
              <a:t>■ Clear distinctions between insiders and outsiders </a:t>
            </a:r>
            <a:endParaRPr/>
          </a:p>
          <a:p>
            <a:pPr indent="0" lvl="1" marL="457200" rtl="0" algn="l">
              <a:lnSpc>
                <a:spcPct val="90000"/>
              </a:lnSpc>
              <a:spcBef>
                <a:spcPts val="500"/>
              </a:spcBef>
              <a:spcAft>
                <a:spcPts val="0"/>
              </a:spcAft>
              <a:buClr>
                <a:schemeClr val="dk1"/>
              </a:buClr>
              <a:buSzPts val="2400"/>
              <a:buNone/>
            </a:pPr>
            <a:r>
              <a:rPr lang="en-US">
                <a:latin typeface="Times New Roman"/>
                <a:ea typeface="Times New Roman"/>
                <a:cs typeface="Times New Roman"/>
                <a:sym typeface="Times New Roman"/>
              </a:rPr>
              <a:t>■ A focus on maintaining relationships, on saving face, and on helping others save face </a:t>
            </a:r>
            <a:endParaRPr/>
          </a:p>
          <a:p>
            <a:pPr indent="0" lvl="1" marL="457200" rtl="0" algn="l">
              <a:lnSpc>
                <a:spcPct val="90000"/>
              </a:lnSpc>
              <a:spcBef>
                <a:spcPts val="500"/>
              </a:spcBef>
              <a:spcAft>
                <a:spcPts val="0"/>
              </a:spcAft>
              <a:buClr>
                <a:schemeClr val="dk1"/>
              </a:buClr>
              <a:buSzPts val="2400"/>
              <a:buNone/>
            </a:pPr>
            <a:r>
              <a:rPr lang="en-US">
                <a:latin typeface="Times New Roman"/>
                <a:ea typeface="Times New Roman"/>
                <a:cs typeface="Times New Roman"/>
                <a:sym typeface="Times New Roman"/>
              </a:rPr>
              <a:t>■ A dependence on internalized cultural norms to govern behavior.</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0"/>
          <p:cNvSpPr txBox="1"/>
          <p:nvPr>
            <p:ph type="title"/>
          </p:nvPr>
        </p:nvSpPr>
        <p:spPr>
          <a:xfrm>
            <a:off x="838200" y="16912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a:t>Low-Context Cultures</a:t>
            </a:r>
            <a:endParaRPr/>
          </a:p>
        </p:txBody>
      </p:sp>
      <p:sp>
        <p:nvSpPr>
          <p:cNvPr id="368" name="Google Shape;368;p30"/>
          <p:cNvSpPr txBox="1"/>
          <p:nvPr>
            <p:ph idx="1" type="body"/>
          </p:nvPr>
        </p:nvSpPr>
        <p:spPr>
          <a:xfrm>
            <a:off x="175846" y="1494692"/>
            <a:ext cx="11605846" cy="536330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Low-context cultures consist of diverse religions, ethnic backgrounds, and educational levels; as a result, communication must be explicit, because members of a group cannot assume that they share knowledge or attitudes. The culture provides a low degree of context for communication. The United States is an example of a low-context culture. </a:t>
            </a:r>
            <a:endParaRPr/>
          </a:p>
          <a:p>
            <a:pPr indent="-228600" lvl="0" marL="228600" rtl="0" algn="l">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Important characteristics that affect communication in low-context cultures include </a:t>
            </a:r>
            <a:endParaRPr/>
          </a:p>
          <a:p>
            <a:pPr indent="0" lvl="1" marL="457200" rtl="0" algn="l">
              <a:lnSpc>
                <a:spcPct val="90000"/>
              </a:lnSpc>
              <a:spcBef>
                <a:spcPts val="500"/>
              </a:spcBef>
              <a:spcAft>
                <a:spcPts val="0"/>
              </a:spcAft>
              <a:buClr>
                <a:schemeClr val="dk1"/>
              </a:buClr>
              <a:buSzPts val="2400"/>
              <a:buNone/>
            </a:pPr>
            <a:r>
              <a:rPr lang="en-US">
                <a:latin typeface="Times New Roman"/>
                <a:ea typeface="Times New Roman"/>
                <a:cs typeface="Times New Roman"/>
                <a:sym typeface="Times New Roman"/>
              </a:rPr>
              <a:t>■ Openness to outsiders </a:t>
            </a:r>
            <a:endParaRPr/>
          </a:p>
          <a:p>
            <a:pPr indent="0" lvl="1" marL="457200" rtl="0" algn="l">
              <a:lnSpc>
                <a:spcPct val="90000"/>
              </a:lnSpc>
              <a:spcBef>
                <a:spcPts val="500"/>
              </a:spcBef>
              <a:spcAft>
                <a:spcPts val="0"/>
              </a:spcAft>
              <a:buClr>
                <a:schemeClr val="dk1"/>
              </a:buClr>
              <a:buSzPts val="2400"/>
              <a:buNone/>
            </a:pPr>
            <a:r>
              <a:rPr lang="en-US">
                <a:latin typeface="Times New Roman"/>
                <a:ea typeface="Times New Roman"/>
                <a:cs typeface="Times New Roman"/>
                <a:sym typeface="Times New Roman"/>
              </a:rPr>
              <a:t>■ A focus on actions and solving problems, with a willingness to disagree openly </a:t>
            </a:r>
            <a:endParaRPr/>
          </a:p>
          <a:p>
            <a:pPr indent="0" lvl="1" marL="457200" rtl="0" algn="l">
              <a:lnSpc>
                <a:spcPct val="90000"/>
              </a:lnSpc>
              <a:spcBef>
                <a:spcPts val="500"/>
              </a:spcBef>
              <a:spcAft>
                <a:spcPts val="0"/>
              </a:spcAft>
              <a:buClr>
                <a:schemeClr val="dk1"/>
              </a:buClr>
              <a:buSzPts val="2400"/>
              <a:buNone/>
            </a:pPr>
            <a:r>
              <a:rPr lang="en-US">
                <a:latin typeface="Times New Roman"/>
                <a:ea typeface="Times New Roman"/>
                <a:cs typeface="Times New Roman"/>
                <a:sym typeface="Times New Roman"/>
              </a:rPr>
              <a:t>■ A dependence on formally established rules to govern behavior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pic>
        <p:nvPicPr>
          <p:cNvPr descr="What are the norms in low-context culture? - Quora" id="373" name="Google Shape;373;p31"/>
          <p:cNvPicPr preferRelativeResize="0"/>
          <p:nvPr/>
        </p:nvPicPr>
        <p:blipFill rotWithShape="1">
          <a:blip r:embed="rId3">
            <a:alphaModFix/>
          </a:blip>
          <a:srcRect b="0" l="0" r="0" t="0"/>
          <a:stretch/>
        </p:blipFill>
        <p:spPr>
          <a:xfrm>
            <a:off x="420460" y="587658"/>
            <a:ext cx="11596526" cy="5682683"/>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2"/>
          <p:cNvSpPr txBox="1"/>
          <p:nvPr>
            <p:ph idx="1" type="body"/>
          </p:nvPr>
        </p:nvSpPr>
        <p:spPr>
          <a:xfrm>
            <a:off x="495301" y="845909"/>
            <a:ext cx="5970814" cy="5293634"/>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3600"/>
              <a:buNone/>
            </a:pPr>
            <a:r>
              <a:rPr lang="en-US" sz="3600">
                <a:latin typeface="Times New Roman"/>
                <a:ea typeface="Times New Roman"/>
                <a:cs typeface="Times New Roman"/>
                <a:sym typeface="Times New Roman"/>
              </a:rPr>
              <a:t>The concept of </a:t>
            </a:r>
            <a:r>
              <a:rPr b="1" lang="en-US" sz="3600">
                <a:solidFill>
                  <a:srgbClr val="002060"/>
                </a:solidFill>
                <a:latin typeface="Times New Roman"/>
                <a:ea typeface="Times New Roman"/>
                <a:cs typeface="Times New Roman"/>
                <a:sym typeface="Times New Roman"/>
              </a:rPr>
              <a:t>low-context</a:t>
            </a:r>
            <a:r>
              <a:rPr lang="en-US" sz="3600">
                <a:latin typeface="Times New Roman"/>
                <a:ea typeface="Times New Roman"/>
                <a:cs typeface="Times New Roman"/>
                <a:sym typeface="Times New Roman"/>
              </a:rPr>
              <a:t> and </a:t>
            </a:r>
            <a:r>
              <a:rPr b="1" lang="en-US" sz="3600">
                <a:solidFill>
                  <a:srgbClr val="002060"/>
                </a:solidFill>
                <a:latin typeface="Times New Roman"/>
                <a:ea typeface="Times New Roman"/>
                <a:cs typeface="Times New Roman"/>
                <a:sym typeface="Times New Roman"/>
              </a:rPr>
              <a:t>high-context</a:t>
            </a:r>
            <a:r>
              <a:rPr lang="en-US" sz="3600">
                <a:latin typeface="Times New Roman"/>
                <a:ea typeface="Times New Roman"/>
                <a:cs typeface="Times New Roman"/>
                <a:sym typeface="Times New Roman"/>
              </a:rPr>
              <a:t> cultures offers a general way of thinking about how to relate to clients and colleagues in other cultures and countries, but if you find yourself working in a global, intercultural setting, you should understand the specific cultural practices of those you are working with.</a:t>
            </a:r>
            <a:endParaRPr/>
          </a:p>
        </p:txBody>
      </p:sp>
      <p:pic>
        <p:nvPicPr>
          <p:cNvPr id="380" name="Google Shape;380;p32"/>
          <p:cNvPicPr preferRelativeResize="0"/>
          <p:nvPr/>
        </p:nvPicPr>
        <p:blipFill rotWithShape="1">
          <a:blip r:embed="rId3">
            <a:alphaModFix/>
          </a:blip>
          <a:srcRect b="0" l="0" r="0" t="0"/>
          <a:stretch/>
        </p:blipFill>
        <p:spPr>
          <a:xfrm>
            <a:off x="6466115" y="1603847"/>
            <a:ext cx="5643998" cy="2743237"/>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3"/>
          <p:cNvSpPr txBox="1"/>
          <p:nvPr>
            <p:ph idx="1" type="body"/>
          </p:nvPr>
        </p:nvSpPr>
        <p:spPr>
          <a:xfrm>
            <a:off x="631065" y="1184856"/>
            <a:ext cx="10722735" cy="4992107"/>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Char char="•"/>
            </a:pPr>
            <a:r>
              <a:rPr lang="en-US" sz="3200">
                <a:latin typeface="Times New Roman"/>
                <a:ea typeface="Times New Roman"/>
                <a:cs typeface="Times New Roman"/>
                <a:sym typeface="Times New Roman"/>
              </a:rPr>
              <a:t>When writing documents for other cultures, remember that your work will not be read in the cultural context in which it was written. </a:t>
            </a:r>
            <a:endParaRPr/>
          </a:p>
          <a:p>
            <a:pPr indent="-228600" lvl="0" marL="228600" rtl="0" algn="l">
              <a:lnSpc>
                <a:spcPct val="90000"/>
              </a:lnSpc>
              <a:spcBef>
                <a:spcPts val="1000"/>
              </a:spcBef>
              <a:spcAft>
                <a:spcPts val="0"/>
              </a:spcAft>
              <a:buClr>
                <a:schemeClr val="dk1"/>
              </a:buClr>
              <a:buSzPct val="100000"/>
              <a:buChar char="•"/>
            </a:pPr>
            <a:r>
              <a:rPr lang="en-US" sz="3200">
                <a:latin typeface="Times New Roman"/>
                <a:ea typeface="Times New Roman"/>
                <a:cs typeface="Times New Roman"/>
                <a:sym typeface="Times New Roman"/>
              </a:rPr>
              <a:t>For that matter, you may lose control of the document altogether if it is translated into a language that you do not know. </a:t>
            </a:r>
            <a:endParaRPr/>
          </a:p>
          <a:p>
            <a:pPr indent="-228600" lvl="0" marL="228600" rtl="0" algn="l">
              <a:lnSpc>
                <a:spcPct val="90000"/>
              </a:lnSpc>
              <a:spcBef>
                <a:spcPts val="1000"/>
              </a:spcBef>
              <a:spcAft>
                <a:spcPts val="0"/>
              </a:spcAft>
              <a:buClr>
                <a:schemeClr val="dk1"/>
              </a:buClr>
              <a:buSzPct val="100000"/>
              <a:buChar char="•"/>
            </a:pPr>
            <a:r>
              <a:rPr lang="en-US" sz="3200">
                <a:latin typeface="Times New Roman"/>
                <a:ea typeface="Times New Roman"/>
                <a:cs typeface="Times New Roman"/>
                <a:sym typeface="Times New Roman"/>
              </a:rPr>
              <a:t>In order to help solve this problem, organizations such as Intecom and the AeroSpace and Defence Industries Association of Europe have worked to develop and promote Simplified English, also known as Controlled English. The goal of Simplified English is to eliminate ambiguity, improve translation, and make reading English easier for nonnative English speakers.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br>
              <a:rPr lang="en-US"/>
            </a:br>
            <a:r>
              <a:rPr lang="en-US"/>
              <a:t>Following are some basic guidelines to reduce the risk of misunderstanding:</a:t>
            </a:r>
            <a:br>
              <a:rPr lang="en-US"/>
            </a:br>
            <a:endParaRPr/>
          </a:p>
        </p:txBody>
      </p:sp>
      <p:sp>
        <p:nvSpPr>
          <p:cNvPr id="391" name="Google Shape;391;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Simplify grammar and style rules. </a:t>
            </a:r>
            <a:endParaRPr/>
          </a:p>
          <a:p>
            <a:pPr indent="-228600" lvl="0" marL="228600" rtl="0" algn="l">
              <a:lnSpc>
                <a:spcPct val="90000"/>
              </a:lnSpc>
              <a:spcBef>
                <a:spcPts val="1000"/>
              </a:spcBef>
              <a:spcAft>
                <a:spcPts val="0"/>
              </a:spcAft>
              <a:buClr>
                <a:schemeClr val="dk1"/>
              </a:buClr>
              <a:buSzPts val="2800"/>
              <a:buChar char="•"/>
            </a:pPr>
            <a:r>
              <a:rPr lang="en-US"/>
              <a:t>Use simple verb tenses and verb constructions. </a:t>
            </a:r>
            <a:endParaRPr/>
          </a:p>
          <a:p>
            <a:pPr indent="-228600" lvl="0" marL="228600" rtl="0" algn="l">
              <a:lnSpc>
                <a:spcPct val="90000"/>
              </a:lnSpc>
              <a:spcBef>
                <a:spcPts val="1000"/>
              </a:spcBef>
              <a:spcAft>
                <a:spcPts val="0"/>
              </a:spcAft>
              <a:buClr>
                <a:schemeClr val="dk1"/>
              </a:buClr>
              <a:buSzPts val="2800"/>
              <a:buChar char="•"/>
            </a:pPr>
            <a:r>
              <a:rPr lang="en-US"/>
              <a:t>Limit vocabulary to words with clear meanings. </a:t>
            </a:r>
            <a:endParaRPr/>
          </a:p>
          <a:p>
            <a:pPr indent="-228600" lvl="0" marL="228600" rtl="0" algn="l">
              <a:lnSpc>
                <a:spcPct val="90000"/>
              </a:lnSpc>
              <a:spcBef>
                <a:spcPts val="1000"/>
              </a:spcBef>
              <a:spcAft>
                <a:spcPts val="0"/>
              </a:spcAft>
              <a:buClr>
                <a:schemeClr val="dk1"/>
              </a:buClr>
              <a:buSzPts val="2800"/>
              <a:buChar char="•"/>
            </a:pPr>
            <a:r>
              <a:rPr lang="en-US"/>
              <a:t>Use language and terminology consistently. </a:t>
            </a:r>
            <a:endParaRPr/>
          </a:p>
          <a:p>
            <a:pPr indent="-228600" lvl="0" marL="228600" rtl="0" algn="l">
              <a:lnSpc>
                <a:spcPct val="90000"/>
              </a:lnSpc>
              <a:spcBef>
                <a:spcPts val="1000"/>
              </a:spcBef>
              <a:spcAft>
                <a:spcPts val="0"/>
              </a:spcAft>
              <a:buClr>
                <a:schemeClr val="dk1"/>
              </a:buClr>
              <a:buSzPts val="2800"/>
              <a:buChar char="•"/>
            </a:pPr>
            <a:r>
              <a:rPr lang="en-US"/>
              <a:t>Define technical terms. </a:t>
            </a:r>
            <a:endParaRPr/>
          </a:p>
          <a:p>
            <a:pPr indent="-228600" lvl="0" marL="228600" rtl="0" algn="l">
              <a:lnSpc>
                <a:spcPct val="90000"/>
              </a:lnSpc>
              <a:spcBef>
                <a:spcPts val="1000"/>
              </a:spcBef>
              <a:spcAft>
                <a:spcPts val="0"/>
              </a:spcAft>
              <a:buClr>
                <a:schemeClr val="dk1"/>
              </a:buClr>
              <a:buSzPts val="2800"/>
              <a:buChar char="•"/>
            </a:pPr>
            <a:r>
              <a:rPr lang="en-US"/>
              <a:t>Avoid slang terms and idioms. </a:t>
            </a:r>
            <a:endParaRPr/>
          </a:p>
          <a:p>
            <a:pPr indent="-228600" lvl="0" marL="228600" rtl="0" algn="l">
              <a:lnSpc>
                <a:spcPct val="90000"/>
              </a:lnSpc>
              <a:spcBef>
                <a:spcPts val="1000"/>
              </a:spcBef>
              <a:spcAft>
                <a:spcPts val="0"/>
              </a:spcAft>
              <a:buClr>
                <a:schemeClr val="dk1"/>
              </a:buClr>
              <a:buSzPts val="2800"/>
              <a:buChar char="•"/>
            </a:pPr>
            <a:r>
              <a:rPr lang="en-US"/>
              <a:t> Include visuals.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5"/>
          <p:cNvSpPr txBox="1"/>
          <p:nvPr>
            <p:ph type="title"/>
          </p:nvPr>
        </p:nvSpPr>
        <p:spPr>
          <a:xfrm>
            <a:off x="218941" y="175847"/>
            <a:ext cx="11629621"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lang="en-US"/>
              <a:t> </a:t>
            </a:r>
            <a:br>
              <a:rPr lang="en-US"/>
            </a:br>
            <a:br>
              <a:rPr lang="en-US"/>
            </a:br>
            <a:r>
              <a:rPr b="1" lang="en-US" sz="4000">
                <a:solidFill>
                  <a:srgbClr val="002060"/>
                </a:solidFill>
              </a:rPr>
              <a:t>Case Study: Intercultural Communication in a Global Business Environment</a:t>
            </a:r>
            <a:br>
              <a:rPr lang="en-US" sz="4000"/>
            </a:br>
            <a:r>
              <a:rPr lang="en-US"/>
              <a:t> </a:t>
            </a:r>
            <a:br>
              <a:rPr lang="en-US"/>
            </a:br>
            <a:endParaRPr/>
          </a:p>
        </p:txBody>
      </p:sp>
      <p:sp>
        <p:nvSpPr>
          <p:cNvPr id="398" name="Google Shape;398;p35"/>
          <p:cNvSpPr txBox="1"/>
          <p:nvPr>
            <p:ph idx="1" type="body"/>
          </p:nvPr>
        </p:nvSpPr>
        <p:spPr>
          <a:xfrm>
            <a:off x="218941" y="1501410"/>
            <a:ext cx="11754118" cy="5180743"/>
          </a:xfrm>
          <a:prstGeom prst="rect">
            <a:avLst/>
          </a:prstGeom>
          <a:solidFill>
            <a:srgbClr val="DDEAF6"/>
          </a:solid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chemeClr val="dk1"/>
              </a:buClr>
              <a:buSzPct val="100000"/>
              <a:buNone/>
            </a:pPr>
            <a:r>
              <a:rPr lang="en-US">
                <a:latin typeface="Times New Roman"/>
                <a:ea typeface="Times New Roman"/>
                <a:cs typeface="Times New Roman"/>
                <a:sym typeface="Times New Roman"/>
              </a:rPr>
              <a:t>GlobalTech Solutions (GTS) is a multinational technology company headquartered in the United States, with offices in Europe, Asia, and South America. The company specializes in software development, IT consulting, and digital transformation services. GTS recently acquired a smaller tech firm, TechInnovate, based in Pakistan, to expand its market presence in Asia. As part of the acquisition, GTS plans to integrate TechInnovate’s employees into its global operations. This integration involves a series of virtual meetings, cross-cultural training sessions, and collaborative projects between teams in the U.S. and Pakistan.</a:t>
            </a:r>
            <a:endParaRPr/>
          </a:p>
          <a:p>
            <a:pPr indent="0" lvl="0" marL="0" rtl="0" algn="l">
              <a:lnSpc>
                <a:spcPct val="90000"/>
              </a:lnSpc>
              <a:spcBef>
                <a:spcPts val="1000"/>
              </a:spcBef>
              <a:spcAft>
                <a:spcPts val="0"/>
              </a:spcAft>
              <a:buClr>
                <a:schemeClr val="dk1"/>
              </a:buClr>
              <a:buSzPct val="100000"/>
              <a:buNone/>
            </a:pPr>
            <a:r>
              <a:rPr lang="en-US">
                <a:latin typeface="Times New Roman"/>
                <a:ea typeface="Times New Roman"/>
                <a:cs typeface="Times New Roman"/>
                <a:sym typeface="Times New Roman"/>
              </a:rPr>
              <a:t>In the first virtual meeting between the U.S. and Pakistani teams, several communication issues arise. The American team notices that their Pakistani counterparts are unusually quiet during discussions. They rarely voice their opinions or disagree with any points made. Meanwhile, the Pakistani team feels that the American team is overly direct and somewhat aggressive in their approach, which makes them uncomfortable.</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36"/>
          <p:cNvSpPr txBox="1"/>
          <p:nvPr>
            <p:ph idx="1" type="body"/>
          </p:nvPr>
        </p:nvSpPr>
        <p:spPr>
          <a:xfrm>
            <a:off x="636814" y="653143"/>
            <a:ext cx="10716986" cy="552382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None/>
            </a:pPr>
            <a:r>
              <a:rPr lang="en-US" sz="3200">
                <a:latin typeface="Times New Roman"/>
                <a:ea typeface="Times New Roman"/>
                <a:cs typeface="Times New Roman"/>
                <a:sym typeface="Times New Roman"/>
              </a:rPr>
              <a:t>Key Players: </a:t>
            </a:r>
            <a:endParaRPr/>
          </a:p>
          <a:p>
            <a:pPr indent="-228600" lvl="0" marL="228600" rtl="0" algn="l">
              <a:lnSpc>
                <a:spcPct val="90000"/>
              </a:lnSpc>
              <a:spcBef>
                <a:spcPts val="1000"/>
              </a:spcBef>
              <a:spcAft>
                <a:spcPts val="0"/>
              </a:spcAft>
              <a:buClr>
                <a:schemeClr val="dk1"/>
              </a:buClr>
              <a:buSzPts val="3200"/>
              <a:buChar char="•"/>
            </a:pPr>
            <a:r>
              <a:rPr lang="en-US" sz="3200">
                <a:latin typeface="Times New Roman"/>
                <a:ea typeface="Times New Roman"/>
                <a:cs typeface="Times New Roman"/>
                <a:sym typeface="Times New Roman"/>
              </a:rPr>
              <a:t>John Davis: Project Manager from the U.S. team, known for his direct communication style.</a:t>
            </a:r>
            <a:endParaRPr/>
          </a:p>
          <a:p>
            <a:pPr indent="-228600" lvl="0" marL="228600" rtl="0" algn="l">
              <a:lnSpc>
                <a:spcPct val="90000"/>
              </a:lnSpc>
              <a:spcBef>
                <a:spcPts val="1000"/>
              </a:spcBef>
              <a:spcAft>
                <a:spcPts val="0"/>
              </a:spcAft>
              <a:buClr>
                <a:schemeClr val="dk1"/>
              </a:buClr>
              <a:buSzPts val="3200"/>
              <a:buChar char="•"/>
            </a:pPr>
            <a:r>
              <a:rPr lang="en-US" sz="3200">
                <a:latin typeface="Times New Roman"/>
                <a:ea typeface="Times New Roman"/>
                <a:cs typeface="Times New Roman"/>
                <a:sym typeface="Times New Roman"/>
              </a:rPr>
              <a:t>Saba Ali: Senior Developer from the Pakistani team, values harmony and prefers a consensus-driven approach.</a:t>
            </a:r>
            <a:endParaRPr/>
          </a:p>
          <a:p>
            <a:pPr indent="-228600" lvl="0" marL="228600" rtl="0" algn="l">
              <a:lnSpc>
                <a:spcPct val="90000"/>
              </a:lnSpc>
              <a:spcBef>
                <a:spcPts val="1000"/>
              </a:spcBef>
              <a:spcAft>
                <a:spcPts val="0"/>
              </a:spcAft>
              <a:buClr>
                <a:schemeClr val="dk1"/>
              </a:buClr>
              <a:buSzPts val="3200"/>
              <a:buChar char="•"/>
            </a:pPr>
            <a:r>
              <a:rPr lang="en-US" sz="3200">
                <a:latin typeface="Times New Roman"/>
                <a:ea typeface="Times New Roman"/>
                <a:cs typeface="Times New Roman"/>
                <a:sym typeface="Times New Roman"/>
              </a:rPr>
              <a:t>Sarah Lee: HR Manager at GTS, responsible for overseeing the integration process.</a:t>
            </a:r>
            <a:endParaRPr/>
          </a:p>
          <a:p>
            <a:pPr indent="-228600" lvl="0" marL="228600" rtl="0" algn="l">
              <a:lnSpc>
                <a:spcPct val="90000"/>
              </a:lnSpc>
              <a:spcBef>
                <a:spcPts val="1000"/>
              </a:spcBef>
              <a:spcAft>
                <a:spcPts val="0"/>
              </a:spcAft>
              <a:buClr>
                <a:schemeClr val="dk1"/>
              </a:buClr>
              <a:buSzPts val="3200"/>
              <a:buChar char="•"/>
            </a:pPr>
            <a:r>
              <a:rPr lang="en-US" sz="3200">
                <a:latin typeface="Times New Roman"/>
                <a:ea typeface="Times New Roman"/>
                <a:cs typeface="Times New Roman"/>
                <a:sym typeface="Times New Roman"/>
              </a:rPr>
              <a:t>Aslam Khan : HR Manager at TechInnovate, tasked with supporting the transition.</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a:t>Questions: </a:t>
            </a:r>
            <a:endParaRPr/>
          </a:p>
        </p:txBody>
      </p:sp>
      <p:sp>
        <p:nvSpPr>
          <p:cNvPr id="409" name="Google Shape;409;p37"/>
          <p:cNvSpPr txBox="1"/>
          <p:nvPr>
            <p:ph idx="1" type="body"/>
          </p:nvPr>
        </p:nvSpPr>
        <p:spPr>
          <a:xfrm>
            <a:off x="685800" y="1690688"/>
            <a:ext cx="11021786" cy="502035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None/>
            </a:pPr>
            <a:r>
              <a:rPr b="1" lang="en-US" sz="3200">
                <a:latin typeface="Times New Roman"/>
                <a:ea typeface="Times New Roman"/>
                <a:cs typeface="Times New Roman"/>
                <a:sym typeface="Times New Roman"/>
              </a:rPr>
              <a:t>Question 1: </a:t>
            </a:r>
            <a:r>
              <a:rPr lang="en-US" sz="3200">
                <a:latin typeface="Times New Roman"/>
                <a:ea typeface="Times New Roman"/>
                <a:cs typeface="Times New Roman"/>
                <a:sym typeface="Times New Roman"/>
              </a:rPr>
              <a:t>What are the key cultural differences in communication styles between the U.S. and Japanese teams?</a:t>
            </a:r>
            <a:endParaRPr/>
          </a:p>
          <a:p>
            <a:pPr indent="0" lvl="0" marL="0" rtl="0" algn="l">
              <a:lnSpc>
                <a:spcPct val="90000"/>
              </a:lnSpc>
              <a:spcBef>
                <a:spcPts val="1000"/>
              </a:spcBef>
              <a:spcAft>
                <a:spcPts val="0"/>
              </a:spcAft>
              <a:buClr>
                <a:schemeClr val="dk1"/>
              </a:buClr>
              <a:buSzPts val="3200"/>
              <a:buNone/>
            </a:pPr>
            <a:r>
              <a:rPr b="1" lang="en-US" sz="3200">
                <a:latin typeface="Times New Roman"/>
                <a:ea typeface="Times New Roman"/>
                <a:cs typeface="Times New Roman"/>
                <a:sym typeface="Times New Roman"/>
              </a:rPr>
              <a:t>Question 2: </a:t>
            </a:r>
            <a:r>
              <a:rPr lang="en-US" sz="3200">
                <a:latin typeface="Times New Roman"/>
                <a:ea typeface="Times New Roman"/>
                <a:cs typeface="Times New Roman"/>
                <a:sym typeface="Times New Roman"/>
              </a:rPr>
              <a:t>How can GTS facilitate better communication between the teams?</a:t>
            </a:r>
            <a:endParaRPr/>
          </a:p>
          <a:p>
            <a:pPr indent="0" lvl="0" marL="0" rtl="0" algn="l">
              <a:lnSpc>
                <a:spcPct val="90000"/>
              </a:lnSpc>
              <a:spcBef>
                <a:spcPts val="1000"/>
              </a:spcBef>
              <a:spcAft>
                <a:spcPts val="0"/>
              </a:spcAft>
              <a:buClr>
                <a:schemeClr val="dk1"/>
              </a:buClr>
              <a:buSzPts val="3200"/>
              <a:buNone/>
            </a:pPr>
            <a:r>
              <a:rPr b="1" lang="en-US" sz="3200">
                <a:latin typeface="Times New Roman"/>
                <a:ea typeface="Times New Roman"/>
                <a:cs typeface="Times New Roman"/>
                <a:sym typeface="Times New Roman"/>
              </a:rPr>
              <a:t>Question 3:</a:t>
            </a:r>
            <a:r>
              <a:rPr lang="en-US" sz="3200">
                <a:latin typeface="Times New Roman"/>
                <a:ea typeface="Times New Roman"/>
                <a:cs typeface="Times New Roman"/>
                <a:sym typeface="Times New Roman"/>
              </a:rPr>
              <a:t>What strategies can John and Saba use to improve their collaboration?</a:t>
            </a:r>
            <a:endParaRPr/>
          </a:p>
          <a:p>
            <a:pPr indent="0" lvl="0" marL="0" rtl="0" algn="l">
              <a:lnSpc>
                <a:spcPct val="90000"/>
              </a:lnSpc>
              <a:spcBef>
                <a:spcPts val="1000"/>
              </a:spcBef>
              <a:spcAft>
                <a:spcPts val="0"/>
              </a:spcAft>
              <a:buClr>
                <a:schemeClr val="dk1"/>
              </a:buClr>
              <a:buSzPts val="3200"/>
              <a:buNone/>
            </a:pPr>
            <a:r>
              <a:rPr b="1" lang="en-US" sz="3200">
                <a:latin typeface="Times New Roman"/>
                <a:ea typeface="Times New Roman"/>
                <a:cs typeface="Times New Roman"/>
                <a:sym typeface="Times New Roman"/>
              </a:rPr>
              <a:t>Question 4: </a:t>
            </a:r>
            <a:r>
              <a:rPr lang="en-US" sz="3200">
                <a:latin typeface="Times New Roman"/>
                <a:ea typeface="Times New Roman"/>
                <a:cs typeface="Times New Roman"/>
                <a:sym typeface="Times New Roman"/>
              </a:rPr>
              <a:t>How can the HR managers, Sarah and Aslam, support a smoother integration process?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a:t>Ethics in the Workplace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39"/>
          <p:cNvSpPr txBox="1"/>
          <p:nvPr>
            <p:ph idx="1" type="body"/>
          </p:nvPr>
        </p:nvSpPr>
        <p:spPr>
          <a:xfrm>
            <a:off x="391886" y="489856"/>
            <a:ext cx="11609614" cy="636814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None/>
            </a:pPr>
            <a:r>
              <a:rPr lang="en-US" sz="3200">
                <a:latin typeface="Times New Roman"/>
                <a:ea typeface="Times New Roman"/>
                <a:cs typeface="Times New Roman"/>
                <a:sym typeface="Times New Roman"/>
              </a:rPr>
              <a:t>Ethical behavior enables employees to act with equity, fairness, impartiality and respect for the rights of others.</a:t>
            </a:r>
            <a:endParaRPr/>
          </a:p>
          <a:p>
            <a:pPr indent="0" lvl="0" marL="0" rtl="0" algn="l">
              <a:lnSpc>
                <a:spcPct val="90000"/>
              </a:lnSpc>
              <a:spcBef>
                <a:spcPts val="1000"/>
              </a:spcBef>
              <a:spcAft>
                <a:spcPts val="0"/>
              </a:spcAft>
              <a:buClr>
                <a:schemeClr val="dk1"/>
              </a:buClr>
              <a:buSzPts val="3200"/>
              <a:buNone/>
            </a:pPr>
            <a:r>
              <a:t/>
            </a:r>
            <a:endParaRPr sz="32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3200"/>
              <a:buNone/>
            </a:pPr>
            <a:r>
              <a:rPr lang="en-US" sz="3200">
                <a:latin typeface="Times New Roman"/>
                <a:ea typeface="Times New Roman"/>
                <a:cs typeface="Times New Roman"/>
                <a:sym typeface="Times New Roman"/>
              </a:rPr>
              <a:t>Ethical business communicators make choices that enable them to: </a:t>
            </a:r>
            <a:endParaRPr/>
          </a:p>
          <a:p>
            <a:pPr indent="-228600" lvl="1" marL="685800" rtl="0" algn="l">
              <a:lnSpc>
                <a:spcPct val="90000"/>
              </a:lnSpc>
              <a:spcBef>
                <a:spcPts val="500"/>
              </a:spcBef>
              <a:spcAft>
                <a:spcPts val="0"/>
              </a:spcAft>
              <a:buClr>
                <a:schemeClr val="dk1"/>
              </a:buClr>
              <a:buSzPts val="3200"/>
              <a:buChar char="•"/>
            </a:pPr>
            <a:r>
              <a:rPr lang="en-US" sz="3200">
                <a:latin typeface="Times New Roman"/>
                <a:ea typeface="Times New Roman"/>
                <a:cs typeface="Times New Roman"/>
                <a:sym typeface="Times New Roman"/>
              </a:rPr>
              <a:t>follow the organization's policies, procedures, guidelines and code of ethics </a:t>
            </a:r>
            <a:endParaRPr/>
          </a:p>
          <a:p>
            <a:pPr indent="-228600" lvl="1" marL="685800" rtl="0" algn="l">
              <a:lnSpc>
                <a:spcPct val="90000"/>
              </a:lnSpc>
              <a:spcBef>
                <a:spcPts val="500"/>
              </a:spcBef>
              <a:spcAft>
                <a:spcPts val="0"/>
              </a:spcAft>
              <a:buClr>
                <a:schemeClr val="dk1"/>
              </a:buClr>
              <a:buSzPts val="3200"/>
              <a:buChar char="•"/>
            </a:pPr>
            <a:r>
              <a:rPr lang="en-US" sz="3200">
                <a:latin typeface="Times New Roman"/>
                <a:ea typeface="Times New Roman"/>
                <a:cs typeface="Times New Roman"/>
                <a:sym typeface="Times New Roman"/>
              </a:rPr>
              <a:t>Communicate factual information objectively</a:t>
            </a:r>
            <a:endParaRPr/>
          </a:p>
          <a:p>
            <a:pPr indent="-228600" lvl="1" marL="685800" rtl="0" algn="l">
              <a:lnSpc>
                <a:spcPct val="90000"/>
              </a:lnSpc>
              <a:spcBef>
                <a:spcPts val="500"/>
              </a:spcBef>
              <a:spcAft>
                <a:spcPts val="0"/>
              </a:spcAft>
              <a:buClr>
                <a:schemeClr val="dk1"/>
              </a:buClr>
              <a:buSzPts val="3200"/>
              <a:buChar char="•"/>
            </a:pPr>
            <a:r>
              <a:rPr lang="en-US" sz="3200">
                <a:latin typeface="Times New Roman"/>
                <a:ea typeface="Times New Roman"/>
                <a:cs typeface="Times New Roman"/>
                <a:sym typeface="Times New Roman"/>
              </a:rPr>
              <a:t> avoid using distortions of fact and misleading information </a:t>
            </a:r>
            <a:endParaRPr/>
          </a:p>
          <a:p>
            <a:pPr indent="-228600" lvl="1" marL="685800" rtl="0" algn="l">
              <a:lnSpc>
                <a:spcPct val="90000"/>
              </a:lnSpc>
              <a:spcBef>
                <a:spcPts val="500"/>
              </a:spcBef>
              <a:spcAft>
                <a:spcPts val="0"/>
              </a:spcAft>
              <a:buClr>
                <a:schemeClr val="dk1"/>
              </a:buClr>
              <a:buSzPts val="3200"/>
              <a:buChar char="•"/>
            </a:pPr>
            <a:r>
              <a:rPr lang="en-US" sz="3200">
                <a:latin typeface="Times New Roman"/>
                <a:ea typeface="Times New Roman"/>
                <a:cs typeface="Times New Roman"/>
                <a:sym typeface="Times New Roman"/>
              </a:rPr>
              <a:t> respect the dignity of each person, irrespective of ethnic background, religion or gender</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a:t>Documents should pass the </a:t>
            </a:r>
            <a:r>
              <a:rPr b="1" lang="en-US">
                <a:solidFill>
                  <a:srgbClr val="002060"/>
                </a:solidFill>
                <a:latin typeface="Quattrocento Sans"/>
                <a:ea typeface="Quattrocento Sans"/>
                <a:cs typeface="Quattrocento Sans"/>
                <a:sym typeface="Quattrocento Sans"/>
              </a:rPr>
              <a:t>ETHICS</a:t>
            </a:r>
            <a:r>
              <a:rPr lang="en-US"/>
              <a:t> test.</a:t>
            </a:r>
            <a:endParaRPr/>
          </a:p>
        </p:txBody>
      </p:sp>
      <p:sp>
        <p:nvSpPr>
          <p:cNvPr id="425" name="Google Shape;425;p4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None/>
            </a:pPr>
            <a:r>
              <a:rPr lang="en-US" sz="3600">
                <a:latin typeface="Times New Roman"/>
                <a:ea typeface="Times New Roman"/>
                <a:cs typeface="Times New Roman"/>
                <a:sym typeface="Times New Roman"/>
              </a:rPr>
              <a:t>The online Encyclopedia Britannica defines ethics as “</a:t>
            </a:r>
            <a:r>
              <a:rPr b="1" lang="en-US" sz="3600">
                <a:latin typeface="Times New Roman"/>
                <a:ea typeface="Times New Roman"/>
                <a:cs typeface="Times New Roman"/>
                <a:sym typeface="Times New Roman"/>
              </a:rPr>
              <a:t>the discipline concerned with what is morally good and bad, right and wrong</a:t>
            </a:r>
            <a:r>
              <a:rPr lang="en-US" sz="3600">
                <a:latin typeface="Times New Roman"/>
                <a:ea typeface="Times New Roman"/>
                <a:cs typeface="Times New Roman"/>
                <a:sym typeface="Times New Roman"/>
              </a:rPr>
              <a:t>.”</a:t>
            </a:r>
            <a:endParaRPr/>
          </a:p>
          <a:p>
            <a:pPr indent="0" lvl="0" marL="228600" rtl="0" algn="l">
              <a:lnSpc>
                <a:spcPct val="90000"/>
              </a:lnSpc>
              <a:spcBef>
                <a:spcPts val="1000"/>
              </a:spcBef>
              <a:spcAft>
                <a:spcPts val="0"/>
              </a:spcAft>
              <a:buClr>
                <a:schemeClr val="dk1"/>
              </a:buClr>
              <a:buSzPts val="3600"/>
              <a:buNone/>
            </a:pPr>
            <a:r>
              <a:t/>
            </a:r>
            <a:endParaRPr sz="36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41"/>
          <p:cNvSpPr txBox="1"/>
          <p:nvPr>
            <p:ph idx="1" type="body"/>
          </p:nvPr>
        </p:nvSpPr>
        <p:spPr>
          <a:xfrm>
            <a:off x="749709" y="365535"/>
            <a:ext cx="10783530" cy="2731626"/>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50000"/>
              </a:lnSpc>
              <a:spcBef>
                <a:spcPts val="0"/>
              </a:spcBef>
              <a:spcAft>
                <a:spcPts val="0"/>
              </a:spcAft>
              <a:buClr>
                <a:schemeClr val="dk1"/>
              </a:buClr>
              <a:buSzPct val="100000"/>
              <a:buNone/>
            </a:pPr>
            <a:r>
              <a:rPr lang="en-US" sz="3100"/>
              <a:t>“our product is just what you need”</a:t>
            </a:r>
            <a:endParaRPr/>
          </a:p>
          <a:p>
            <a:pPr indent="0" lvl="0" marL="0" rtl="0" algn="l">
              <a:lnSpc>
                <a:spcPct val="150000"/>
              </a:lnSpc>
              <a:spcBef>
                <a:spcPts val="1000"/>
              </a:spcBef>
              <a:spcAft>
                <a:spcPts val="0"/>
              </a:spcAft>
              <a:buClr>
                <a:schemeClr val="dk1"/>
              </a:buClr>
              <a:buSzPct val="100000"/>
              <a:buNone/>
            </a:pPr>
            <a:r>
              <a:rPr lang="en-US" sz="3100"/>
              <a:t>“our artificial sweetener is composed of proteins that occur naturally in the human body [amino acids].”</a:t>
            </a:r>
            <a:endParaRPr/>
          </a:p>
          <a:p>
            <a:pPr indent="0" lvl="0" marL="0" rtl="0" algn="l">
              <a:lnSpc>
                <a:spcPct val="150000"/>
              </a:lnSpc>
              <a:spcBef>
                <a:spcPts val="1000"/>
              </a:spcBef>
              <a:spcAft>
                <a:spcPts val="0"/>
              </a:spcAft>
              <a:buClr>
                <a:schemeClr val="dk1"/>
              </a:buClr>
              <a:buSzPct val="100000"/>
              <a:buNone/>
            </a:pPr>
            <a:r>
              <a:rPr lang="en-US" sz="3100"/>
              <a:t>“our Krunchy Cookies contain no cholesterol”</a:t>
            </a:r>
            <a:endParaRPr/>
          </a:p>
          <a:p>
            <a:pPr indent="0" lvl="0" marL="0" rtl="0" algn="l">
              <a:lnSpc>
                <a:spcPct val="90000"/>
              </a:lnSpc>
              <a:spcBef>
                <a:spcPts val="1000"/>
              </a:spcBef>
              <a:spcAft>
                <a:spcPts val="0"/>
              </a:spcAft>
              <a:buClr>
                <a:schemeClr val="dk1"/>
              </a:buClr>
              <a:buSzPct val="100000"/>
              <a:buNone/>
            </a:pPr>
            <a:r>
              <a:t/>
            </a:r>
            <a:endParaRPr/>
          </a:p>
        </p:txBody>
      </p:sp>
      <p:sp>
        <p:nvSpPr>
          <p:cNvPr id="432" name="Google Shape;432;p41"/>
          <p:cNvSpPr txBox="1"/>
          <p:nvPr/>
        </p:nvSpPr>
        <p:spPr>
          <a:xfrm>
            <a:off x="749709" y="2861187"/>
            <a:ext cx="111079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2060"/>
                </a:solidFill>
                <a:latin typeface="Arial"/>
                <a:ea typeface="Arial"/>
                <a:cs typeface="Arial"/>
                <a:sym typeface="Arial"/>
              </a:rPr>
              <a:t>Such claims are technically accurate but misleading</a:t>
            </a:r>
            <a:r>
              <a:rPr b="1" lang="en-US" sz="2400">
                <a:solidFill>
                  <a:srgbClr val="00B050"/>
                </a:solidFill>
                <a:latin typeface="Arial"/>
                <a:ea typeface="Arial"/>
                <a:cs typeface="Arial"/>
                <a:sym typeface="Arial"/>
              </a:rPr>
              <a:t>.</a:t>
            </a:r>
            <a:endParaRPr/>
          </a:p>
        </p:txBody>
      </p:sp>
      <p:sp>
        <p:nvSpPr>
          <p:cNvPr id="433" name="Google Shape;433;p41"/>
          <p:cNvSpPr txBox="1"/>
          <p:nvPr/>
        </p:nvSpPr>
        <p:spPr>
          <a:xfrm>
            <a:off x="579549" y="3425780"/>
            <a:ext cx="10953690" cy="110799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Amino acids in certain sweeteners can alter body chemistry and cause headaches, seizures and possible brain tumors</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4" name="Google Shape;434;p41"/>
          <p:cNvSpPr txBox="1"/>
          <p:nvPr/>
        </p:nvSpPr>
        <p:spPr>
          <a:xfrm>
            <a:off x="749709" y="4365939"/>
            <a:ext cx="10518059"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Processed food snacks often contain saturated fat and trans fats, from which liver produces cholesterol</a:t>
            </a:r>
            <a:endParaRPr/>
          </a:p>
        </p:txBody>
      </p:sp>
      <p:sp>
        <p:nvSpPr>
          <p:cNvPr id="435" name="Google Shape;435;p41"/>
          <p:cNvSpPr txBox="1"/>
          <p:nvPr/>
        </p:nvSpPr>
        <p:spPr>
          <a:xfrm>
            <a:off x="334851" y="5196937"/>
            <a:ext cx="11699833"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2060"/>
                </a:solidFill>
                <a:latin typeface="Arial"/>
                <a:ea typeface="Arial"/>
                <a:cs typeface="Arial"/>
                <a:sym typeface="Arial"/>
              </a:rPr>
              <a:t>In addition to being informative and persuasive, communicators must be ethical</a:t>
            </a:r>
            <a:r>
              <a:rPr b="1" lang="en-US" sz="1800">
                <a:solidFill>
                  <a:srgbClr val="002060"/>
                </a:solidFill>
                <a:latin typeface="Arial"/>
                <a:ea typeface="Arial"/>
                <a:cs typeface="Arial"/>
                <a:sym typeface="Arial"/>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35"/>
                                        </p:tgtEl>
                                        <p:attrNameLst>
                                          <p:attrName>style.visibility</p:attrName>
                                        </p:attrNameLst>
                                      </p:cBhvr>
                                      <p:to>
                                        <p:strVal val="visible"/>
                                      </p:to>
                                    </p:set>
                                    <p:anim calcmode="lin" valueType="num">
                                      <p:cBhvr additive="base">
                                        <p:cTn dur="500"/>
                                        <p:tgtEl>
                                          <p:spTgt spid="43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graphicFrame>
        <p:nvGraphicFramePr>
          <p:cNvPr id="441" name="Google Shape;441;p42"/>
          <p:cNvGraphicFramePr/>
          <p:nvPr/>
        </p:nvGraphicFramePr>
        <p:xfrm>
          <a:off x="1" y="-12879"/>
          <a:ext cx="3000000" cy="3000000"/>
        </p:xfrm>
        <a:graphic>
          <a:graphicData uri="http://schemas.openxmlformats.org/drawingml/2006/table">
            <a:tbl>
              <a:tblPr bandRow="1" firstRow="1">
                <a:noFill/>
                <a:tableStyleId>{6A7666D9-8917-424A-8A12-2AAD64C3940E}</a:tableStyleId>
              </a:tblPr>
              <a:tblGrid>
                <a:gridCol w="1818400"/>
                <a:gridCol w="4424650"/>
                <a:gridCol w="5948950"/>
              </a:tblGrid>
              <a:tr h="349475">
                <a:tc>
                  <a:txBody>
                    <a:bodyPr/>
                    <a:lstStyle/>
                    <a:p>
                      <a:pPr indent="0" lvl="0" marL="0" marR="0" rtl="0" algn="l">
                        <a:spcBef>
                          <a:spcPts val="0"/>
                        </a:spcBef>
                        <a:spcAft>
                          <a:spcPts val="0"/>
                        </a:spcAft>
                        <a:buNone/>
                      </a:pPr>
                      <a:r>
                        <a:rPr b="1" lang="en-US" sz="1600"/>
                        <a:t>0</a:t>
                      </a:r>
                      <a:endParaRPr/>
                    </a:p>
                  </a:txBody>
                  <a:tcPr marT="45725" marB="45725" marR="91450" marL="91450"/>
                </a:tc>
                <a:tc>
                  <a:txBody>
                    <a:bodyPr/>
                    <a:lstStyle/>
                    <a:p>
                      <a:pPr indent="0" lvl="0" marL="0" marR="0" rtl="0" algn="ctr">
                        <a:spcBef>
                          <a:spcPts val="0"/>
                        </a:spcBef>
                        <a:spcAft>
                          <a:spcPts val="0"/>
                        </a:spcAft>
                        <a:buNone/>
                      </a:pPr>
                      <a:r>
                        <a:rPr b="1" i="1" lang="en-US" sz="1600"/>
                        <a:t>Meaning</a:t>
                      </a:r>
                      <a:endParaRPr/>
                    </a:p>
                  </a:txBody>
                  <a:tcPr marT="45725" marB="45725" marR="91450" marL="91450"/>
                </a:tc>
                <a:tc>
                  <a:txBody>
                    <a:bodyPr/>
                    <a:lstStyle/>
                    <a:p>
                      <a:pPr indent="0" lvl="0" marL="0" marR="0" rtl="0" algn="ctr">
                        <a:spcBef>
                          <a:spcPts val="0"/>
                        </a:spcBef>
                        <a:spcAft>
                          <a:spcPts val="0"/>
                        </a:spcAft>
                        <a:buNone/>
                      </a:pPr>
                      <a:r>
                        <a:rPr b="1" i="1" lang="en-US" sz="1600"/>
                        <a:t>Examples</a:t>
                      </a:r>
                      <a:endParaRPr/>
                    </a:p>
                  </a:txBody>
                  <a:tcPr marT="45725" marB="45725" marR="91450" marL="91450"/>
                </a:tc>
              </a:tr>
              <a:tr h="611575">
                <a:tc>
                  <a:txBody>
                    <a:bodyPr/>
                    <a:lstStyle/>
                    <a:p>
                      <a:pPr indent="0" lvl="0" marL="0" marR="0" rtl="0" algn="l">
                        <a:spcBef>
                          <a:spcPts val="0"/>
                        </a:spcBef>
                        <a:spcAft>
                          <a:spcPts val="0"/>
                        </a:spcAft>
                        <a:buNone/>
                      </a:pPr>
                      <a:r>
                        <a:rPr b="1" lang="en-US" sz="1600"/>
                        <a:t>Suppression of Information</a:t>
                      </a:r>
                      <a:endParaRPr/>
                    </a:p>
                  </a:txBody>
                  <a:tcPr marT="45725" marB="45725" marR="91450" marL="91450"/>
                </a:tc>
                <a:tc>
                  <a:txBody>
                    <a:bodyPr/>
                    <a:lstStyle/>
                    <a:p>
                      <a:pPr indent="0" lvl="0" marL="0" marR="0" rtl="0" algn="l">
                        <a:spcBef>
                          <a:spcPts val="0"/>
                        </a:spcBef>
                        <a:spcAft>
                          <a:spcPts val="0"/>
                        </a:spcAft>
                        <a:buNone/>
                      </a:pPr>
                      <a:r>
                        <a:rPr b="1" lang="en-US" sz="1600"/>
                        <a:t>Burying to data to hide inconvenient truths</a:t>
                      </a:r>
                      <a:endParaRPr/>
                    </a:p>
                  </a:txBody>
                  <a:tcPr marT="45725" marB="45725" marR="91450" marL="91450"/>
                </a:tc>
                <a:tc>
                  <a:txBody>
                    <a:bodyPr/>
                    <a:lstStyle/>
                    <a:p>
                      <a:pPr indent="0" lvl="0" marL="0" marR="0" rtl="0" algn="l">
                        <a:spcBef>
                          <a:spcPts val="0"/>
                        </a:spcBef>
                        <a:spcAft>
                          <a:spcPts val="0"/>
                        </a:spcAft>
                        <a:buNone/>
                      </a:pPr>
                      <a:r>
                        <a:rPr b="1" lang="en-US" sz="1600"/>
                        <a:t>A company fails to reveal product-testing results that indicate potential danger to consumers</a:t>
                      </a:r>
                      <a:endParaRPr/>
                    </a:p>
                  </a:txBody>
                  <a:tcPr marT="45725" marB="45725" marR="91450" marL="91450"/>
                </a:tc>
              </a:tr>
              <a:tr h="611575">
                <a:tc>
                  <a:txBody>
                    <a:bodyPr/>
                    <a:lstStyle/>
                    <a:p>
                      <a:pPr indent="0" lvl="0" marL="0" marR="0" rtl="0" algn="l">
                        <a:spcBef>
                          <a:spcPts val="0"/>
                        </a:spcBef>
                        <a:spcAft>
                          <a:spcPts val="0"/>
                        </a:spcAft>
                        <a:buNone/>
                      </a:pPr>
                      <a:r>
                        <a:rPr b="1" lang="en-US" sz="1600"/>
                        <a:t>Falsification or fabrication</a:t>
                      </a:r>
                      <a:endParaRPr/>
                    </a:p>
                  </a:txBody>
                  <a:tcPr marT="45725" marB="45725" marR="91450" marL="91450"/>
                </a:tc>
                <a:tc>
                  <a:txBody>
                    <a:bodyPr/>
                    <a:lstStyle/>
                    <a:p>
                      <a:pPr indent="0" lvl="0" marL="0" marR="0" rtl="0" algn="l">
                        <a:spcBef>
                          <a:spcPts val="0"/>
                        </a:spcBef>
                        <a:spcAft>
                          <a:spcPts val="0"/>
                        </a:spcAft>
                        <a:buNone/>
                      </a:pPr>
                      <a:r>
                        <a:rPr b="1" lang="en-US" sz="1600"/>
                        <a:t>Changing or</a:t>
                      </a:r>
                      <a:r>
                        <a:rPr b="1" lang="en-US" sz="1600"/>
                        <a:t> inventing data to support a desired outcome</a:t>
                      </a:r>
                      <a:endParaRPr b="1" sz="1600"/>
                    </a:p>
                  </a:txBody>
                  <a:tcPr marT="45725" marB="45725" marR="91450" marL="91450"/>
                </a:tc>
                <a:tc>
                  <a:txBody>
                    <a:bodyPr/>
                    <a:lstStyle/>
                    <a:p>
                      <a:pPr indent="0" lvl="0" marL="0" marR="0" rtl="0" algn="l">
                        <a:spcBef>
                          <a:spcPts val="0"/>
                        </a:spcBef>
                        <a:spcAft>
                          <a:spcPts val="0"/>
                        </a:spcAft>
                        <a:buNone/>
                      </a:pPr>
                      <a:r>
                        <a:rPr b="1" lang="en-US" sz="1600"/>
                        <a:t>A company</a:t>
                      </a:r>
                      <a:r>
                        <a:rPr b="1" lang="en-US" sz="1600"/>
                        <a:t> boasts of a fictitious enterprise to lure investors into supporting a new venture</a:t>
                      </a:r>
                      <a:endParaRPr b="1" sz="1600"/>
                    </a:p>
                  </a:txBody>
                  <a:tcPr marT="45725" marB="45725" marR="91450" marL="91450"/>
                </a:tc>
              </a:tr>
              <a:tr h="1135775">
                <a:tc>
                  <a:txBody>
                    <a:bodyPr/>
                    <a:lstStyle/>
                    <a:p>
                      <a:pPr indent="0" lvl="0" marL="0" marR="0" rtl="0" algn="l">
                        <a:spcBef>
                          <a:spcPts val="0"/>
                        </a:spcBef>
                        <a:spcAft>
                          <a:spcPts val="0"/>
                        </a:spcAft>
                        <a:buNone/>
                      </a:pPr>
                      <a:r>
                        <a:rPr b="1" lang="en-US" sz="1600"/>
                        <a:t>Overstatement or</a:t>
                      </a:r>
                      <a:r>
                        <a:rPr b="1" lang="en-US" sz="1600"/>
                        <a:t> understatement</a:t>
                      </a:r>
                      <a:endParaRPr b="1" sz="1600"/>
                    </a:p>
                  </a:txBody>
                  <a:tcPr marT="45725" marB="45725" marR="91450" marL="91450"/>
                </a:tc>
                <a:tc>
                  <a:txBody>
                    <a:bodyPr/>
                    <a:lstStyle/>
                    <a:p>
                      <a:pPr indent="0" lvl="0" marL="0" marR="0" rtl="0" algn="l">
                        <a:spcBef>
                          <a:spcPts val="0"/>
                        </a:spcBef>
                        <a:spcAft>
                          <a:spcPts val="0"/>
                        </a:spcAft>
                        <a:buNone/>
                      </a:pPr>
                      <a:r>
                        <a:rPr b="1" lang="en-US" sz="1600"/>
                        <a:t>Exaggerating the positive</a:t>
                      </a:r>
                      <a:r>
                        <a:rPr b="1" lang="en-US" sz="1600"/>
                        <a:t> aspects of a situation of downplaying negative aspects to create the desired impression</a:t>
                      </a:r>
                      <a:endParaRPr b="1" sz="1600"/>
                    </a:p>
                  </a:txBody>
                  <a:tcPr marT="45725" marB="45725" marR="91450" marL="91450"/>
                </a:tc>
                <a:tc>
                  <a:txBody>
                    <a:bodyPr/>
                    <a:lstStyle/>
                    <a:p>
                      <a:pPr indent="0" lvl="0" marL="0" marR="0" rtl="0" algn="l">
                        <a:spcBef>
                          <a:spcPts val="0"/>
                        </a:spcBef>
                        <a:spcAft>
                          <a:spcPts val="0"/>
                        </a:spcAft>
                        <a:buNone/>
                      </a:pPr>
                      <a:r>
                        <a:rPr b="1" lang="en-US" sz="1600"/>
                        <a:t>A public-opinion</a:t>
                      </a:r>
                      <a:r>
                        <a:rPr b="1" lang="en-US" sz="1600"/>
                        <a:t> survey describes 55 percent of the respondents as a “substantial majority” and 45 percent as “a small percentage”</a:t>
                      </a:r>
                      <a:endParaRPr b="1" sz="1600"/>
                    </a:p>
                  </a:txBody>
                  <a:tcPr marT="45725" marB="45725" marR="91450" marL="91450"/>
                </a:tc>
              </a:tr>
              <a:tr h="1135775">
                <a:tc>
                  <a:txBody>
                    <a:bodyPr/>
                    <a:lstStyle/>
                    <a:p>
                      <a:pPr indent="0" lvl="0" marL="0" marR="0" rtl="0" algn="l">
                        <a:spcBef>
                          <a:spcPts val="0"/>
                        </a:spcBef>
                        <a:spcAft>
                          <a:spcPts val="0"/>
                        </a:spcAft>
                        <a:buNone/>
                      </a:pPr>
                      <a:r>
                        <a:rPr b="1" lang="en-US" sz="1600"/>
                        <a:t>Selective misquoting</a:t>
                      </a:r>
                      <a:endParaRPr/>
                    </a:p>
                  </a:txBody>
                  <a:tcPr marT="45725" marB="45725" marR="91450" marL="91450"/>
                </a:tc>
                <a:tc>
                  <a:txBody>
                    <a:bodyPr/>
                    <a:lstStyle/>
                    <a:p>
                      <a:pPr indent="0" lvl="0" marL="0" marR="0" rtl="0" algn="l">
                        <a:spcBef>
                          <a:spcPts val="0"/>
                        </a:spcBef>
                        <a:spcAft>
                          <a:spcPts val="0"/>
                        </a:spcAft>
                        <a:buNone/>
                      </a:pPr>
                      <a:r>
                        <a:rPr b="1" lang="en-US" sz="1600"/>
                        <a:t>Deleting</a:t>
                      </a:r>
                      <a:r>
                        <a:rPr b="1" lang="en-US" sz="1600"/>
                        <a:t> words from quoted material to distort meaning</a:t>
                      </a:r>
                      <a:endParaRPr b="1" sz="1600"/>
                    </a:p>
                  </a:txBody>
                  <a:tcPr marT="45725" marB="45725" marR="91450" marL="91450"/>
                </a:tc>
                <a:tc>
                  <a:txBody>
                    <a:bodyPr/>
                    <a:lstStyle/>
                    <a:p>
                      <a:pPr indent="0" lvl="0" marL="0" marR="0" rtl="0" algn="l">
                        <a:spcBef>
                          <a:spcPts val="0"/>
                        </a:spcBef>
                        <a:spcAft>
                          <a:spcPts val="0"/>
                        </a:spcAft>
                        <a:buNone/>
                      </a:pPr>
                      <a:r>
                        <a:rPr b="1" lang="en-US" sz="1600"/>
                        <a:t>A supervisor</a:t>
                      </a:r>
                      <a:r>
                        <a:rPr b="1" lang="en-US" sz="1600"/>
                        <a:t> changes a report’s conclusion that “this proposal will seem feasible only to workers unfamiliar with the situation” to “this proposal will seem feasible.. to workers”</a:t>
                      </a:r>
                      <a:endParaRPr b="1" sz="1600"/>
                    </a:p>
                  </a:txBody>
                  <a:tcPr marT="45725" marB="45725" marR="91450" marL="91450"/>
                </a:tc>
              </a:tr>
              <a:tr h="667850">
                <a:tc>
                  <a:txBody>
                    <a:bodyPr/>
                    <a:lstStyle/>
                    <a:p>
                      <a:pPr indent="0" lvl="0" marL="0" marR="0" rtl="0" algn="l">
                        <a:spcBef>
                          <a:spcPts val="0"/>
                        </a:spcBef>
                        <a:spcAft>
                          <a:spcPts val="0"/>
                        </a:spcAft>
                        <a:buNone/>
                      </a:pPr>
                      <a:r>
                        <a:rPr b="1" lang="en-US" sz="1600"/>
                        <a:t>Subjective Wording</a:t>
                      </a:r>
                      <a:endParaRPr/>
                    </a:p>
                  </a:txBody>
                  <a:tcPr marT="45725" marB="45725" marR="91450" marL="91450"/>
                </a:tc>
                <a:tc>
                  <a:txBody>
                    <a:bodyPr/>
                    <a:lstStyle/>
                    <a:p>
                      <a:pPr indent="0" lvl="0" marL="0" marR="0" rtl="0" algn="l">
                        <a:spcBef>
                          <a:spcPts val="0"/>
                        </a:spcBef>
                        <a:spcAft>
                          <a:spcPts val="0"/>
                        </a:spcAft>
                        <a:buNone/>
                      </a:pPr>
                      <a:r>
                        <a:rPr b="1" lang="en-US" sz="1600"/>
                        <a:t>Using terms</a:t>
                      </a:r>
                      <a:r>
                        <a:rPr b="1" lang="en-US" sz="1600"/>
                        <a:t> deliberately chosen for their ambiguity</a:t>
                      </a:r>
                      <a:endParaRPr b="1" sz="1600"/>
                    </a:p>
                  </a:txBody>
                  <a:tcPr marT="45725" marB="45725" marR="91450" marL="91450"/>
                </a:tc>
                <a:tc>
                  <a:txBody>
                    <a:bodyPr/>
                    <a:lstStyle/>
                    <a:p>
                      <a:pPr indent="0" lvl="0" marL="0" marR="0" rtl="0" algn="l">
                        <a:spcBef>
                          <a:spcPts val="0"/>
                        </a:spcBef>
                        <a:spcAft>
                          <a:spcPts val="0"/>
                        </a:spcAft>
                        <a:buNone/>
                      </a:pPr>
                      <a:r>
                        <a:rPr b="1" lang="en-US" sz="1600"/>
                        <a:t>A company advertises “customary</a:t>
                      </a:r>
                      <a:r>
                        <a:rPr b="1" lang="en-US" sz="1600"/>
                        <a:t> service charges”, knowing that “customary” is open to broad interpretation.</a:t>
                      </a:r>
                      <a:endParaRPr b="1" sz="1600"/>
                    </a:p>
                  </a:txBody>
                  <a:tcPr marT="45725" marB="45725" marR="91450" marL="91450"/>
                </a:tc>
              </a:tr>
              <a:tr h="873675">
                <a:tc>
                  <a:txBody>
                    <a:bodyPr/>
                    <a:lstStyle/>
                    <a:p>
                      <a:pPr indent="0" lvl="0" marL="0" marR="0" rtl="0" algn="l">
                        <a:spcBef>
                          <a:spcPts val="0"/>
                        </a:spcBef>
                        <a:spcAft>
                          <a:spcPts val="0"/>
                        </a:spcAft>
                        <a:buNone/>
                      </a:pPr>
                      <a:r>
                        <a:rPr b="1" lang="en-US" sz="1600"/>
                        <a:t>Conflict</a:t>
                      </a:r>
                      <a:r>
                        <a:rPr b="1" lang="en-US" sz="1600"/>
                        <a:t> of interest</a:t>
                      </a:r>
                      <a:endParaRPr b="1" sz="1600"/>
                    </a:p>
                  </a:txBody>
                  <a:tcPr marT="45725" marB="45725" marR="91450" marL="91450"/>
                </a:tc>
                <a:tc>
                  <a:txBody>
                    <a:bodyPr/>
                    <a:lstStyle/>
                    <a:p>
                      <a:pPr indent="0" lvl="0" marL="0" marR="0" rtl="0" algn="l">
                        <a:spcBef>
                          <a:spcPts val="0"/>
                        </a:spcBef>
                        <a:spcAft>
                          <a:spcPts val="0"/>
                        </a:spcAft>
                        <a:buNone/>
                      </a:pPr>
                      <a:r>
                        <a:rPr b="1" lang="en-US" sz="1600"/>
                        <a:t>Exploiting behind-the-scenes connections to influence decision-making</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b="1" lang="en-US" sz="1600"/>
                        <a:t>A board member</a:t>
                      </a:r>
                      <a:r>
                        <a:rPr b="1" lang="en-US" sz="1600"/>
                        <a:t> of a community agency encourages the agency to hire her company for paid services rather than soliciting bids</a:t>
                      </a:r>
                      <a:endParaRPr b="1" sz="1600"/>
                    </a:p>
                  </a:txBody>
                  <a:tcPr marT="45725" marB="45725" marR="91450" marL="91450"/>
                </a:tc>
              </a:tr>
              <a:tr h="873675">
                <a:tc>
                  <a:txBody>
                    <a:bodyPr/>
                    <a:lstStyle/>
                    <a:p>
                      <a:pPr indent="0" lvl="0" marL="0" marR="0" rtl="0" algn="l">
                        <a:spcBef>
                          <a:spcPts val="0"/>
                        </a:spcBef>
                        <a:spcAft>
                          <a:spcPts val="0"/>
                        </a:spcAft>
                        <a:buNone/>
                      </a:pPr>
                      <a:r>
                        <a:rPr b="1" lang="en-US" sz="1600"/>
                        <a:t>Withholding information</a:t>
                      </a:r>
                      <a:endParaRPr/>
                    </a:p>
                  </a:txBody>
                  <a:tcPr marT="45725" marB="45725" marR="91450" marL="91450"/>
                </a:tc>
                <a:tc>
                  <a:txBody>
                    <a:bodyPr/>
                    <a:lstStyle/>
                    <a:p>
                      <a:pPr indent="0" lvl="0" marL="0" marR="0" rtl="0" algn="l">
                        <a:spcBef>
                          <a:spcPts val="0"/>
                        </a:spcBef>
                        <a:spcAft>
                          <a:spcPts val="0"/>
                        </a:spcAft>
                        <a:buNone/>
                      </a:pPr>
                      <a:r>
                        <a:rPr b="1" lang="en-US" sz="1600"/>
                        <a:t>Refusing to share relevant data with coworkers</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b="1" lang="en-US" sz="1600"/>
                        <a:t>A computer-savvy employee provides misleading answers about new software to make recently hired coworker appear incompetent</a:t>
                      </a:r>
                      <a:endParaRPr/>
                    </a:p>
                  </a:txBody>
                  <a:tcPr marT="45725" marB="45725" marR="91450" marL="91450"/>
                </a:tc>
              </a:tr>
              <a:tr h="611575">
                <a:tc>
                  <a:txBody>
                    <a:bodyPr/>
                    <a:lstStyle/>
                    <a:p>
                      <a:pPr indent="0" lvl="0" marL="0" marR="0" rtl="0" algn="l">
                        <a:spcBef>
                          <a:spcPts val="0"/>
                        </a:spcBef>
                        <a:spcAft>
                          <a:spcPts val="0"/>
                        </a:spcAft>
                        <a:buNone/>
                      </a:pPr>
                      <a:r>
                        <a:rPr b="1" lang="en-US" sz="1600"/>
                        <a:t>Plagiarism</a:t>
                      </a:r>
                      <a:endParaRPr/>
                    </a:p>
                  </a:txBody>
                  <a:tcPr marT="45725" marB="45725" marR="91450" marL="91450"/>
                </a:tc>
                <a:tc>
                  <a:txBody>
                    <a:bodyPr/>
                    <a:lstStyle/>
                    <a:p>
                      <a:pPr indent="0" lvl="0" marL="0" marR="0" rtl="0" algn="l">
                        <a:spcBef>
                          <a:spcPts val="0"/>
                        </a:spcBef>
                        <a:spcAft>
                          <a:spcPts val="0"/>
                        </a:spcAft>
                        <a:buNone/>
                      </a:pPr>
                      <a:r>
                        <a:rPr b="1" lang="en-US" sz="1600"/>
                        <a:t>Taking credit for someone else’s ideas, findings</a:t>
                      </a:r>
                      <a:endParaRPr/>
                    </a:p>
                  </a:txBody>
                  <a:tcPr marT="45725" marB="45725" marR="91450" marL="91450"/>
                </a:tc>
                <a:tc>
                  <a:txBody>
                    <a:bodyPr/>
                    <a:lstStyle/>
                    <a:p>
                      <a:pPr indent="0" lvl="0" marL="0" marR="0" rtl="0" algn="l">
                        <a:spcBef>
                          <a:spcPts val="0"/>
                        </a:spcBef>
                        <a:spcAft>
                          <a:spcPts val="0"/>
                        </a:spcAft>
                        <a:buNone/>
                      </a:pPr>
                      <a:r>
                        <a:rPr b="1" lang="en-US" sz="1600"/>
                        <a:t>An employee assigned to prepare a report written by someone at</a:t>
                      </a:r>
                      <a:r>
                        <a:rPr b="1" lang="en-US" sz="1600"/>
                        <a:t> another company, downloaded from internet</a:t>
                      </a:r>
                      <a:endParaRPr b="1" sz="1600"/>
                    </a:p>
                  </a:txBody>
                  <a:tcPr marT="45725" marB="45725" marR="91450" marL="91450"/>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3"/>
          <p:cNvSpPr txBox="1"/>
          <p:nvPr>
            <p:ph type="title"/>
          </p:nvPr>
        </p:nvSpPr>
        <p:spPr>
          <a:xfrm>
            <a:off x="642257" y="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Times New Roman"/>
              <a:buNone/>
            </a:pPr>
            <a:r>
              <a:rPr b="1" lang="en-US">
                <a:solidFill>
                  <a:srgbClr val="002060"/>
                </a:solidFill>
              </a:rPr>
              <a:t>Case-Study: Conflict of Interest</a:t>
            </a:r>
            <a:endParaRPr/>
          </a:p>
        </p:txBody>
      </p:sp>
      <p:sp>
        <p:nvSpPr>
          <p:cNvPr id="447" name="Google Shape;447;p43"/>
          <p:cNvSpPr txBox="1"/>
          <p:nvPr>
            <p:ph idx="1" type="body"/>
          </p:nvPr>
        </p:nvSpPr>
        <p:spPr>
          <a:xfrm>
            <a:off x="257577" y="1300766"/>
            <a:ext cx="11645952" cy="5377620"/>
          </a:xfrm>
          <a:prstGeom prst="rect">
            <a:avLst/>
          </a:prstGeom>
          <a:solidFill>
            <a:srgbClr val="BBD6EE"/>
          </a:solid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lang="en-US">
                <a:latin typeface="Times New Roman"/>
                <a:ea typeface="Times New Roman"/>
                <a:cs typeface="Times New Roman"/>
                <a:sym typeface="Times New Roman"/>
              </a:rPr>
              <a:t>ABC Manufacturing Inc. is a mid-sized company specializing in producing eco-friendly packaging solutions. With a strong commitment to sustainability, the company has garnered a loyal customer base and established itself as an industry leader. Salman Ahmed, the Procurement Manager at ABC Manufacturing, is responsible for selecting suppliers for raw materials and negotiating contracts. Recently, the company has been seeking new suppliers to source a particular biodegradable material that is crucial to their product line.</a:t>
            </a:r>
            <a:endParaRPr/>
          </a:p>
          <a:p>
            <a:pPr indent="0" lvl="0" marL="0" rtl="0" algn="l">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Salman’s brother-in-law, Atif, owns GreenSource Ltd., a supplier offering competitive prices for the required material. While GreenSource Ltd. seems like a promising option for ABC Manufacturing, Salman is aware that any decision favoring Atif's company could be perceived as a conflict of interest. Despite this, Salman is tempted to recommend GreenSource Ltd. because of their lower prices and the potential personal benefits of supporting a family member's business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a:t>Questions for Discussion</a:t>
            </a:r>
            <a:endParaRPr/>
          </a:p>
        </p:txBody>
      </p:sp>
      <p:sp>
        <p:nvSpPr>
          <p:cNvPr id="453" name="Google Shape;453;p44"/>
          <p:cNvSpPr txBox="1"/>
          <p:nvPr>
            <p:ph idx="1" type="body"/>
          </p:nvPr>
        </p:nvSpPr>
        <p:spPr>
          <a:xfrm>
            <a:off x="838199" y="1825625"/>
            <a:ext cx="10804071" cy="490174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None/>
            </a:pPr>
            <a:r>
              <a:rPr b="1" lang="en-US" sz="3200">
                <a:latin typeface="Times New Roman"/>
                <a:ea typeface="Times New Roman"/>
                <a:cs typeface="Times New Roman"/>
                <a:sym typeface="Times New Roman"/>
              </a:rPr>
              <a:t>Question 1: </a:t>
            </a:r>
            <a:r>
              <a:rPr lang="en-US" sz="3200">
                <a:latin typeface="Times New Roman"/>
                <a:ea typeface="Times New Roman"/>
                <a:cs typeface="Times New Roman"/>
                <a:sym typeface="Times New Roman"/>
              </a:rPr>
              <a:t>What steps should Salman take to address the potential conflict of interest?</a:t>
            </a:r>
            <a:endParaRPr/>
          </a:p>
          <a:p>
            <a:pPr indent="0" lvl="0" marL="0" rtl="0" algn="l">
              <a:lnSpc>
                <a:spcPct val="90000"/>
              </a:lnSpc>
              <a:spcBef>
                <a:spcPts val="1000"/>
              </a:spcBef>
              <a:spcAft>
                <a:spcPts val="0"/>
              </a:spcAft>
              <a:buClr>
                <a:schemeClr val="dk1"/>
              </a:buClr>
              <a:buSzPts val="3200"/>
              <a:buNone/>
            </a:pPr>
            <a:r>
              <a:rPr b="1" lang="en-US" sz="3200">
                <a:latin typeface="Times New Roman"/>
                <a:ea typeface="Times New Roman"/>
                <a:cs typeface="Times New Roman"/>
                <a:sym typeface="Times New Roman"/>
              </a:rPr>
              <a:t>Question 2: </a:t>
            </a:r>
            <a:r>
              <a:rPr lang="en-US" sz="3200">
                <a:latin typeface="Times New Roman"/>
                <a:ea typeface="Times New Roman"/>
                <a:cs typeface="Times New Roman"/>
                <a:sym typeface="Times New Roman"/>
              </a:rPr>
              <a:t>What policies should ABC Manufacturing implement to manage potential conflicts of interest in the future?</a:t>
            </a:r>
            <a:endParaRPr/>
          </a:p>
          <a:p>
            <a:pPr indent="0" lvl="0" marL="0" rtl="0" algn="l">
              <a:lnSpc>
                <a:spcPct val="90000"/>
              </a:lnSpc>
              <a:spcBef>
                <a:spcPts val="1000"/>
              </a:spcBef>
              <a:spcAft>
                <a:spcPts val="0"/>
              </a:spcAft>
              <a:buClr>
                <a:schemeClr val="dk1"/>
              </a:buClr>
              <a:buSzPts val="3200"/>
              <a:buNone/>
            </a:pPr>
            <a:r>
              <a:rPr b="1" lang="en-US" sz="3200">
                <a:latin typeface="Times New Roman"/>
                <a:ea typeface="Times New Roman"/>
                <a:cs typeface="Times New Roman"/>
                <a:sym typeface="Times New Roman"/>
              </a:rPr>
              <a:t>Question 3: </a:t>
            </a:r>
            <a:r>
              <a:rPr lang="en-US" sz="3200">
                <a:latin typeface="Times New Roman"/>
                <a:ea typeface="Times New Roman"/>
                <a:cs typeface="Times New Roman"/>
                <a:sym typeface="Times New Roman"/>
              </a:rPr>
              <a:t>How can ABC Manufacturing ensure that supplier selection remains fair and unbiased?</a:t>
            </a:r>
            <a:endParaRPr/>
          </a:p>
          <a:p>
            <a:pPr indent="0" lvl="0" marL="0" rtl="0" algn="l">
              <a:lnSpc>
                <a:spcPct val="90000"/>
              </a:lnSpc>
              <a:spcBef>
                <a:spcPts val="1000"/>
              </a:spcBef>
              <a:spcAft>
                <a:spcPts val="0"/>
              </a:spcAft>
              <a:buClr>
                <a:schemeClr val="dk1"/>
              </a:buClr>
              <a:buSzPts val="3200"/>
              <a:buNone/>
            </a:pPr>
            <a:r>
              <a:rPr b="1" lang="en-US" sz="3200">
                <a:latin typeface="Times New Roman"/>
                <a:ea typeface="Times New Roman"/>
                <a:cs typeface="Times New Roman"/>
                <a:sym typeface="Times New Roman"/>
              </a:rPr>
              <a:t>Question 4: </a:t>
            </a:r>
            <a:r>
              <a:rPr lang="en-US" sz="3200">
                <a:latin typeface="Times New Roman"/>
                <a:ea typeface="Times New Roman"/>
                <a:cs typeface="Times New Roman"/>
                <a:sym typeface="Times New Roman"/>
              </a:rPr>
              <a:t>How should ABC Manufacturing handle the situation if Salman fails to disclose the conflict of interest?</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t>References</a:t>
            </a:r>
            <a:endParaRPr/>
          </a:p>
        </p:txBody>
      </p:sp>
      <p:sp>
        <p:nvSpPr>
          <p:cNvPr id="459" name="Google Shape;459;p4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 Pfeiffer, William George. </a:t>
            </a:r>
            <a:r>
              <a:rPr b="1" i="1" lang="en-US"/>
              <a:t>Technical Writing: A Practical Approach</a:t>
            </a:r>
            <a:r>
              <a:rPr i="1" lang="en-US"/>
              <a:t> </a:t>
            </a:r>
            <a:r>
              <a:rPr lang="en-US"/>
              <a:t>(Pearson), 2012</a:t>
            </a:r>
            <a:endParaRPr/>
          </a:p>
          <a:p>
            <a:pPr indent="-228600" lvl="0" marL="228600" rtl="0" algn="l">
              <a:lnSpc>
                <a:spcPct val="90000"/>
              </a:lnSpc>
              <a:spcBef>
                <a:spcPts val="1000"/>
              </a:spcBef>
              <a:spcAft>
                <a:spcPts val="0"/>
              </a:spcAft>
              <a:buClr>
                <a:schemeClr val="dk1"/>
              </a:buClr>
              <a:buSzPts val="2800"/>
              <a:buChar char="•"/>
            </a:pPr>
            <a:r>
              <a:rPr lang="en-US"/>
              <a:t>Lannon &amp; Gurak, </a:t>
            </a:r>
            <a:r>
              <a:rPr b="1" i="1" lang="en-US"/>
              <a:t>Technical Communication</a:t>
            </a:r>
            <a:r>
              <a:rPr lang="en-US"/>
              <a:t>., 14th Edition, 2016</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2021-09-10T22:11:14Z</dcterms:created>
  <dc:creator>Hajra</dc:creator>
</cp:coreProperties>
</file>