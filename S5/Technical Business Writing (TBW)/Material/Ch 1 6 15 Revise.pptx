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notesMasterIdLst>
    <p:notesMasterId r:id="rId20"/>
  </p:notesMasterIdLst>
  <p:sldIdLst>
    <p:sldId id="256" r:id="rId2"/>
    <p:sldId id="257" r:id="rId3"/>
    <p:sldId id="258" r:id="rId4"/>
    <p:sldId id="259" r:id="rId5"/>
    <p:sldId id="260" r:id="rId6"/>
    <p:sldId id="261" r:id="rId7"/>
    <p:sldId id="264" r:id="rId8"/>
    <p:sldId id="262" r:id="rId9"/>
    <p:sldId id="263" r:id="rId10"/>
    <p:sldId id="274" r:id="rId11"/>
    <p:sldId id="271" r:id="rId12"/>
    <p:sldId id="272" r:id="rId13"/>
    <p:sldId id="266" r:id="rId14"/>
    <p:sldId id="265" r:id="rId15"/>
    <p:sldId id="267" r:id="rId16"/>
    <p:sldId id="268" r:id="rId17"/>
    <p:sldId id="273"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32" d="100"/>
          <a:sy n="32" d="100"/>
        </p:scale>
        <p:origin x="134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DA0C52-9955-4E2D-83CC-4BDFE5D8834E}" type="datetimeFigureOut">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693ECA-1E21-43B6-B2A3-139C776E3FB4}" type="slidenum">
              <a:rPr lang="en-US" smtClean="0"/>
              <a:t>‹#›</a:t>
            </a:fld>
            <a:endParaRPr lang="en-US"/>
          </a:p>
        </p:txBody>
      </p:sp>
    </p:spTree>
    <p:extLst>
      <p:ext uri="{BB962C8B-B14F-4D97-AF65-F5344CB8AC3E}">
        <p14:creationId xmlns:p14="http://schemas.microsoft.com/office/powerpoint/2010/main" val="3640272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ea typeface="Calibri" panose="020F0502020204030204" pitchFamily="34" charset="0"/>
              </a:rPr>
              <a:t>On time zones alone, the Singapore client is the easiest to manage — a 3-hour gap allows a genuine overlapping work window without either side working late. The Australian client is a reasonably close second: the overlap is narrower, but the framework's "formal vs. informal" and "expressing opinions" rows suggest lower-friction, low-hierarchy communication that's easier to sustain remotely — offset by that same client's low willingness to sacrifice personal time, which limits flexibility outside normal hours.</a:t>
            </a:r>
            <a:endParaRPr lang="en-US" sz="12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D1693ECA-1E21-43B6-B2A3-139C776E3FB4}" type="slidenum">
              <a:rPr lang="en-US" smtClean="0"/>
              <a:t>11</a:t>
            </a:fld>
            <a:endParaRPr lang="en-US"/>
          </a:p>
        </p:txBody>
      </p:sp>
    </p:spTree>
    <p:extLst>
      <p:ext uri="{BB962C8B-B14F-4D97-AF65-F5344CB8AC3E}">
        <p14:creationId xmlns:p14="http://schemas.microsoft.com/office/powerpoint/2010/main" val="3069025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22B42C-4FA5-4C55-9866-B0121BCFFCEF}"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A60C73-72B4-491F-8AE3-620421E7A90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3182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22B42C-4FA5-4C55-9866-B0121BCFFCEF}"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A60C73-72B4-491F-8AE3-620421E7A90F}" type="slidenum">
              <a:rPr lang="en-US" smtClean="0"/>
              <a:t>‹#›</a:t>
            </a:fld>
            <a:endParaRPr lang="en-US"/>
          </a:p>
        </p:txBody>
      </p:sp>
    </p:spTree>
    <p:extLst>
      <p:ext uri="{BB962C8B-B14F-4D97-AF65-F5344CB8AC3E}">
        <p14:creationId xmlns:p14="http://schemas.microsoft.com/office/powerpoint/2010/main" val="3172374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22B42C-4FA5-4C55-9866-B0121BCFFCEF}"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A60C73-72B4-491F-8AE3-620421E7A90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3206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22B42C-4FA5-4C55-9866-B0121BCFFCEF}"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A60C73-72B4-491F-8AE3-620421E7A90F}" type="slidenum">
              <a:rPr lang="en-US" smtClean="0"/>
              <a:t>‹#›</a:t>
            </a:fld>
            <a:endParaRPr lang="en-US"/>
          </a:p>
        </p:txBody>
      </p:sp>
    </p:spTree>
    <p:extLst>
      <p:ext uri="{BB962C8B-B14F-4D97-AF65-F5344CB8AC3E}">
        <p14:creationId xmlns:p14="http://schemas.microsoft.com/office/powerpoint/2010/main" val="2428830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22B42C-4FA5-4C55-9866-B0121BCFFCEF}"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A60C73-72B4-491F-8AE3-620421E7A90F}" type="slidenum">
              <a:rPr lang="en-US" smtClean="0"/>
              <a:t>‹#›</a:t>
            </a:fld>
            <a:endParaRPr lang="en-US"/>
          </a:p>
        </p:txBody>
      </p:sp>
    </p:spTree>
    <p:extLst>
      <p:ext uri="{BB962C8B-B14F-4D97-AF65-F5344CB8AC3E}">
        <p14:creationId xmlns:p14="http://schemas.microsoft.com/office/powerpoint/2010/main" val="1225397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22B42C-4FA5-4C55-9866-B0121BCFFCEF}"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A60C73-72B4-491F-8AE3-620421E7A90F}" type="slidenum">
              <a:rPr lang="en-US" smtClean="0"/>
              <a:t>‹#›</a:t>
            </a:fld>
            <a:endParaRPr lang="en-US"/>
          </a:p>
        </p:txBody>
      </p:sp>
    </p:spTree>
    <p:extLst>
      <p:ext uri="{BB962C8B-B14F-4D97-AF65-F5344CB8AC3E}">
        <p14:creationId xmlns:p14="http://schemas.microsoft.com/office/powerpoint/2010/main" val="828340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622B42C-4FA5-4C55-9866-B0121BCFFCEF}" type="datetimeFigureOut">
              <a:rPr lang="en-US" smtClean="0"/>
              <a:t>9/21/2026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4A60C73-72B4-491F-8AE3-620421E7A90F}" type="slidenum">
              <a:rPr lang="en-US" smtClean="0"/>
              <a:t>‹#›</a:t>
            </a:fld>
            <a:endParaRPr lang="en-US"/>
          </a:p>
        </p:txBody>
      </p:sp>
    </p:spTree>
    <p:extLst>
      <p:ext uri="{BB962C8B-B14F-4D97-AF65-F5344CB8AC3E}">
        <p14:creationId xmlns:p14="http://schemas.microsoft.com/office/powerpoint/2010/main" val="4118115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622B42C-4FA5-4C55-9866-B0121BCFFCEF}" type="datetimeFigureOut">
              <a:rPr lang="en-US" smtClean="0"/>
              <a:t>9/21/2026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4A60C73-72B4-491F-8AE3-620421E7A90F}" type="slidenum">
              <a:rPr lang="en-US" smtClean="0"/>
              <a:t>‹#›</a:t>
            </a:fld>
            <a:endParaRPr lang="en-US"/>
          </a:p>
        </p:txBody>
      </p:sp>
    </p:spTree>
    <p:extLst>
      <p:ext uri="{BB962C8B-B14F-4D97-AF65-F5344CB8AC3E}">
        <p14:creationId xmlns:p14="http://schemas.microsoft.com/office/powerpoint/2010/main" val="2347096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22B42C-4FA5-4C55-9866-B0121BCFFCEF}"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A60C73-72B4-491F-8AE3-620421E7A90F}" type="slidenum">
              <a:rPr lang="en-US" smtClean="0"/>
              <a:t>‹#›</a:t>
            </a:fld>
            <a:endParaRPr lang="en-US"/>
          </a:p>
        </p:txBody>
      </p:sp>
    </p:spTree>
    <p:extLst>
      <p:ext uri="{BB962C8B-B14F-4D97-AF65-F5344CB8AC3E}">
        <p14:creationId xmlns:p14="http://schemas.microsoft.com/office/powerpoint/2010/main" val="2166004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22B42C-4FA5-4C55-9866-B0121BCFFCEF}"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A60C73-72B4-491F-8AE3-620421E7A90F}" type="slidenum">
              <a:rPr lang="en-US" smtClean="0"/>
              <a:t>‹#›</a:t>
            </a:fld>
            <a:endParaRPr lang="en-US"/>
          </a:p>
        </p:txBody>
      </p:sp>
    </p:spTree>
    <p:extLst>
      <p:ext uri="{BB962C8B-B14F-4D97-AF65-F5344CB8AC3E}">
        <p14:creationId xmlns:p14="http://schemas.microsoft.com/office/powerpoint/2010/main" val="3385914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22B42C-4FA5-4C55-9866-B0121BCFFCEF}"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A60C73-72B4-491F-8AE3-620421E7A90F}" type="slidenum">
              <a:rPr lang="en-US" smtClean="0"/>
              <a:t>‹#›</a:t>
            </a:fld>
            <a:endParaRPr lang="en-US"/>
          </a:p>
        </p:txBody>
      </p:sp>
    </p:spTree>
    <p:extLst>
      <p:ext uri="{BB962C8B-B14F-4D97-AF65-F5344CB8AC3E}">
        <p14:creationId xmlns:p14="http://schemas.microsoft.com/office/powerpoint/2010/main" val="2914868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622B42C-4FA5-4C55-9866-B0121BCFFCEF}" type="datetimeFigureOut">
              <a:rPr lang="en-US" smtClean="0"/>
              <a:t>9/21/2026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4A60C73-72B4-491F-8AE3-620421E7A90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043035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Correspondence</a:t>
            </a:r>
          </a:p>
        </p:txBody>
      </p:sp>
      <p:sp>
        <p:nvSpPr>
          <p:cNvPr id="3" name="Subtitle 2"/>
          <p:cNvSpPr>
            <a:spLocks noGrp="1"/>
          </p:cNvSpPr>
          <p:nvPr>
            <p:ph type="subTitle" idx="1"/>
          </p:nvPr>
        </p:nvSpPr>
        <p:spPr/>
        <p:txBody>
          <a:bodyPr/>
          <a:lstStyle/>
          <a:p>
            <a:r>
              <a:rPr lang="en-US" dirty="0"/>
              <a:t>PRACTICE</a:t>
            </a:r>
          </a:p>
        </p:txBody>
      </p:sp>
    </p:spTree>
    <p:extLst>
      <p:ext uri="{BB962C8B-B14F-4D97-AF65-F5344CB8AC3E}">
        <p14:creationId xmlns:p14="http://schemas.microsoft.com/office/powerpoint/2010/main" val="2880700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326" y="153252"/>
            <a:ext cx="10515600" cy="1325563"/>
          </a:xfrm>
        </p:spPr>
        <p:txBody>
          <a:bodyPr/>
          <a:lstStyle/>
          <a:p>
            <a:r>
              <a:rPr lang="en-US" dirty="0"/>
              <a:t>Case</a:t>
            </a:r>
          </a:p>
        </p:txBody>
      </p:sp>
      <p:sp>
        <p:nvSpPr>
          <p:cNvPr id="3" name="Content Placeholder 2"/>
          <p:cNvSpPr>
            <a:spLocks noGrp="1"/>
          </p:cNvSpPr>
          <p:nvPr>
            <p:ph idx="1"/>
          </p:nvPr>
        </p:nvSpPr>
        <p:spPr>
          <a:xfrm>
            <a:off x="241609" y="1478814"/>
            <a:ext cx="9069660" cy="5490698"/>
          </a:xfrm>
        </p:spPr>
        <p:txBody>
          <a:bodyPr>
            <a:normAutofit/>
          </a:bodyPr>
          <a:lstStyle/>
          <a:p>
            <a:pPr marL="0" indent="0">
              <a:buNone/>
            </a:pPr>
            <a:r>
              <a:rPr lang="en-US" sz="3200" b="1" dirty="0"/>
              <a:t>Group 1: </a:t>
            </a:r>
            <a:r>
              <a:rPr lang="en-US" sz="3200" dirty="0"/>
              <a:t>You as CEO of </a:t>
            </a:r>
            <a:r>
              <a:rPr lang="en-US" sz="3200" dirty="0" err="1"/>
              <a:t>Avanceon</a:t>
            </a:r>
            <a:r>
              <a:rPr lang="en-US" sz="3200" dirty="0"/>
              <a:t> Private Limited (</a:t>
            </a:r>
            <a:r>
              <a:rPr lang="en-US" sz="3200" dirty="0" err="1"/>
              <a:t>Gulberg</a:t>
            </a:r>
            <a:r>
              <a:rPr lang="en-US" sz="3200" dirty="0"/>
              <a:t>-II, Lahore) has outsourced your project of developing Salary Management program to Social Square (Phase III-DHA, Lahore). After the first month of successful installation and testing, the software faced an error. Assume terms of contract and ask your personal assistant (Mr. </a:t>
            </a:r>
            <a:r>
              <a:rPr lang="en-US" sz="3200" dirty="0" err="1"/>
              <a:t>Kaleem</a:t>
            </a:r>
            <a:r>
              <a:rPr lang="en-US" sz="3200" dirty="0"/>
              <a:t>) to write a complaint letter to Manager Customer Support (Mr. </a:t>
            </a:r>
            <a:r>
              <a:rPr lang="en-US" sz="3200" dirty="0" err="1"/>
              <a:t>Adil</a:t>
            </a:r>
            <a:r>
              <a:rPr lang="en-US" sz="3200" dirty="0"/>
              <a:t> </a:t>
            </a:r>
            <a:r>
              <a:rPr lang="en-US" sz="3200" dirty="0" err="1"/>
              <a:t>Rizwan</a:t>
            </a:r>
            <a:r>
              <a:rPr lang="en-US" sz="3200" dirty="0"/>
              <a:t>). Your complaint letter will identify that you have also sent a copy to CEO Social Square (Mr. </a:t>
            </a:r>
            <a:r>
              <a:rPr lang="en-US" sz="3200" dirty="0" err="1"/>
              <a:t>Avais</a:t>
            </a:r>
            <a:r>
              <a:rPr lang="en-US" sz="3200" dirty="0"/>
              <a:t>) and enclosed a screenshot of error screen.</a:t>
            </a:r>
          </a:p>
          <a:p>
            <a:endParaRPr lang="en-US" dirty="0"/>
          </a:p>
        </p:txBody>
      </p:sp>
      <p:cxnSp>
        <p:nvCxnSpPr>
          <p:cNvPr id="5" name="Elbow Connector 4"/>
          <p:cNvCxnSpPr/>
          <p:nvPr/>
        </p:nvCxnSpPr>
        <p:spPr>
          <a:xfrm>
            <a:off x="9456234" y="4224163"/>
            <a:ext cx="2468137" cy="1884556"/>
          </a:xfrm>
          <a:prstGeom prst="bentConnector3">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5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7561" y="356839"/>
            <a:ext cx="8898673" cy="5954751"/>
          </a:xfrm>
        </p:spPr>
        <p:txBody>
          <a:bodyPr>
            <a:normAutofit fontScale="92500"/>
          </a:bodyPr>
          <a:lstStyle/>
          <a:p>
            <a:pPr marL="0" indent="0">
              <a:buNone/>
            </a:pPr>
            <a:r>
              <a:rPr lang="en-US" sz="3200" b="1" dirty="0"/>
              <a:t>Group 2: </a:t>
            </a:r>
            <a:r>
              <a:rPr lang="en-US" sz="3200" dirty="0"/>
              <a:t>You are the Manager Customer Support of Social Square (Phase III-DHA, Lahore). You have received a Complaint letter on July 28, 2026 from CEO of </a:t>
            </a:r>
            <a:r>
              <a:rPr lang="en-US" sz="3200" dirty="0" err="1"/>
              <a:t>Avanceon</a:t>
            </a:r>
            <a:r>
              <a:rPr lang="en-US" sz="3200" dirty="0"/>
              <a:t> Private Limited (</a:t>
            </a:r>
            <a:r>
              <a:rPr lang="en-US" sz="3200" dirty="0" err="1"/>
              <a:t>Gulberg</a:t>
            </a:r>
            <a:r>
              <a:rPr lang="en-US" sz="3200" dirty="0"/>
              <a:t>-II, Lahore) about your company’s product. Ask your personal assistant (Mr. </a:t>
            </a:r>
            <a:r>
              <a:rPr lang="en-US" sz="3200" dirty="0" err="1"/>
              <a:t>Asad</a:t>
            </a:r>
            <a:r>
              <a:rPr lang="en-US" sz="3200" dirty="0"/>
              <a:t> </a:t>
            </a:r>
            <a:r>
              <a:rPr lang="en-US" sz="3200" dirty="0" err="1"/>
              <a:t>Irfan</a:t>
            </a:r>
            <a:r>
              <a:rPr lang="en-US" sz="3200" dirty="0"/>
              <a:t>) to write an acknowledgement letter to the CEO </a:t>
            </a:r>
            <a:r>
              <a:rPr lang="en-US" sz="3200" dirty="0" err="1"/>
              <a:t>Avanceon</a:t>
            </a:r>
            <a:r>
              <a:rPr lang="en-US" sz="3200" dirty="0"/>
              <a:t> Private Limited (</a:t>
            </a:r>
            <a:r>
              <a:rPr lang="en-US" sz="3200" dirty="0" err="1"/>
              <a:t>Gulberg</a:t>
            </a:r>
            <a:r>
              <a:rPr lang="en-US" sz="3200" dirty="0"/>
              <a:t>-II, Lahore). Also ask you secretary (Mrs. Nadia Ali) to write a memo to Manager product development (Mrs. </a:t>
            </a:r>
            <a:r>
              <a:rPr lang="en-US" sz="3200" dirty="0" err="1"/>
              <a:t>Naveed</a:t>
            </a:r>
            <a:r>
              <a:rPr lang="en-US" sz="3200" dirty="0"/>
              <a:t>) of your company, informing her about the complaint. While you are writing both letters consider about all legal aspects due to which you will be identifying, producing and sending more than one copies and enclosing documents.</a:t>
            </a:r>
          </a:p>
          <a:p>
            <a:endParaRPr lang="en-US" dirty="0"/>
          </a:p>
        </p:txBody>
      </p:sp>
      <p:cxnSp>
        <p:nvCxnSpPr>
          <p:cNvPr id="4" name="Elbow Connector 3"/>
          <p:cNvCxnSpPr/>
          <p:nvPr/>
        </p:nvCxnSpPr>
        <p:spPr>
          <a:xfrm>
            <a:off x="9456234" y="4224163"/>
            <a:ext cx="2468137" cy="1884556"/>
          </a:xfrm>
          <a:prstGeom prst="bentConnector3">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4762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3024" y="245327"/>
            <a:ext cx="10169913" cy="6612674"/>
          </a:xfrm>
        </p:spPr>
        <p:txBody>
          <a:bodyPr>
            <a:normAutofit/>
          </a:bodyPr>
          <a:lstStyle/>
          <a:p>
            <a:pPr marL="0" indent="0">
              <a:buNone/>
            </a:pPr>
            <a:r>
              <a:rPr lang="en-US" sz="3200" dirty="0"/>
              <a:t>Group-3: You as a product development manager of Social Square (Phase III-DHA, Lahore) to show goodwill gesture with your team have visited </a:t>
            </a:r>
            <a:r>
              <a:rPr lang="en-US" sz="3200" dirty="0" err="1"/>
              <a:t>Avanceon</a:t>
            </a:r>
            <a:r>
              <a:rPr lang="en-US" sz="3200" dirty="0"/>
              <a:t> Private Limited (</a:t>
            </a:r>
            <a:r>
              <a:rPr lang="en-US" sz="3200" dirty="0" err="1"/>
              <a:t>Gulberg</a:t>
            </a:r>
            <a:r>
              <a:rPr lang="en-US" sz="3200" dirty="0"/>
              <a:t>-II, Lahore) for the review of the product. After reviewing the software you found an attempt of hacking from one of the </a:t>
            </a:r>
            <a:r>
              <a:rPr lang="en-US" sz="3200" dirty="0" err="1"/>
              <a:t>Avanceon’s</a:t>
            </a:r>
            <a:r>
              <a:rPr lang="en-US" sz="3200" dirty="0"/>
              <a:t> computer IP address which resulted in the error. Now you have asked your secretary (Ms. </a:t>
            </a:r>
            <a:r>
              <a:rPr lang="en-US" sz="3200" dirty="0" err="1"/>
              <a:t>Amna</a:t>
            </a:r>
            <a:r>
              <a:rPr lang="en-US" sz="3200" dirty="0"/>
              <a:t> </a:t>
            </a:r>
            <a:r>
              <a:rPr lang="en-US" sz="3200" dirty="0" err="1"/>
              <a:t>Ilyas</a:t>
            </a:r>
            <a:r>
              <a:rPr lang="en-US" sz="3200" dirty="0"/>
              <a:t>) to write a memo to customer support manager (Mr. </a:t>
            </a:r>
            <a:r>
              <a:rPr lang="en-US" sz="3200" dirty="0" err="1"/>
              <a:t>Adil</a:t>
            </a:r>
            <a:r>
              <a:rPr lang="en-US" sz="3200" dirty="0"/>
              <a:t> </a:t>
            </a:r>
            <a:r>
              <a:rPr lang="en-US" sz="3200" dirty="0" err="1"/>
              <a:t>Rizwan</a:t>
            </a:r>
            <a:r>
              <a:rPr lang="en-US" sz="3200" dirty="0"/>
              <a:t>) to take decision according to the company’s policies. Your memo will include information of all the concerned authorities requiring the update about the situation and enclose the field visit report.</a:t>
            </a:r>
          </a:p>
          <a:p>
            <a:endParaRPr lang="en-US" sz="3200" dirty="0"/>
          </a:p>
        </p:txBody>
      </p:sp>
      <p:cxnSp>
        <p:nvCxnSpPr>
          <p:cNvPr id="4" name="Elbow Connector 3"/>
          <p:cNvCxnSpPr/>
          <p:nvPr/>
        </p:nvCxnSpPr>
        <p:spPr>
          <a:xfrm>
            <a:off x="10259122" y="4293219"/>
            <a:ext cx="1932878" cy="1583474"/>
          </a:xfrm>
          <a:prstGeom prst="bentConnector3">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0472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buNone/>
            </a:pPr>
            <a:r>
              <a:rPr lang="en-US" sz="3600" b="1" dirty="0">
                <a:cs typeface="Times New Roman" panose="02020603050405020304" pitchFamily="18" charset="0"/>
              </a:rPr>
              <a:t>Group-4:</a:t>
            </a:r>
            <a:r>
              <a:rPr lang="en-US" sz="3600" dirty="0">
                <a:cs typeface="Times New Roman" panose="02020603050405020304" pitchFamily="18" charset="0"/>
              </a:rPr>
              <a:t> You as Customer Support Manager of Social Square (Phase III-DHA, Lahore) writing an adjustment letter to CEO of </a:t>
            </a:r>
            <a:r>
              <a:rPr lang="en-US" sz="3600" dirty="0" err="1">
                <a:cs typeface="Times New Roman" panose="02020603050405020304" pitchFamily="18" charset="0"/>
              </a:rPr>
              <a:t>Avanceon</a:t>
            </a:r>
            <a:r>
              <a:rPr lang="en-US" sz="3600" dirty="0">
                <a:cs typeface="Times New Roman" panose="02020603050405020304" pitchFamily="18" charset="0"/>
              </a:rPr>
              <a:t> Private Limited (</a:t>
            </a:r>
            <a:r>
              <a:rPr lang="en-US" sz="3600" dirty="0" err="1">
                <a:cs typeface="Times New Roman" panose="02020603050405020304" pitchFamily="18" charset="0"/>
              </a:rPr>
              <a:t>Gulberg</a:t>
            </a:r>
            <a:r>
              <a:rPr lang="en-US" sz="3600" dirty="0">
                <a:cs typeface="Times New Roman" panose="02020603050405020304" pitchFamily="18" charset="0"/>
              </a:rPr>
              <a:t>-II, Lahore) your objective will be to keep </a:t>
            </a:r>
            <a:r>
              <a:rPr lang="en-US" sz="3600" dirty="0" err="1">
                <a:cs typeface="Times New Roman" panose="02020603050405020304" pitchFamily="18" charset="0"/>
              </a:rPr>
              <a:t>Avanceon</a:t>
            </a:r>
            <a:r>
              <a:rPr lang="en-US" sz="3600" dirty="0">
                <a:cs typeface="Times New Roman" panose="02020603050405020304" pitchFamily="18" charset="0"/>
              </a:rPr>
              <a:t> as your </a:t>
            </a:r>
            <a:r>
              <a:rPr lang="en-US" sz="3600" dirty="0" err="1">
                <a:cs typeface="Times New Roman" panose="02020603050405020304" pitchFamily="18" charset="0"/>
              </a:rPr>
              <a:t>longterm</a:t>
            </a:r>
            <a:r>
              <a:rPr lang="en-US" sz="3600" dirty="0">
                <a:cs typeface="Times New Roman" panose="02020603050405020304" pitchFamily="18" charset="0"/>
              </a:rPr>
              <a:t> customer. You can make assumptions. Your letter will be keeping key personnel in the loop and will be attaching the previous conversational documents.</a:t>
            </a:r>
          </a:p>
          <a:p>
            <a:pPr marL="0" indent="0">
              <a:buNone/>
            </a:pPr>
            <a:endParaRPr lang="en-US" dirty="0"/>
          </a:p>
        </p:txBody>
      </p:sp>
    </p:spTree>
    <p:extLst>
      <p:ext uri="{BB962C8B-B14F-4D97-AF65-F5344CB8AC3E}">
        <p14:creationId xmlns:p14="http://schemas.microsoft.com/office/powerpoint/2010/main" val="3650696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860502" y="621293"/>
          <a:ext cx="9643948" cy="5578784"/>
        </p:xfrm>
        <a:graphic>
          <a:graphicData uri="http://schemas.openxmlformats.org/drawingml/2006/table">
            <a:tbl>
              <a:tblPr firstRow="1" bandRow="1">
                <a:tableStyleId>{5DA37D80-6434-44D0-A028-1B22A696006F}</a:tableStyleId>
              </a:tblPr>
              <a:tblGrid>
                <a:gridCol w="3108616">
                  <a:extLst>
                    <a:ext uri="{9D8B030D-6E8A-4147-A177-3AD203B41FA5}">
                      <a16:colId xmlns:a16="http://schemas.microsoft.com/office/drawing/2014/main" val="20000"/>
                    </a:ext>
                  </a:extLst>
                </a:gridCol>
                <a:gridCol w="6535332">
                  <a:extLst>
                    <a:ext uri="{9D8B030D-6E8A-4147-A177-3AD203B41FA5}">
                      <a16:colId xmlns:a16="http://schemas.microsoft.com/office/drawing/2014/main" val="20001"/>
                    </a:ext>
                  </a:extLst>
                </a:gridCol>
              </a:tblGrid>
              <a:tr h="1226541">
                <a:tc>
                  <a:txBody>
                    <a:bodyPr/>
                    <a:lstStyle/>
                    <a:p>
                      <a:pPr algn="ctr"/>
                      <a:r>
                        <a:rPr lang="en-US" sz="2800" dirty="0"/>
                        <a:t>GROUPS</a:t>
                      </a:r>
                    </a:p>
                  </a:txBody>
                  <a:tcPr/>
                </a:tc>
                <a:tc>
                  <a:txBody>
                    <a:bodyPr/>
                    <a:lstStyle/>
                    <a:p>
                      <a:pPr algn="ctr"/>
                      <a:r>
                        <a:rPr lang="en-US" sz="2800" dirty="0"/>
                        <a:t>DOCUMENTS TO SUBMIT</a:t>
                      </a:r>
                    </a:p>
                  </a:txBody>
                  <a:tcPr/>
                </a:tc>
                <a:extLst>
                  <a:ext uri="{0D108BD9-81ED-4DB2-BD59-A6C34878D82A}">
                    <a16:rowId xmlns:a16="http://schemas.microsoft.com/office/drawing/2014/main" val="10000"/>
                  </a:ext>
                </a:extLst>
              </a:tr>
              <a:tr h="672619">
                <a:tc>
                  <a:txBody>
                    <a:bodyPr/>
                    <a:lstStyle/>
                    <a:p>
                      <a:r>
                        <a:rPr lang="en-US" sz="3600" dirty="0"/>
                        <a:t>Group</a:t>
                      </a:r>
                      <a:r>
                        <a:rPr lang="en-US" sz="3600" baseline="0" dirty="0"/>
                        <a:t> 1</a:t>
                      </a:r>
                      <a:endParaRPr lang="en-US" sz="3600" dirty="0"/>
                    </a:p>
                  </a:txBody>
                  <a:tcPr/>
                </a:tc>
                <a:tc>
                  <a:txBody>
                    <a:bodyPr/>
                    <a:lstStyle/>
                    <a:p>
                      <a:r>
                        <a:rPr lang="en-US" sz="3600" dirty="0"/>
                        <a:t>Complaint Letter </a:t>
                      </a:r>
                    </a:p>
                  </a:txBody>
                  <a:tcPr/>
                </a:tc>
                <a:extLst>
                  <a:ext uri="{0D108BD9-81ED-4DB2-BD59-A6C34878D82A}">
                    <a16:rowId xmlns:a16="http://schemas.microsoft.com/office/drawing/2014/main" val="10001"/>
                  </a:ext>
                </a:extLst>
              </a:tr>
              <a:tr h="1780464">
                <a:tc>
                  <a:txBody>
                    <a:bodyPr/>
                    <a:lstStyle/>
                    <a:p>
                      <a:r>
                        <a:rPr lang="en-US" sz="3600" dirty="0"/>
                        <a:t>Group 2</a:t>
                      </a:r>
                    </a:p>
                  </a:txBody>
                  <a:tcPr/>
                </a:tc>
                <a:tc>
                  <a:txBody>
                    <a:bodyPr/>
                    <a:lstStyle/>
                    <a:p>
                      <a:r>
                        <a:rPr lang="en-US" sz="3600" dirty="0"/>
                        <a:t>Acknowledgement Letter</a:t>
                      </a:r>
                    </a:p>
                    <a:p>
                      <a:r>
                        <a:rPr lang="en-US" sz="3600" dirty="0"/>
                        <a:t>Memorandum</a:t>
                      </a:r>
                    </a:p>
                  </a:txBody>
                  <a:tcPr/>
                </a:tc>
                <a:extLst>
                  <a:ext uri="{0D108BD9-81ED-4DB2-BD59-A6C34878D82A}">
                    <a16:rowId xmlns:a16="http://schemas.microsoft.com/office/drawing/2014/main" val="10002"/>
                  </a:ext>
                </a:extLst>
              </a:tr>
              <a:tr h="672619">
                <a:tc>
                  <a:txBody>
                    <a:bodyPr/>
                    <a:lstStyle/>
                    <a:p>
                      <a:r>
                        <a:rPr lang="en-US" sz="3600" dirty="0"/>
                        <a:t>Group 3</a:t>
                      </a:r>
                    </a:p>
                  </a:txBody>
                  <a:tcPr/>
                </a:tc>
                <a:tc>
                  <a:txBody>
                    <a:bodyPr/>
                    <a:lstStyle/>
                    <a:p>
                      <a:r>
                        <a:rPr lang="en-US" sz="3600" dirty="0"/>
                        <a:t>Memorandum</a:t>
                      </a:r>
                    </a:p>
                  </a:txBody>
                  <a:tcPr/>
                </a:tc>
                <a:extLst>
                  <a:ext uri="{0D108BD9-81ED-4DB2-BD59-A6C34878D82A}">
                    <a16:rowId xmlns:a16="http://schemas.microsoft.com/office/drawing/2014/main" val="10003"/>
                  </a:ext>
                </a:extLst>
              </a:tr>
              <a:tr h="1226541">
                <a:tc>
                  <a:txBody>
                    <a:bodyPr/>
                    <a:lstStyle/>
                    <a:p>
                      <a:r>
                        <a:rPr lang="en-US" sz="3600" dirty="0"/>
                        <a:t>Group</a:t>
                      </a:r>
                      <a:r>
                        <a:rPr lang="en-US" sz="3600" baseline="0" dirty="0"/>
                        <a:t> 4</a:t>
                      </a:r>
                      <a:endParaRPr lang="en-US" sz="3600" dirty="0"/>
                    </a:p>
                  </a:txBody>
                  <a:tcPr/>
                </a:tc>
                <a:tc>
                  <a:txBody>
                    <a:bodyPr/>
                    <a:lstStyle/>
                    <a:p>
                      <a:r>
                        <a:rPr lang="en-US" sz="3600" dirty="0"/>
                        <a:t>Adjustment Letter</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01309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Culture</a:t>
            </a:r>
          </a:p>
        </p:txBody>
      </p:sp>
      <p:sp>
        <p:nvSpPr>
          <p:cNvPr id="3" name="Subtitle 2"/>
          <p:cNvSpPr>
            <a:spLocks noGrp="1"/>
          </p:cNvSpPr>
          <p:nvPr>
            <p:ph type="subTitle" idx="1"/>
          </p:nvPr>
        </p:nvSpPr>
        <p:spPr/>
        <p:txBody>
          <a:bodyPr/>
          <a:lstStyle/>
          <a:p>
            <a:r>
              <a:rPr lang="en-US" dirty="0"/>
              <a:t>A Case Study</a:t>
            </a:r>
          </a:p>
        </p:txBody>
      </p:sp>
    </p:spTree>
    <p:extLst>
      <p:ext uri="{BB962C8B-B14F-4D97-AF65-F5344CB8AC3E}">
        <p14:creationId xmlns:p14="http://schemas.microsoft.com/office/powerpoint/2010/main" val="4174918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1744" y="212436"/>
            <a:ext cx="11850255" cy="6751782"/>
          </a:xfrm>
        </p:spPr>
        <p:txBody>
          <a:bodyPr>
            <a:normAutofit/>
          </a:bodyPr>
          <a:lstStyle/>
          <a:p>
            <a:pPr marL="0" marR="0" indent="0">
              <a:spcBef>
                <a:spcPts val="0"/>
              </a:spcBef>
              <a:spcAft>
                <a:spcPts val="0"/>
              </a:spcAft>
              <a:buNone/>
            </a:pPr>
            <a:r>
              <a:rPr lang="en-US" b="1" dirty="0">
                <a:effectLst/>
                <a:latin typeface="Calibri" panose="020F0502020204030204" pitchFamily="34" charset="0"/>
                <a:ea typeface="Times New Roman" panose="02020603050405020304" pitchFamily="18" charset="0"/>
              </a:rPr>
              <a:t>Case: </a:t>
            </a:r>
            <a:r>
              <a:rPr lang="en-US" dirty="0">
                <a:effectLst/>
                <a:latin typeface="Calibri" panose="020F0502020204030204" pitchFamily="34" charset="0"/>
                <a:ea typeface="Times New Roman" panose="02020603050405020304" pitchFamily="18" charset="0"/>
              </a:rPr>
              <a:t>Asma, a recent Computer Science graduate from Pakistan, has started her career as a remote software developer. Within weeks, she receives offers from three different international clients:</a:t>
            </a:r>
            <a:endParaRPr lang="en-US"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dirty="0">
                <a:effectLst/>
                <a:latin typeface="Calibri" panose="020F0502020204030204" pitchFamily="34" charset="0"/>
                <a:ea typeface="Times New Roman" panose="02020603050405020304" pitchFamily="18" charset="0"/>
              </a:rPr>
              <a:t>US Client (California): A fast-moving startup needing a mobile app. They value direct, concise communication and expect frequent status updates on Slack and Zoom.</a:t>
            </a:r>
            <a:endParaRPr lang="en-US"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dirty="0">
                <a:effectLst/>
                <a:latin typeface="Calibri" panose="020F0502020204030204" pitchFamily="34" charset="0"/>
                <a:ea typeface="Times New Roman" panose="02020603050405020304" pitchFamily="18" charset="0"/>
              </a:rPr>
              <a:t>Singapore Client: A mid-sized tech firm outsourcing part of a project. Their style is more high-context-feedback may be indirect, and relationship-building is important. Communication happens mostly over email and occasional video calls.</a:t>
            </a:r>
            <a:endParaRPr lang="en-US"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dirty="0">
                <a:effectLst/>
                <a:latin typeface="Calibri" panose="020F0502020204030204" pitchFamily="34" charset="0"/>
                <a:ea typeface="Times New Roman" panose="02020603050405020304" pitchFamily="18" charset="0"/>
              </a:rPr>
              <a:t>Australian Client: A small business wanting an e-commerce website. They are informal, friendly, and time-conscious, expecting </a:t>
            </a:r>
            <a:r>
              <a:rPr lang="en-US" dirty="0" err="1">
                <a:effectLst/>
                <a:latin typeface="Calibri" panose="020F0502020204030204" pitchFamily="34" charset="0"/>
                <a:ea typeface="Times New Roman" panose="02020603050405020304" pitchFamily="18" charset="0"/>
              </a:rPr>
              <a:t>Asma</a:t>
            </a:r>
            <a:r>
              <a:rPr lang="en-US" dirty="0">
                <a:effectLst/>
                <a:latin typeface="Calibri" panose="020F0502020204030204" pitchFamily="34" charset="0"/>
                <a:ea typeface="Times New Roman" panose="02020603050405020304" pitchFamily="18" charset="0"/>
              </a:rPr>
              <a:t> to deliver quickly and present progress in clear, straightforward ways.</a:t>
            </a:r>
            <a:endParaRPr lang="en-US"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dirty="0">
                <a:effectLst/>
                <a:latin typeface="Calibri" panose="020F0502020204030204" pitchFamily="34" charset="0"/>
                <a:ea typeface="Times New Roman" panose="02020603050405020304" pitchFamily="18" charset="0"/>
              </a:rPr>
              <a:t> </a:t>
            </a:r>
            <a:endParaRPr lang="en-US"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dirty="0">
                <a:effectLst/>
                <a:latin typeface="Calibri" panose="020F0502020204030204" pitchFamily="34" charset="0"/>
                <a:ea typeface="Times New Roman" panose="02020603050405020304" pitchFamily="18" charset="0"/>
              </a:rPr>
              <a:t>Because of workload and time zones, </a:t>
            </a:r>
            <a:r>
              <a:rPr lang="en-US" dirty="0" err="1">
                <a:effectLst/>
                <a:latin typeface="Calibri" panose="020F0502020204030204" pitchFamily="34" charset="0"/>
                <a:ea typeface="Times New Roman" panose="02020603050405020304" pitchFamily="18" charset="0"/>
              </a:rPr>
              <a:t>Asma</a:t>
            </a:r>
            <a:r>
              <a:rPr lang="en-US" dirty="0">
                <a:effectLst/>
                <a:latin typeface="Calibri" panose="020F0502020204030204" pitchFamily="34" charset="0"/>
                <a:ea typeface="Times New Roman" panose="02020603050405020304" pitchFamily="18" charset="0"/>
              </a:rPr>
              <a:t> can only choose one client. She must decide which to keep and how to refuse the others politely while keeping future opportunities open.</a:t>
            </a:r>
            <a:endParaRPr lang="en-US"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dirty="0">
                <a:effectLst/>
                <a:latin typeface="Calibri" panose="020F0502020204030204" pitchFamily="34" charset="0"/>
                <a:ea typeface="Times New Roman" panose="02020603050405020304" pitchFamily="18" charset="0"/>
              </a:rPr>
              <a:t>Asma also needs to think about:</a:t>
            </a:r>
            <a:endParaRPr lang="en-US"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dirty="0">
                <a:effectLst/>
                <a:latin typeface="Calibri" panose="020F0502020204030204" pitchFamily="34" charset="0"/>
                <a:ea typeface="Times New Roman" panose="02020603050405020304" pitchFamily="18" charset="0"/>
              </a:rPr>
              <a:t>Time zones (working across US, Singapore, and Australia from Pakistan).</a:t>
            </a:r>
            <a:endParaRPr lang="en-US"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dirty="0">
                <a:effectLst/>
                <a:latin typeface="Calibri" panose="020F0502020204030204" pitchFamily="34" charset="0"/>
                <a:ea typeface="Times New Roman" panose="02020603050405020304" pitchFamily="18" charset="0"/>
              </a:rPr>
              <a:t>Cultural communication styles (high vs. low context).</a:t>
            </a:r>
            <a:endParaRPr lang="en-US"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dirty="0">
                <a:effectLst/>
                <a:latin typeface="Calibri" panose="020F0502020204030204" pitchFamily="34" charset="0"/>
                <a:ea typeface="Times New Roman" panose="02020603050405020304" pitchFamily="18" charset="0"/>
              </a:rPr>
              <a:t>Remote collaboration tools (emails, Zoom, Slack, project management apps).</a:t>
            </a:r>
            <a:endParaRPr lang="en-US"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dirty="0">
                <a:effectLst/>
                <a:latin typeface="Calibri" panose="020F0502020204030204" pitchFamily="34" charset="0"/>
                <a:ea typeface="Times New Roman" panose="02020603050405020304" pitchFamily="18" charset="0"/>
              </a:rPr>
              <a:t>Presentation skills (how to explain technical updates clearly to different audiences online).</a:t>
            </a:r>
            <a:endParaRPr lang="en-US"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3233561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073" y="489527"/>
            <a:ext cx="10725727" cy="5687436"/>
          </a:xfrm>
        </p:spPr>
        <p:txBody>
          <a:bodyPr/>
          <a:lstStyle/>
          <a:p>
            <a:pPr marL="0" indent="0">
              <a:buNone/>
            </a:pPr>
            <a:r>
              <a:rPr lang="en-US" b="1" dirty="0"/>
              <a:t>Questions:</a:t>
            </a:r>
            <a:endParaRPr lang="en-US" sz="2400" b="1" dirty="0"/>
          </a:p>
          <a:p>
            <a:pPr marL="514350" marR="0" lvl="0" indent="-514350" fontAlgn="base">
              <a:spcBef>
                <a:spcPts val="0"/>
              </a:spcBef>
              <a:spcAft>
                <a:spcPts val="0"/>
              </a:spcAft>
              <a:buFont typeface="+mj-lt"/>
              <a:buAutoNum type="alphaUcPeriod"/>
              <a:tabLst>
                <a:tab pos="457200" algn="l"/>
              </a:tabLst>
            </a:pPr>
            <a:r>
              <a:rPr lang="en-US" sz="2800" dirty="0">
                <a:solidFill>
                  <a:schemeClr val="tx1"/>
                </a:solidFill>
                <a:effectLst/>
                <a:latin typeface="Calibri" panose="020F0502020204030204" pitchFamily="34" charset="0"/>
                <a:ea typeface="Times New Roman" panose="02020603050405020304" pitchFamily="18" charset="0"/>
              </a:rPr>
              <a:t>How does working remotely change the way </a:t>
            </a:r>
            <a:r>
              <a:rPr lang="en-US" sz="2800" dirty="0" err="1">
                <a:solidFill>
                  <a:schemeClr val="tx1"/>
                </a:solidFill>
                <a:effectLst/>
                <a:latin typeface="Calibri" panose="020F0502020204030204" pitchFamily="34" charset="0"/>
                <a:ea typeface="Times New Roman" panose="02020603050405020304" pitchFamily="18" charset="0"/>
              </a:rPr>
              <a:t>Asma</a:t>
            </a:r>
            <a:r>
              <a:rPr lang="en-US" sz="2800" dirty="0">
                <a:solidFill>
                  <a:schemeClr val="tx1"/>
                </a:solidFill>
                <a:effectLst/>
                <a:latin typeface="Calibri" panose="020F0502020204030204" pitchFamily="34" charset="0"/>
                <a:ea typeface="Times New Roman" panose="02020603050405020304" pitchFamily="18" charset="0"/>
              </a:rPr>
              <a:t> should communicate with clients in the US, Singapore, and Australia? Draw a comparison and give two reasons for all three locations. </a:t>
            </a:r>
            <a:endParaRPr lang="en-US" sz="2800" dirty="0">
              <a:solidFill>
                <a:schemeClr val="tx1"/>
              </a:solidFill>
              <a:effectLst/>
              <a:latin typeface="Times New Roman" panose="02020603050405020304" pitchFamily="18" charset="0"/>
              <a:ea typeface="Times New Roman" panose="02020603050405020304" pitchFamily="18" charset="0"/>
            </a:endParaRPr>
          </a:p>
          <a:p>
            <a:pPr marL="514350" marR="0" lvl="0" indent="-514350" fontAlgn="base">
              <a:spcBef>
                <a:spcPts val="0"/>
              </a:spcBef>
              <a:spcAft>
                <a:spcPts val="0"/>
              </a:spcAft>
              <a:buFont typeface="+mj-lt"/>
              <a:buAutoNum type="alphaUcPeriod"/>
              <a:tabLst>
                <a:tab pos="457200" algn="l"/>
              </a:tabLst>
            </a:pPr>
            <a:r>
              <a:rPr lang="en-US" sz="2800" dirty="0">
                <a:solidFill>
                  <a:schemeClr val="tx1"/>
                </a:solidFill>
                <a:effectLst/>
                <a:latin typeface="Calibri" panose="020F0502020204030204" pitchFamily="34" charset="0"/>
                <a:ea typeface="Times New Roman" panose="02020603050405020304" pitchFamily="18" charset="0"/>
              </a:rPr>
              <a:t>Which client might be easiest to manage given her location in Pakistan? How could Asma organize her schedule and set boundaries when working across time zones?</a:t>
            </a:r>
            <a:endParaRPr lang="en-US" sz="2800" dirty="0">
              <a:solidFill>
                <a:schemeClr val="tx1"/>
              </a:solidFill>
              <a:effectLst/>
              <a:latin typeface="Times New Roman" panose="02020603050405020304" pitchFamily="18" charset="0"/>
              <a:ea typeface="Times New Roman" panose="02020603050405020304" pitchFamily="18" charset="0"/>
            </a:endParaRPr>
          </a:p>
          <a:p>
            <a:pPr marL="457200" marR="0" lvl="0" indent="-457200">
              <a:lnSpc>
                <a:spcPct val="107000"/>
              </a:lnSpc>
              <a:spcBef>
                <a:spcPts val="0"/>
              </a:spcBef>
              <a:spcAft>
                <a:spcPts val="800"/>
              </a:spcAft>
              <a:buFont typeface="+mj-lt"/>
              <a:buAutoNum type="alphaUcPeriod"/>
              <a:tabLst>
                <a:tab pos="457200" algn="l"/>
              </a:tabLst>
            </a:pPr>
            <a:r>
              <a:rPr lang="en-US" sz="2800" kern="100" dirty="0">
                <a:solidFill>
                  <a:schemeClr val="tx1"/>
                </a:solidFill>
                <a:effectLst/>
                <a:latin typeface="Calibri" panose="020F0502020204030204" pitchFamily="34" charset="0"/>
                <a:ea typeface="Aptos"/>
                <a:cs typeface="Times New Roman" panose="02020603050405020304" pitchFamily="18" charset="0"/>
              </a:rPr>
              <a:t>Besides money, what other key factors should Asma consider before deciding which client to work for? Discuss at least two such factors (e.g., long-term growth, cultural fit, communication ease) and explain why they matter in her situation. </a:t>
            </a:r>
            <a:endParaRPr lang="en-US" sz="2800" kern="100" dirty="0">
              <a:solidFill>
                <a:schemeClr val="tx1"/>
              </a:solidFill>
              <a:effectLst/>
              <a:latin typeface="Aptos"/>
              <a:ea typeface="Aptos"/>
              <a:cs typeface="Times New Roman" panose="02020603050405020304" pitchFamily="18" charset="0"/>
            </a:endParaRPr>
          </a:p>
          <a:p>
            <a:pPr marL="0" marR="0" indent="0" algn="r">
              <a:spcBef>
                <a:spcPts val="0"/>
              </a:spcBef>
              <a:spcAft>
                <a:spcPts val="0"/>
              </a:spcAft>
              <a:buNone/>
            </a:pPr>
            <a:r>
              <a:rPr lang="en-US" sz="2400" dirty="0">
                <a:solidFill>
                  <a:schemeClr val="tx1"/>
                </a:solidFill>
                <a:effectLst/>
                <a:latin typeface="Calibri" panose="020F0502020204030204" pitchFamily="34" charset="0"/>
                <a:ea typeface="Times New Roman" panose="02020603050405020304" pitchFamily="18" charset="0"/>
              </a:rPr>
              <a:t>[5 + 5 + 5]</a:t>
            </a:r>
            <a:endParaRPr lang="en-US" sz="2400" dirty="0">
              <a:solidFill>
                <a:schemeClr val="tx1"/>
              </a:solidFill>
              <a:effectLst/>
              <a:latin typeface="Times New Roman" panose="02020603050405020304" pitchFamily="18" charset="0"/>
              <a:ea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4019823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5F2F91-84CC-C79F-E5E7-2DDB390D9769}"/>
              </a:ext>
            </a:extLst>
          </p:cNvPr>
          <p:cNvSpPr txBox="1"/>
          <p:nvPr/>
        </p:nvSpPr>
        <p:spPr>
          <a:xfrm>
            <a:off x="579120" y="274320"/>
            <a:ext cx="11216640" cy="5355312"/>
          </a:xfrm>
          <a:prstGeom prst="rect">
            <a:avLst/>
          </a:prstGeom>
          <a:noFill/>
        </p:spPr>
        <p:txBody>
          <a:bodyPr wrap="square">
            <a:spAutoFit/>
          </a:bodyPr>
          <a:lstStyle/>
          <a:p>
            <a:r>
              <a:rPr lang="en-US" dirty="0"/>
              <a:t>A. </a:t>
            </a:r>
            <a:r>
              <a:rPr lang="en-US" sz="1800" b="1" dirty="0">
                <a:solidFill>
                  <a:schemeClr val="bg2">
                    <a:lumMod val="25000"/>
                  </a:schemeClr>
                </a:solidFill>
                <a:effectLst/>
                <a:latin typeface="Calibri" panose="020F0502020204030204" pitchFamily="34" charset="0"/>
                <a:ea typeface="Times New Roman" panose="02020603050405020304" pitchFamily="18" charset="0"/>
              </a:rPr>
              <a:t>How does working remotely change the way Asma should communicate with clients in the US, Singapore, and Australia? Draw a comparison and give two reasons for all three locations. </a:t>
            </a:r>
            <a:endParaRPr lang="en-US" sz="1800" b="1" dirty="0">
              <a:solidFill>
                <a:schemeClr val="bg2">
                  <a:lumMod val="25000"/>
                </a:schemeClr>
              </a:solidFill>
              <a:effectLst/>
              <a:latin typeface="Times New Roman" panose="02020603050405020304" pitchFamily="18" charset="0"/>
              <a:ea typeface="Times New Roman" panose="02020603050405020304" pitchFamily="18" charset="0"/>
            </a:endParaRPr>
          </a:p>
          <a:p>
            <a:endParaRPr lang="en-US" dirty="0"/>
          </a:p>
          <a:p>
            <a:r>
              <a:rPr lang="en-US" dirty="0"/>
              <a:t> Remote work makes communication more deliberate because Asma cannot depend on face-to-face</a:t>
            </a:r>
          </a:p>
          <a:p>
            <a:r>
              <a:rPr lang="en-US" dirty="0"/>
              <a:t>interaction to clarify meaning. With the US client, she should adopt a relatively low-context, direct,</a:t>
            </a:r>
          </a:p>
          <a:p>
            <a:r>
              <a:rPr lang="en-US" dirty="0"/>
              <a:t>concise and task-oriented communication style. For example, instead of saying, “The development is</a:t>
            </a:r>
          </a:p>
          <a:p>
            <a:r>
              <a:rPr lang="en-US" dirty="0"/>
              <a:t>progressing well,” she should say, “The login module is 80% complete and will be ready for testing by</a:t>
            </a:r>
          </a:p>
          <a:p>
            <a:endParaRPr lang="en-US" dirty="0"/>
          </a:p>
          <a:p>
            <a:r>
              <a:rPr lang="en-US" dirty="0"/>
              <a:t>Thursday.” This gives the client specific information and supports the startup's need for rapid decision-</a:t>
            </a:r>
          </a:p>
          <a:p>
            <a:r>
              <a:rPr lang="en-US" dirty="0" err="1"/>
              <a:t>making.With</a:t>
            </a:r>
            <a:r>
              <a:rPr lang="en-US" dirty="0"/>
              <a:t> the Singaporean client, Asma needs greater sensitivity to high-context communication. If</a:t>
            </a:r>
          </a:p>
          <a:p>
            <a:endParaRPr lang="en-US" dirty="0"/>
          </a:p>
          <a:p>
            <a:r>
              <a:rPr lang="en-US" dirty="0"/>
              <a:t>a client says, “Perhaps we could look at this section again,” she should not automatically assume that</a:t>
            </a:r>
          </a:p>
          <a:p>
            <a:r>
              <a:rPr lang="en-US" dirty="0"/>
              <a:t>the feedback is merely a suggestion. It may indirectly communicate dissatisfaction. She should use</a:t>
            </a:r>
          </a:p>
          <a:p>
            <a:r>
              <a:rPr lang="en-US" dirty="0"/>
              <a:t>active listening, diplomatic clarification, relationship-building and careful interpretation of tone. Since</a:t>
            </a:r>
          </a:p>
          <a:p>
            <a:r>
              <a:rPr lang="en-US" dirty="0"/>
              <a:t>remote communication reduces contextual cues, she can politely confirm expectations in writing after</a:t>
            </a:r>
          </a:p>
          <a:p>
            <a:r>
              <a:rPr lang="en-US" dirty="0"/>
              <a:t>meetings. With the Australian client, Asma can use a relatively low-context, informal and direct style,</a:t>
            </a:r>
          </a:p>
          <a:p>
            <a:r>
              <a:rPr lang="en-US" dirty="0"/>
              <a:t>while maintaining professionalism. Communication can be friendly and conversational, but project</a:t>
            </a:r>
          </a:p>
          <a:p>
            <a:r>
              <a:rPr lang="en-US" dirty="0"/>
              <a:t>expectations, deadlines, technical problems, and deliverables should remain explicit. Since the client is</a:t>
            </a:r>
          </a:p>
          <a:p>
            <a:r>
              <a:rPr lang="en-US" dirty="0"/>
              <a:t>time-conscious, conciseness and efficiency are particularly important.</a:t>
            </a:r>
          </a:p>
        </p:txBody>
      </p:sp>
    </p:spTree>
    <p:extLst>
      <p:ext uri="{BB962C8B-B14F-4D97-AF65-F5344CB8AC3E}">
        <p14:creationId xmlns:p14="http://schemas.microsoft.com/office/powerpoint/2010/main" val="4163206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952F82-E6CD-AE4A-D35A-76B20EE20AAF}"/>
              </a:ext>
            </a:extLst>
          </p:cNvPr>
          <p:cNvSpPr>
            <a:spLocks noGrp="1"/>
          </p:cNvSpPr>
          <p:nvPr>
            <p:ph idx="1"/>
          </p:nvPr>
        </p:nvSpPr>
        <p:spPr>
          <a:xfrm>
            <a:off x="192505" y="1"/>
            <a:ext cx="11871158" cy="7170820"/>
          </a:xfrm>
        </p:spPr>
        <p:txBody>
          <a:bodyPr>
            <a:noAutofit/>
          </a:bodyPr>
          <a:lstStyle/>
          <a:p>
            <a:pPr marL="0" marR="0">
              <a:spcBef>
                <a:spcPts val="1400"/>
              </a:spcBef>
              <a:spcAft>
                <a:spcPts val="600"/>
              </a:spcAft>
            </a:pPr>
            <a:r>
              <a:rPr lang="en-US" sz="2200" b="1" dirty="0">
                <a:solidFill>
                  <a:srgbClr val="2E74B5"/>
                </a:solidFill>
                <a:effectLst/>
                <a:latin typeface="Calibri" panose="020F0502020204030204" pitchFamily="34" charset="0"/>
                <a:ea typeface="Calibri" panose="020F0502020204030204" pitchFamily="34" charset="0"/>
              </a:rPr>
              <a:t>Q2. Which client is easiest to manage from Pakistan, and how should Asma organize her schedule/boundaries? </a:t>
            </a:r>
            <a:endParaRPr lang="en-US" sz="2200" b="1" dirty="0">
              <a:solidFill>
                <a:srgbClr val="2E74B5"/>
              </a:solidFill>
              <a:effectLst/>
              <a:latin typeface="Times New Roman" panose="02020603050405020304" pitchFamily="18" charset="0"/>
            </a:endParaRPr>
          </a:p>
          <a:p>
            <a:pPr marL="0" marR="0">
              <a:lnSpc>
                <a:spcPct val="115000"/>
              </a:lnSpc>
              <a:spcBef>
                <a:spcPts val="0"/>
              </a:spcBef>
              <a:spcAft>
                <a:spcPts val="800"/>
              </a:spcAft>
            </a:pPr>
            <a:r>
              <a:rPr lang="en-US" sz="2200" dirty="0">
                <a:effectLst/>
                <a:latin typeface="Calibri" panose="020F0502020204030204" pitchFamily="34" charset="0"/>
                <a:ea typeface="Calibri" panose="020F0502020204030204" pitchFamily="34" charset="0"/>
              </a:rPr>
              <a:t>B. The Singapore client may be relatively easier to manage from Pakistan, particularly because of the</a:t>
            </a:r>
          </a:p>
          <a:p>
            <a:pPr marL="0" marR="0">
              <a:lnSpc>
                <a:spcPct val="115000"/>
              </a:lnSpc>
              <a:spcBef>
                <a:spcPts val="0"/>
              </a:spcBef>
              <a:spcAft>
                <a:spcPts val="800"/>
              </a:spcAft>
            </a:pPr>
            <a:r>
              <a:rPr lang="en-US" sz="2200" dirty="0">
                <a:effectLst/>
                <a:latin typeface="Calibri" panose="020F0502020204030204" pitchFamily="34" charset="0"/>
                <a:ea typeface="Calibri" panose="020F0502020204030204" pitchFamily="34" charset="0"/>
              </a:rPr>
              <a:t>smaller time-zone difference and the possibility of maintaining overlapping working hours.</a:t>
            </a:r>
          </a:p>
          <a:p>
            <a:pPr marL="0" marR="0">
              <a:lnSpc>
                <a:spcPct val="115000"/>
              </a:lnSpc>
              <a:spcBef>
                <a:spcPts val="0"/>
              </a:spcBef>
              <a:spcAft>
                <a:spcPts val="800"/>
              </a:spcAft>
            </a:pPr>
            <a:r>
              <a:rPr lang="en-US" sz="2200" dirty="0">
                <a:effectLst/>
                <a:latin typeface="Calibri" panose="020F0502020204030204" pitchFamily="34" charset="0"/>
                <a:ea typeface="Calibri" panose="020F0502020204030204" pitchFamily="34" charset="0"/>
              </a:rPr>
              <a:t>Pakistan is UTC+5, while Singapore is UTC+8, so Singapore is normally 3 hours ahead of Pakistan. This</a:t>
            </a:r>
          </a:p>
          <a:p>
            <a:pPr marL="0" marR="0">
              <a:lnSpc>
                <a:spcPct val="115000"/>
              </a:lnSpc>
              <a:spcBef>
                <a:spcPts val="0"/>
              </a:spcBef>
              <a:spcAft>
                <a:spcPts val="800"/>
              </a:spcAft>
            </a:pPr>
            <a:r>
              <a:rPr lang="en-US" sz="2200" dirty="0">
                <a:effectLst/>
                <a:latin typeface="Calibri" panose="020F0502020204030204" pitchFamily="34" charset="0"/>
                <a:ea typeface="Calibri" panose="020F0502020204030204" pitchFamily="34" charset="0"/>
              </a:rPr>
              <a:t>gives Asma substantial opportunity for synchronous communication during her normal working day.</a:t>
            </a:r>
          </a:p>
          <a:p>
            <a:pPr marL="0" marR="0">
              <a:lnSpc>
                <a:spcPct val="115000"/>
              </a:lnSpc>
              <a:spcBef>
                <a:spcPts val="0"/>
              </a:spcBef>
              <a:spcAft>
                <a:spcPts val="800"/>
              </a:spcAft>
            </a:pPr>
            <a:r>
              <a:rPr lang="en-US" sz="2200" dirty="0">
                <a:effectLst/>
                <a:latin typeface="Calibri" panose="020F0502020204030204" pitchFamily="34" charset="0"/>
                <a:ea typeface="Calibri" panose="020F0502020204030204" pitchFamily="34" charset="0"/>
              </a:rPr>
              <a:t>For example:</a:t>
            </a:r>
          </a:p>
          <a:p>
            <a:pPr marL="0" marR="0">
              <a:lnSpc>
                <a:spcPct val="115000"/>
              </a:lnSpc>
              <a:spcBef>
                <a:spcPts val="0"/>
              </a:spcBef>
              <a:spcAft>
                <a:spcPts val="800"/>
              </a:spcAft>
            </a:pPr>
            <a:r>
              <a:rPr lang="en-US" sz="2200" dirty="0">
                <a:effectLst/>
                <a:latin typeface="Calibri" panose="020F0502020204030204" pitchFamily="34" charset="0"/>
                <a:ea typeface="Calibri" panose="020F0502020204030204" pitchFamily="34" charset="0"/>
              </a:rPr>
              <a:t>•Asma: 9:00 a.m. Pakistan</a:t>
            </a:r>
          </a:p>
          <a:p>
            <a:pPr marL="0" marR="0">
              <a:lnSpc>
                <a:spcPct val="115000"/>
              </a:lnSpc>
              <a:spcBef>
                <a:spcPts val="0"/>
              </a:spcBef>
              <a:spcAft>
                <a:spcPts val="800"/>
              </a:spcAft>
            </a:pPr>
            <a:r>
              <a:rPr lang="en-US" sz="2200" dirty="0">
                <a:effectLst/>
                <a:latin typeface="Calibri" panose="020F0502020204030204" pitchFamily="34" charset="0"/>
                <a:ea typeface="Calibri" panose="020F0502020204030204" pitchFamily="34" charset="0"/>
              </a:rPr>
              <a:t>•Singapore client: 12:00 p.m. Singapore</a:t>
            </a:r>
          </a:p>
          <a:p>
            <a:pPr marL="0" marR="0">
              <a:lnSpc>
                <a:spcPct val="115000"/>
              </a:lnSpc>
              <a:spcBef>
                <a:spcPts val="0"/>
              </a:spcBef>
              <a:spcAft>
                <a:spcPts val="800"/>
              </a:spcAft>
            </a:pPr>
            <a:r>
              <a:rPr lang="en-US" sz="2200" dirty="0">
                <a:effectLst/>
                <a:latin typeface="Calibri" panose="020F0502020204030204" pitchFamily="34" charset="0"/>
                <a:ea typeface="Calibri" panose="020F0502020204030204" pitchFamily="34" charset="0"/>
              </a:rPr>
              <a:t>A meeting at 2:00 p.m. Pakistan would be 5:00 p.m. Singapore, still potentially workable depending on</a:t>
            </a:r>
          </a:p>
          <a:p>
            <a:pPr marL="0" marR="0">
              <a:lnSpc>
                <a:spcPct val="115000"/>
              </a:lnSpc>
              <a:spcBef>
                <a:spcPts val="0"/>
              </a:spcBef>
              <a:spcAft>
                <a:spcPts val="800"/>
              </a:spcAft>
            </a:pPr>
            <a:r>
              <a:rPr lang="en-US" sz="2200" dirty="0">
                <a:effectLst/>
                <a:latin typeface="Calibri" panose="020F0502020204030204" pitchFamily="34" charset="0"/>
                <a:ea typeface="Calibri" panose="020F0502020204030204" pitchFamily="34" charset="0"/>
              </a:rPr>
              <a:t>the client's working hours. However, Singapore's high-context communication style may require Asma</a:t>
            </a:r>
          </a:p>
          <a:p>
            <a:pPr marL="0" marR="0">
              <a:lnSpc>
                <a:spcPct val="115000"/>
              </a:lnSpc>
              <a:spcBef>
                <a:spcPts val="0"/>
              </a:spcBef>
              <a:spcAft>
                <a:spcPts val="800"/>
              </a:spcAft>
            </a:pPr>
            <a:r>
              <a:rPr lang="en-US" sz="2200" dirty="0">
                <a:effectLst/>
                <a:latin typeface="Calibri" panose="020F0502020204030204" pitchFamily="34" charset="0"/>
                <a:ea typeface="Calibri" panose="020F0502020204030204" pitchFamily="34" charset="0"/>
              </a:rPr>
              <a:t>to invest more effort in relationship-building, interpreting indirect feedback, and clarifying expectations.</a:t>
            </a:r>
          </a:p>
          <a:p>
            <a:pPr marL="0" marR="0">
              <a:lnSpc>
                <a:spcPct val="115000"/>
              </a:lnSpc>
              <a:spcBef>
                <a:spcPts val="0"/>
              </a:spcBef>
              <a:spcAft>
                <a:spcPts val="800"/>
              </a:spcAft>
            </a:pPr>
            <a:r>
              <a:rPr lang="en-US" sz="2200" dirty="0">
                <a:effectLst/>
                <a:latin typeface="Calibri" panose="020F0502020204030204" pitchFamily="34" charset="0"/>
                <a:ea typeface="Calibri" panose="020F0502020204030204" pitchFamily="34" charset="0"/>
              </a:rPr>
              <a:t>Thus, time-zone convenience does not automatically mean communication convenience.</a:t>
            </a:r>
            <a:endParaRPr lang="en-US" sz="2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06701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493ADE-DA6C-774D-3EB1-6BAA1AA350D2}"/>
              </a:ext>
            </a:extLst>
          </p:cNvPr>
          <p:cNvSpPr>
            <a:spLocks noGrp="1"/>
          </p:cNvSpPr>
          <p:nvPr>
            <p:ph idx="1"/>
          </p:nvPr>
        </p:nvSpPr>
        <p:spPr>
          <a:xfrm>
            <a:off x="513347" y="144379"/>
            <a:ext cx="10642333" cy="5724715"/>
          </a:xfrm>
        </p:spPr>
        <p:txBody>
          <a:bodyPr>
            <a:normAutofit fontScale="85000" lnSpcReduction="10000"/>
          </a:bodyPr>
          <a:lstStyle/>
          <a:p>
            <a:pPr marL="0" marR="0">
              <a:spcBef>
                <a:spcPts val="1400"/>
              </a:spcBef>
              <a:spcAft>
                <a:spcPts val="600"/>
              </a:spcAft>
            </a:pPr>
            <a:r>
              <a:rPr lang="en-US" sz="2400" b="1" dirty="0">
                <a:solidFill>
                  <a:srgbClr val="2E74B5"/>
                </a:solidFill>
                <a:effectLst/>
                <a:latin typeface="Calibri" panose="020F0502020204030204" pitchFamily="34" charset="0"/>
                <a:ea typeface="Calibri" panose="020F0502020204030204" pitchFamily="34" charset="0"/>
              </a:rPr>
              <a:t>Q3. Beyond money, what other factors should Asma consider? (at least two, with reasons) </a:t>
            </a:r>
            <a:endParaRPr lang="en-US" sz="2400" b="1" dirty="0">
              <a:solidFill>
                <a:srgbClr val="2E74B5"/>
              </a:solidFill>
              <a:effectLst/>
              <a:latin typeface="Times New Roman" panose="02020603050405020304" pitchFamily="18" charset="0"/>
            </a:endParaRPr>
          </a:p>
          <a:p>
            <a:pPr marL="0" marR="0">
              <a:lnSpc>
                <a:spcPct val="115000"/>
              </a:lnSpc>
              <a:spcBef>
                <a:spcPts val="0"/>
              </a:spcBef>
              <a:spcAft>
                <a:spcPts val="800"/>
              </a:spcAft>
            </a:pPr>
            <a:r>
              <a:rPr lang="en-US" sz="2400" b="1" dirty="0">
                <a:effectLst/>
                <a:latin typeface="Calibri" panose="020F0502020204030204" pitchFamily="34" charset="0"/>
                <a:ea typeface="Calibri" panose="020F0502020204030204" pitchFamily="34" charset="0"/>
              </a:rPr>
              <a:t>C. Besides money, Asma should consider long-term career growth, cultural fit, communication</a:t>
            </a:r>
          </a:p>
          <a:p>
            <a:pPr marL="0" marR="0">
              <a:lnSpc>
                <a:spcPct val="115000"/>
              </a:lnSpc>
              <a:spcBef>
                <a:spcPts val="0"/>
              </a:spcBef>
              <a:spcAft>
                <a:spcPts val="800"/>
              </a:spcAft>
            </a:pPr>
            <a:r>
              <a:rPr lang="en-US" sz="2400" b="1" dirty="0">
                <a:effectLst/>
                <a:latin typeface="Calibri" panose="020F0502020204030204" pitchFamily="34" charset="0"/>
                <a:ea typeface="Calibri" panose="020F0502020204030204" pitchFamily="34" charset="0"/>
              </a:rPr>
              <a:t>ease, workload, time-zone compatibility, and work-life balance. A client that offers skill</a:t>
            </a:r>
          </a:p>
          <a:p>
            <a:pPr marL="0" marR="0">
              <a:lnSpc>
                <a:spcPct val="115000"/>
              </a:lnSpc>
              <a:spcBef>
                <a:spcPts val="0"/>
              </a:spcBef>
              <a:spcAft>
                <a:spcPts val="800"/>
              </a:spcAft>
            </a:pPr>
            <a:r>
              <a:rPr lang="en-US" sz="2400" b="1" dirty="0">
                <a:effectLst/>
                <a:latin typeface="Calibri" panose="020F0502020204030204" pitchFamily="34" charset="0"/>
                <a:ea typeface="Calibri" panose="020F0502020204030204" pitchFamily="34" charset="0"/>
              </a:rPr>
              <a:t>development, portfolio building, networking, mentorship, and future opportunities can</a:t>
            </a:r>
          </a:p>
          <a:p>
            <a:pPr marL="0" marR="0">
              <a:lnSpc>
                <a:spcPct val="115000"/>
              </a:lnSpc>
              <a:spcBef>
                <a:spcPts val="0"/>
              </a:spcBef>
              <a:spcAft>
                <a:spcPts val="800"/>
              </a:spcAft>
            </a:pPr>
            <a:r>
              <a:rPr lang="en-US" sz="2400" b="1" dirty="0">
                <a:effectLst/>
                <a:latin typeface="Calibri" panose="020F0502020204030204" pitchFamily="34" charset="0"/>
                <a:ea typeface="Calibri" panose="020F0502020204030204" pitchFamily="34" charset="0"/>
              </a:rPr>
              <a:t>contribute more to her professional development. Cultural fit is also important because</a:t>
            </a:r>
          </a:p>
          <a:p>
            <a:pPr marL="0" marR="0">
              <a:lnSpc>
                <a:spcPct val="115000"/>
              </a:lnSpc>
              <a:spcBef>
                <a:spcPts val="0"/>
              </a:spcBef>
              <a:spcAft>
                <a:spcPts val="800"/>
              </a:spcAft>
            </a:pPr>
            <a:r>
              <a:rPr lang="en-US" sz="2400" b="1" dirty="0">
                <a:effectLst/>
                <a:latin typeface="Calibri" panose="020F0502020204030204" pitchFamily="34" charset="0"/>
                <a:ea typeface="Calibri" panose="020F0502020204030204" pitchFamily="34" charset="0"/>
              </a:rPr>
              <a:t>adapting to high-context or low-context communication, direct or indirect feedback,</a:t>
            </a:r>
          </a:p>
          <a:p>
            <a:pPr marL="0" marR="0">
              <a:lnSpc>
                <a:spcPct val="115000"/>
              </a:lnSpc>
              <a:spcBef>
                <a:spcPts val="0"/>
              </a:spcBef>
              <a:spcAft>
                <a:spcPts val="800"/>
              </a:spcAft>
            </a:pPr>
            <a:r>
              <a:rPr lang="en-US" sz="2400" b="1" dirty="0">
                <a:effectLst/>
                <a:latin typeface="Calibri" panose="020F0502020204030204" pitchFamily="34" charset="0"/>
                <a:ea typeface="Calibri" panose="020F0502020204030204" pitchFamily="34" charset="0"/>
              </a:rPr>
              <a:t>relationship-building, and different expectations of professionalism can affect trust and</a:t>
            </a:r>
          </a:p>
          <a:p>
            <a:pPr marL="0" marR="0">
              <a:lnSpc>
                <a:spcPct val="115000"/>
              </a:lnSpc>
              <a:spcBef>
                <a:spcPts val="0"/>
              </a:spcBef>
              <a:spcAft>
                <a:spcPts val="800"/>
              </a:spcAft>
            </a:pPr>
            <a:r>
              <a:rPr lang="en-US" sz="2400" b="1" dirty="0">
                <a:effectLst/>
                <a:latin typeface="Calibri" panose="020F0502020204030204" pitchFamily="34" charset="0"/>
                <a:ea typeface="Calibri" panose="020F0502020204030204" pitchFamily="34" charset="0"/>
              </a:rPr>
              <a:t>productivity. She should also evaluate the level of synchronous versus asynchronous</a:t>
            </a:r>
          </a:p>
          <a:p>
            <a:pPr marL="0" marR="0">
              <a:lnSpc>
                <a:spcPct val="115000"/>
              </a:lnSpc>
              <a:spcBef>
                <a:spcPts val="0"/>
              </a:spcBef>
              <a:spcAft>
                <a:spcPts val="800"/>
              </a:spcAft>
            </a:pPr>
            <a:r>
              <a:rPr lang="en-US" sz="2400" b="1" dirty="0">
                <a:effectLst/>
                <a:latin typeface="Calibri" panose="020F0502020204030204" pitchFamily="34" charset="0"/>
                <a:ea typeface="Calibri" panose="020F0502020204030204" pitchFamily="34" charset="0"/>
              </a:rPr>
              <a:t>communication, meeting frequency, deadlines, scope of work, and response-time expectations.</a:t>
            </a:r>
          </a:p>
          <a:p>
            <a:pPr marL="0" marR="0">
              <a:lnSpc>
                <a:spcPct val="115000"/>
              </a:lnSpc>
              <a:spcBef>
                <a:spcPts val="0"/>
              </a:spcBef>
              <a:spcAft>
                <a:spcPts val="800"/>
              </a:spcAft>
            </a:pPr>
            <a:r>
              <a:rPr lang="en-US" sz="2400" b="1" dirty="0">
                <a:effectLst/>
                <a:latin typeface="Calibri" panose="020F0502020204030204" pitchFamily="34" charset="0"/>
                <a:ea typeface="Calibri" panose="020F0502020204030204" pitchFamily="34" charset="0"/>
              </a:rPr>
              <a:t>Since she is working remotely from Pakistan, time-zone management and boundary</a:t>
            </a:r>
          </a:p>
          <a:p>
            <a:pPr marL="0" marR="0">
              <a:lnSpc>
                <a:spcPct val="115000"/>
              </a:lnSpc>
              <a:spcBef>
                <a:spcPts val="0"/>
              </a:spcBef>
              <a:spcAft>
                <a:spcPts val="800"/>
              </a:spcAft>
            </a:pPr>
            <a:r>
              <a:rPr lang="en-US" sz="2400" b="1" dirty="0">
                <a:effectLst/>
                <a:latin typeface="Calibri" panose="020F0502020204030204" pitchFamily="34" charset="0"/>
                <a:ea typeface="Calibri" panose="020F0502020204030204" pitchFamily="34" charset="0"/>
              </a:rPr>
              <a:t>management are essential to prevent excessive late-night work and protect work-life balance.</a:t>
            </a:r>
          </a:p>
          <a:p>
            <a:pPr marL="0" marR="0">
              <a:lnSpc>
                <a:spcPct val="115000"/>
              </a:lnSpc>
              <a:spcBef>
                <a:spcPts val="0"/>
              </a:spcBef>
              <a:spcAft>
                <a:spcPts val="800"/>
              </a:spcAft>
            </a:pPr>
            <a:r>
              <a:rPr lang="en-US" sz="2400" b="1" dirty="0">
                <a:effectLst/>
                <a:latin typeface="Calibri" panose="020F0502020204030204" pitchFamily="34" charset="0"/>
                <a:ea typeface="Calibri" panose="020F0502020204030204" pitchFamily="34" charset="0"/>
              </a:rPr>
              <a:t>Therefore, Asma should choose a client whose communication style, working hours, project</a:t>
            </a:r>
          </a:p>
          <a:p>
            <a:pPr marL="0" marR="0">
              <a:lnSpc>
                <a:spcPct val="115000"/>
              </a:lnSpc>
              <a:spcBef>
                <a:spcPts val="0"/>
              </a:spcBef>
              <a:spcAft>
                <a:spcPts val="800"/>
              </a:spcAft>
            </a:pPr>
            <a:r>
              <a:rPr lang="en-US" sz="2400" b="1" dirty="0">
                <a:effectLst/>
                <a:latin typeface="Calibri" panose="020F0502020204030204" pitchFamily="34" charset="0"/>
                <a:ea typeface="Calibri" panose="020F0502020204030204" pitchFamily="34" charset="0"/>
              </a:rPr>
              <a:t>requirements, and long-term professional goals are compatible with her situation.</a:t>
            </a:r>
            <a:endParaRPr lang="en-US" dirty="0"/>
          </a:p>
        </p:txBody>
      </p:sp>
    </p:spTree>
    <p:extLst>
      <p:ext uri="{BB962C8B-B14F-4D97-AF65-F5344CB8AC3E}">
        <p14:creationId xmlns:p14="http://schemas.microsoft.com/office/powerpoint/2010/main" val="4189117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Ethics</a:t>
            </a:r>
          </a:p>
        </p:txBody>
      </p:sp>
      <p:sp>
        <p:nvSpPr>
          <p:cNvPr id="3" name="Subtitle 2"/>
          <p:cNvSpPr>
            <a:spLocks noGrp="1"/>
          </p:cNvSpPr>
          <p:nvPr>
            <p:ph type="subTitle" idx="1"/>
          </p:nvPr>
        </p:nvSpPr>
        <p:spPr/>
        <p:txBody>
          <a:bodyPr/>
          <a:lstStyle/>
          <a:p>
            <a:r>
              <a:rPr lang="en-US" dirty="0"/>
              <a:t>Case Study</a:t>
            </a:r>
          </a:p>
        </p:txBody>
      </p:sp>
    </p:spTree>
    <p:extLst>
      <p:ext uri="{BB962C8B-B14F-4D97-AF65-F5344CB8AC3E}">
        <p14:creationId xmlns:p14="http://schemas.microsoft.com/office/powerpoint/2010/main" val="1985476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1818" y="277090"/>
            <a:ext cx="11212946" cy="6437745"/>
          </a:xfrm>
        </p:spPr>
        <p:txBody>
          <a:bodyPr>
            <a:normAutofit/>
          </a:bodyPr>
          <a:lstStyle/>
          <a:p>
            <a:pPr marL="0" marR="0" indent="0">
              <a:spcBef>
                <a:spcPts val="0"/>
              </a:spcBef>
              <a:spcAft>
                <a:spcPts val="0"/>
              </a:spcAft>
              <a:buNone/>
            </a:pPr>
            <a:r>
              <a:rPr lang="en-US" b="1" dirty="0"/>
              <a:t>Case: </a:t>
            </a:r>
            <a:r>
              <a:rPr lang="en-US" dirty="0">
                <a:effectLst/>
                <a:latin typeface="Calibri" panose="020F0502020204030204" pitchFamily="34" charset="0"/>
                <a:ea typeface="Times New Roman" panose="02020603050405020304" pitchFamily="18" charset="0"/>
              </a:rPr>
              <a:t>You and your colleagues have been increasingly anxious at work. Over the past several months, company sales have steadily declined, and signs of cost-cutting are visible everywhere. Complimentary refreshments have disappeared from common areas, finance teams are scrutinizing expense claims more closely than before, and vacant positions are no longer being filled. Informal conversations on the company’s internal messaging platform are dominated by speculation about possible layoffs.</a:t>
            </a:r>
            <a:endParaRPr lang="en-US"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dirty="0">
                <a:effectLst/>
                <a:latin typeface="Calibri" panose="020F0502020204030204" pitchFamily="34" charset="0"/>
                <a:ea typeface="Times New Roman" panose="02020603050405020304" pitchFamily="18" charset="0"/>
              </a:rPr>
              <a:t> </a:t>
            </a:r>
            <a:endParaRPr lang="en-US"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dirty="0">
                <a:effectLst/>
                <a:latin typeface="Calibri" panose="020F0502020204030204" pitchFamily="34" charset="0"/>
                <a:ea typeface="Times New Roman" panose="02020603050405020304" pitchFamily="18" charset="0"/>
              </a:rPr>
              <a:t>The local job market is weak, and you realize that losing your job could mean relocating your family to another city. While you feel emotionally prepared to deal with unemployment if it happens, having advance notice would allow you to plan financially and personally. Amid this uncertainty, a post from the CEO appears on the company’s internal blog:</a:t>
            </a:r>
            <a:endParaRPr lang="en-US"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2400" i="1" dirty="0">
                <a:effectLst/>
                <a:latin typeface="Times New Roman" panose="02020603050405020304" pitchFamily="18" charset="0"/>
                <a:ea typeface="Times New Roman" panose="02020603050405020304" pitchFamily="18" charset="0"/>
              </a:rPr>
              <a:t>“With news of workforce adjustments elsewhere in our industry, we realize many of you are concerned about the possibility here. I’d like to reassure all of you that we remain confident in the company’s fundamental business strategy, and the executive team is examining all facets of company operations to ensure our continued financial strength.”</a:t>
            </a:r>
            <a:endParaRPr lang="en-US"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dirty="0">
                <a:effectLst/>
                <a:latin typeface="Calibri" panose="020F0502020204030204" pitchFamily="34" charset="0"/>
                <a:ea typeface="Times New Roman" panose="02020603050405020304" pitchFamily="18" charset="0"/>
              </a:rPr>
              <a:t>The message circulates quickly and temporarily calms employee anxiety. Many interpret it as an indication that layoffs are unlikely. However, one month later, the CEO announces a workforce reduction affecting 20 percent of the company’s employees-nearly 700 people. Employees later learn that senior leadership had already been discussing large-scale layoffs at the time the blog post was published, but this information was deliberately withheld to avoid panic and protect investor confidence.</a:t>
            </a:r>
            <a:endParaRPr lang="en-US" dirty="0">
              <a:effectLst/>
              <a:latin typeface="Times New Roman" panose="02020603050405020304" pitchFamily="18" charset="0"/>
              <a:ea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518124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dirty="0"/>
              <a:t>Question:</a:t>
            </a:r>
          </a:p>
          <a:p>
            <a:pPr marL="514350" indent="-514350">
              <a:buFont typeface="+mj-lt"/>
              <a:buAutoNum type="alphaUcPeriod"/>
            </a:pPr>
            <a:r>
              <a:rPr lang="en-US" sz="2400" dirty="0"/>
              <a:t>After the layoffs are announced, you reread the CEO’s blog post. From the perspective of writing ethics and professional communication, evaluate whether the message can be considered ethical? Give reasons for your answer.</a:t>
            </a:r>
          </a:p>
          <a:p>
            <a:pPr marL="514350" indent="-514350">
              <a:buFont typeface="+mj-lt"/>
              <a:buAutoNum type="alphaUcPeriod"/>
            </a:pPr>
            <a:r>
              <a:rPr lang="en-US" sz="2400" dirty="0"/>
              <a:t>From an ethical communication standpoint, what responsibilities do organizational leaders have when communicating with employees during periods of uncertainty?</a:t>
            </a:r>
          </a:p>
          <a:p>
            <a:pPr marL="0" indent="0">
              <a:buNone/>
            </a:pPr>
            <a:endParaRPr lang="en-US" dirty="0"/>
          </a:p>
        </p:txBody>
      </p:sp>
    </p:spTree>
    <p:extLst>
      <p:ext uri="{BB962C8B-B14F-4D97-AF65-F5344CB8AC3E}">
        <p14:creationId xmlns:p14="http://schemas.microsoft.com/office/powerpoint/2010/main" val="889141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7EED1C-010E-7D5D-7210-D67808BFB2A3}"/>
              </a:ext>
            </a:extLst>
          </p:cNvPr>
          <p:cNvSpPr>
            <a:spLocks noGrp="1"/>
          </p:cNvSpPr>
          <p:nvPr>
            <p:ph idx="1"/>
          </p:nvPr>
        </p:nvSpPr>
        <p:spPr>
          <a:xfrm>
            <a:off x="374754" y="194872"/>
            <a:ext cx="10780926" cy="5674222"/>
          </a:xfrm>
        </p:spPr>
        <p:txBody>
          <a:bodyPr>
            <a:normAutofit fontScale="92500" lnSpcReduction="20000"/>
          </a:bodyPr>
          <a:lstStyle/>
          <a:p>
            <a:pPr marL="0" indent="0">
              <a:buNone/>
            </a:pPr>
            <a:r>
              <a:rPr lang="en-US" dirty="0"/>
              <a:t>A. </a:t>
            </a:r>
            <a:r>
              <a:rPr lang="en-US" sz="2000" b="1" dirty="0">
                <a:solidFill>
                  <a:srgbClr val="FF0000"/>
                </a:solidFill>
              </a:rPr>
              <a:t>After the layoffs are announced, you reread the CEO’s blog post. From the perspective of writing ethics and professional communication, evaluate whether the message can be considered ethical? Give reasons for your answer.</a:t>
            </a:r>
          </a:p>
          <a:p>
            <a:pPr rtl="0"/>
            <a:r>
              <a:rPr lang="en-US" sz="2400" b="1" dirty="0"/>
              <a:t>No, the CEO's message cannot be considered ethical.</a:t>
            </a:r>
            <a:r>
              <a:rPr lang="en-US" sz="2400" dirty="0"/>
              <a:t> It may not contain a direct lie, but it was written to create a false impression, and that breaches the standards of ethical professional communication.</a:t>
            </a:r>
          </a:p>
          <a:p>
            <a:pPr rtl="0"/>
            <a:r>
              <a:rPr lang="en-US" sz="2400" b="1" dirty="0"/>
              <a:t>Ethical issues</a:t>
            </a:r>
            <a:endParaRPr lang="en-US" sz="2400" dirty="0"/>
          </a:p>
          <a:p>
            <a:pPr rtl="0">
              <a:buFont typeface="Arial" panose="020B0604020202020204" pitchFamily="34" charset="0"/>
              <a:buChar char="•"/>
            </a:pPr>
            <a:r>
              <a:rPr lang="en-US" sz="2400" b="1" dirty="0"/>
              <a:t>Misleading wording:</a:t>
            </a:r>
            <a:r>
              <a:rPr lang="en-US" sz="2400" dirty="0"/>
              <a:t> Phrases such as "I'd like to reassure all of you" and "we remain confident in the company's fundamental business strategy" sound comforting but never address whether layoffs would happen. Employees reasonably concluded that layoffs were unlikely, which was the impression the message was designed to create.</a:t>
            </a:r>
          </a:p>
          <a:p>
            <a:pPr rtl="0">
              <a:buFont typeface="Arial" panose="020B0604020202020204" pitchFamily="34" charset="0"/>
              <a:buChar char="•"/>
            </a:pPr>
            <a:r>
              <a:rPr lang="en-US" sz="2400" b="1" dirty="0"/>
              <a:t>Missing information:</a:t>
            </a:r>
            <a:r>
              <a:rPr lang="en-US" sz="2400" dirty="0"/>
              <a:t> The CEO left out the most important fact: senior leadership was already discussing large-scale layoffs. Employees needed this to plan financially and personally in a weak job market.</a:t>
            </a:r>
          </a:p>
          <a:p>
            <a:pPr rtl="0">
              <a:buFont typeface="Arial" panose="020B0604020202020204" pitchFamily="34" charset="0"/>
              <a:buChar char="•"/>
            </a:pPr>
            <a:r>
              <a:rPr lang="en-US" sz="2400" b="1" dirty="0"/>
              <a:t>Exaggeration:</a:t>
            </a:r>
            <a:r>
              <a:rPr lang="en-US" sz="2400" dirty="0"/>
              <a:t> The confident, reassuring tone overstated the company's stability and the security of employees' jobs beyond what the CEO actually knew.</a:t>
            </a:r>
          </a:p>
          <a:p>
            <a:pPr rtl="0">
              <a:buFont typeface="Arial" panose="020B0604020202020204" pitchFamily="34" charset="0"/>
              <a:buChar char="•"/>
            </a:pPr>
            <a:r>
              <a:rPr lang="en-US" sz="2400" b="1" dirty="0"/>
              <a:t>Unethical persuasion:</a:t>
            </a:r>
            <a:r>
              <a:rPr lang="en-US" sz="2400" dirty="0"/>
              <a:t> The CEO used the authority of the position to calm employees rather than give them evidence. The aim, to avoid panic and protect investor confidence, was to manage behavior rather than inform.</a:t>
            </a:r>
          </a:p>
          <a:p>
            <a:pPr marL="514350" indent="-514350">
              <a:buFont typeface="+mj-lt"/>
              <a:buAutoNum type="alphaUcPeriod"/>
            </a:pPr>
            <a:endParaRPr lang="en-US" sz="2000" b="1" dirty="0">
              <a:solidFill>
                <a:srgbClr val="FF0000"/>
              </a:solidFill>
            </a:endParaRPr>
          </a:p>
          <a:p>
            <a:endParaRPr lang="en-US" dirty="0"/>
          </a:p>
        </p:txBody>
      </p:sp>
    </p:spTree>
    <p:extLst>
      <p:ext uri="{BB962C8B-B14F-4D97-AF65-F5344CB8AC3E}">
        <p14:creationId xmlns:p14="http://schemas.microsoft.com/office/powerpoint/2010/main" val="3486399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C88E86-5E04-EEE7-DF12-FA1C55B29001}"/>
              </a:ext>
            </a:extLst>
          </p:cNvPr>
          <p:cNvSpPr>
            <a:spLocks noGrp="1"/>
          </p:cNvSpPr>
          <p:nvPr>
            <p:ph idx="1"/>
          </p:nvPr>
        </p:nvSpPr>
        <p:spPr>
          <a:xfrm>
            <a:off x="545432" y="272717"/>
            <a:ext cx="10610248" cy="5903494"/>
          </a:xfrm>
        </p:spPr>
        <p:txBody>
          <a:bodyPr>
            <a:normAutofit lnSpcReduction="10000"/>
          </a:bodyPr>
          <a:lstStyle/>
          <a:p>
            <a:pPr rtl="0"/>
            <a:r>
              <a:rPr lang="en-US" sz="2400" b="1" dirty="0"/>
              <a:t>Principles violated</a:t>
            </a:r>
            <a:endParaRPr lang="en-US" sz="2400" dirty="0"/>
          </a:p>
          <a:p>
            <a:pPr rtl="0">
              <a:buFont typeface="Arial" panose="020B0604020202020204" pitchFamily="34" charset="0"/>
              <a:buChar char="•"/>
            </a:pPr>
            <a:r>
              <a:rPr lang="en-US" sz="2400" b="1" dirty="0"/>
              <a:t>Honesty:</a:t>
            </a:r>
            <a:r>
              <a:rPr lang="en-US" sz="2400" dirty="0"/>
              <a:t> The message deliberately gave a false impression of the company's situation.</a:t>
            </a:r>
          </a:p>
          <a:p>
            <a:pPr rtl="0">
              <a:buFont typeface="Arial" panose="020B0604020202020204" pitchFamily="34" charset="0"/>
              <a:buChar char="•"/>
            </a:pPr>
            <a:r>
              <a:rPr lang="en-US" sz="2400" b="1" dirty="0"/>
              <a:t>Avoiding harm:</a:t>
            </a:r>
            <a:r>
              <a:rPr lang="en-US" sz="2400" dirty="0"/>
              <a:t> Employees lost the chance to save money, search for jobs, or prepare to relocate. The layoffs then came as a shock, causing financial and emotional harm and destroying trust.</a:t>
            </a:r>
          </a:p>
          <a:p>
            <a:pPr rtl="0">
              <a:buFont typeface="Arial" panose="020B0604020202020204" pitchFamily="34" charset="0"/>
              <a:buChar char="•"/>
            </a:pPr>
            <a:r>
              <a:rPr lang="en-US" sz="2400" b="1" dirty="0"/>
              <a:t>Fairness:</a:t>
            </a:r>
            <a:r>
              <a:rPr lang="en-US" sz="2400" dirty="0"/>
              <a:t> Investors' interests were protected at the expense of employees, who had the most at stake and received the least accurate information.</a:t>
            </a:r>
          </a:p>
          <a:p>
            <a:pPr rtl="0">
              <a:buFont typeface="Arial" panose="020B0604020202020204" pitchFamily="34" charset="0"/>
              <a:buChar char="•"/>
            </a:pPr>
            <a:r>
              <a:rPr lang="en-US" sz="2400" b="1" dirty="0"/>
              <a:t>Respect for confidentiality:</a:t>
            </a:r>
            <a:r>
              <a:rPr lang="en-US" sz="2400" dirty="0"/>
              <a:t> Leaders may keep sensitive discussions confidential, but confidentiality justifies silence or a statement such as "I cannot discuss this yet." It does not justify reassurance that misleads.</a:t>
            </a:r>
          </a:p>
          <a:p>
            <a:pPr rtl="0">
              <a:buFont typeface="Arial" panose="020B0604020202020204" pitchFamily="34" charset="0"/>
              <a:buChar char="•"/>
            </a:pPr>
            <a:r>
              <a:rPr lang="en-US" sz="2400" b="1" dirty="0"/>
              <a:t>Professionalism:</a:t>
            </a:r>
            <a:r>
              <a:rPr lang="en-US" sz="2400" dirty="0"/>
              <a:t> A polished tone is not enough. Professionalism requires integrity and accountability, and the deception damaged the CEO's credibility and the company's reputation.</a:t>
            </a:r>
          </a:p>
          <a:p>
            <a:pPr rtl="0"/>
            <a:r>
              <a:rPr lang="en-US" sz="2400" b="1" dirty="0"/>
              <a:t>Conclusion:</a:t>
            </a:r>
            <a:r>
              <a:rPr lang="en-US" sz="2400" dirty="0"/>
              <a:t> Even if the CEO never said "there will be no layoffs," the message was ethically wrong because its intent and effect were to mislead employees.</a:t>
            </a:r>
          </a:p>
          <a:p>
            <a:endParaRPr lang="en-US" sz="2400" dirty="0"/>
          </a:p>
        </p:txBody>
      </p:sp>
    </p:spTree>
    <p:extLst>
      <p:ext uri="{BB962C8B-B14F-4D97-AF65-F5344CB8AC3E}">
        <p14:creationId xmlns:p14="http://schemas.microsoft.com/office/powerpoint/2010/main" val="393015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C28B46-0944-10BE-F923-94B7FBA54BEA}"/>
              </a:ext>
            </a:extLst>
          </p:cNvPr>
          <p:cNvSpPr>
            <a:spLocks noGrp="1"/>
          </p:cNvSpPr>
          <p:nvPr>
            <p:ph idx="1"/>
          </p:nvPr>
        </p:nvSpPr>
        <p:spPr>
          <a:xfrm>
            <a:off x="320843" y="208547"/>
            <a:ext cx="10834838" cy="6042351"/>
          </a:xfrm>
        </p:spPr>
        <p:txBody>
          <a:bodyPr>
            <a:normAutofit fontScale="70000" lnSpcReduction="20000"/>
          </a:bodyPr>
          <a:lstStyle/>
          <a:p>
            <a:pPr marL="0" marR="0">
              <a:spcBef>
                <a:spcPts val="1400"/>
              </a:spcBef>
              <a:spcAft>
                <a:spcPts val="600"/>
              </a:spcAft>
            </a:pPr>
            <a:r>
              <a:rPr lang="en-US" sz="2900" b="1" dirty="0">
                <a:solidFill>
                  <a:srgbClr val="2E74B5"/>
                </a:solidFill>
                <a:effectLst/>
                <a:latin typeface="Calibri" panose="020F0502020204030204" pitchFamily="34" charset="0"/>
                <a:ea typeface="Calibri" panose="020F0502020204030204" pitchFamily="34" charset="0"/>
              </a:rPr>
              <a:t>Q2. What responsibilities do organizational leaders have when communicating during uncertainty?</a:t>
            </a:r>
          </a:p>
          <a:p>
            <a:pPr rtl="0"/>
            <a:r>
              <a:rPr lang="en-US" sz="3100" dirty="0"/>
              <a:t>Leaders have the following ethical responsibilities:</a:t>
            </a:r>
          </a:p>
          <a:p>
            <a:pPr rtl="0">
              <a:buFont typeface="+mj-lt"/>
              <a:buAutoNum type="arabicPeriod"/>
            </a:pPr>
            <a:r>
              <a:rPr lang="en-US" sz="3100" b="1" dirty="0"/>
              <a:t>Be truthful and avoid misleading statements.</a:t>
            </a:r>
            <a:r>
              <a:rPr lang="en-US" sz="3100" dirty="0"/>
              <a:t> Leaders must not use vague wording, half-truths, or technically accurate statements meant to create a false impression.</a:t>
            </a:r>
          </a:p>
          <a:p>
            <a:pPr rtl="0">
              <a:buFont typeface="+mj-lt"/>
              <a:buAutoNum type="arabicPeriod"/>
            </a:pPr>
            <a:r>
              <a:rPr lang="en-US" sz="3100" b="1" dirty="0"/>
              <a:t>Share relevant information in good time.</a:t>
            </a:r>
            <a:r>
              <a:rPr lang="en-US" sz="3100" dirty="0"/>
              <a:t> People affected by a decision need enough notice to plan, so leaders should disclose what they responsibly can as early as possible.</a:t>
            </a:r>
          </a:p>
          <a:p>
            <a:pPr rtl="0">
              <a:buFont typeface="+mj-lt"/>
              <a:buAutoNum type="arabicPeriod"/>
            </a:pPr>
            <a:r>
              <a:rPr lang="en-US" sz="3100" b="1" dirty="0"/>
              <a:t>Be honest about what cannot be shared.</a:t>
            </a:r>
            <a:r>
              <a:rPr lang="en-US" sz="3100" dirty="0"/>
              <a:t> Leaders may protect confidential information, but they should openly say that decisions are under review and explain when employees can expect an update. Acknowledging limits is ethical, while implying the opposite of the truth is not.</a:t>
            </a:r>
          </a:p>
          <a:p>
            <a:pPr rtl="0">
              <a:buFont typeface="+mj-lt"/>
              <a:buAutoNum type="arabicPeriod"/>
            </a:pPr>
            <a:r>
              <a:rPr lang="en-US" sz="3100" b="1" dirty="0"/>
              <a:t>Avoid false reassurance and manipulation.</a:t>
            </a:r>
            <a:r>
              <a:rPr lang="en-US" sz="3100" dirty="0"/>
              <a:t> Leaders should influence employees through evidence and reason, not through comfort, fear, or the authority of their position.</a:t>
            </a:r>
          </a:p>
          <a:p>
            <a:pPr rtl="0">
              <a:buFont typeface="+mj-lt"/>
              <a:buAutoNum type="arabicPeriod"/>
            </a:pPr>
            <a:r>
              <a:rPr lang="en-US" sz="3100" b="1" dirty="0"/>
              <a:t>Consider the impact on all stakeholders.</a:t>
            </a:r>
            <a:r>
              <a:rPr lang="en-US" sz="3100" dirty="0"/>
              <a:t> Leaders should weigh the welfare of employees alongside that of investors and the company, and not mislead one group to benefit another.</a:t>
            </a:r>
          </a:p>
          <a:p>
            <a:pPr rtl="0">
              <a:buFont typeface="+mj-lt"/>
              <a:buAutoNum type="arabicPeriod"/>
            </a:pPr>
            <a:r>
              <a:rPr lang="en-US" sz="3100" b="1" dirty="0"/>
              <a:t>Communicate clearly and respectfully.</a:t>
            </a:r>
            <a:r>
              <a:rPr lang="en-US" sz="3100" dirty="0"/>
              <a:t> Plain language and empathy show that leaders treat employees as capable adults who can handle honest information.</a:t>
            </a:r>
          </a:p>
          <a:p>
            <a:pPr rtl="0">
              <a:buFont typeface="+mj-lt"/>
              <a:buAutoNum type="arabicPeriod"/>
            </a:pPr>
            <a:r>
              <a:rPr lang="en-US" sz="3100" b="1" dirty="0"/>
              <a:t>Maintain trust and accountability.</a:t>
            </a:r>
            <a:r>
              <a:rPr lang="en-US" sz="3100" dirty="0"/>
              <a:t> Leaders should correct misleading impressions and take responsibility for the consequences of their communication.</a:t>
            </a:r>
          </a:p>
          <a:p>
            <a:pPr marL="0" marR="0">
              <a:spcBef>
                <a:spcPts val="1400"/>
              </a:spcBef>
              <a:spcAft>
                <a:spcPts val="600"/>
              </a:spcAft>
            </a:pPr>
            <a:endParaRPr lang="en-US" b="1" dirty="0">
              <a:solidFill>
                <a:srgbClr val="2E74B5"/>
              </a:solidFill>
              <a:effectLst/>
              <a:latin typeface="Times New Roman" panose="02020603050405020304" pitchFamily="18" charset="0"/>
            </a:endParaRPr>
          </a:p>
        </p:txBody>
      </p:sp>
    </p:spTree>
    <p:extLst>
      <p:ext uri="{BB962C8B-B14F-4D97-AF65-F5344CB8AC3E}">
        <p14:creationId xmlns:p14="http://schemas.microsoft.com/office/powerpoint/2010/main" val="133106327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93</TotalTime>
  <Words>2480</Words>
  <Application>Microsoft Office PowerPoint</Application>
  <PresentationFormat>Widescreen</PresentationFormat>
  <Paragraphs>117</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Calibri</vt:lpstr>
      <vt:lpstr>Calibri Light</vt:lpstr>
      <vt:lpstr>Symbol</vt:lpstr>
      <vt:lpstr>Times New Roman</vt:lpstr>
      <vt:lpstr>Retrospect</vt:lpstr>
      <vt:lpstr>Correspondence</vt:lpstr>
      <vt:lpstr>Case</vt:lpstr>
      <vt:lpstr>PowerPoint Presentation</vt:lpstr>
      <vt:lpstr>PowerPoint Presentation</vt:lpstr>
      <vt:lpstr>PowerPoint Presentation</vt:lpstr>
      <vt:lpstr>PowerPoint Presentation</vt:lpstr>
      <vt:lpstr>Culture</vt:lpstr>
      <vt:lpstr>PowerPoint Presentation</vt:lpstr>
      <vt:lpstr>PowerPoint Presentation</vt:lpstr>
      <vt:lpstr>PowerPoint Presentation</vt:lpstr>
      <vt:lpstr>PowerPoint Presentation</vt:lpstr>
      <vt:lpstr>PowerPoint Presentation</vt:lpstr>
      <vt:lpstr>Ethics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Correspondence</dc:title>
  <dc:creator>Microsoft account</dc:creator>
  <cp:lastModifiedBy>huma malik</cp:lastModifiedBy>
  <cp:revision>14</cp:revision>
  <dcterms:created xsi:type="dcterms:W3CDTF">2026-09-11T13:23:14Z</dcterms:created>
  <dcterms:modified xsi:type="dcterms:W3CDTF">2026-09-21T05:47:03Z</dcterms:modified>
</cp:coreProperties>
</file>